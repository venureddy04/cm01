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9" r:id="rId4"/>
    <p:sldId id="258" r:id="rId5"/>
    <p:sldId id="260" r:id="rId6"/>
    <p:sldId id="262" r:id="rId7"/>
    <p:sldId id="263" r:id="rId8"/>
    <p:sldId id="264" r:id="rId9"/>
    <p:sldId id="265" r:id="rId10"/>
    <p:sldId id="266" r:id="rId11"/>
    <p:sldId id="267" r:id="rId12"/>
    <p:sldId id="268" r:id="rId13"/>
    <p:sldId id="270" r:id="rId14"/>
    <p:sldId id="271" r:id="rId15"/>
    <p:sldId id="272" r:id="rId16"/>
    <p:sldId id="273" r:id="rId17"/>
    <p:sldId id="274" r:id="rId18"/>
    <p:sldId id="275"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8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Metrics</c:v>
                </c:pt>
              </c:strCache>
            </c:strRef>
          </c:tx>
          <c:spPr>
            <a:solidFill>
              <a:srgbClr val="1A6FD4"/>
            </a:solidFill>
            <a:effectLst/>
          </c:spPr>
          <c:invertIfNegative val="0"/>
          <c:dPt>
            <c:idx val="0"/>
            <c:invertIfNegative val="0"/>
            <c:bubble3D val="0"/>
            <c:extLst>
              <c:ext xmlns:c16="http://schemas.microsoft.com/office/drawing/2014/chart" uri="{C3380CC4-5D6E-409C-BE32-E72D297353CC}">
                <c16:uniqueId val="{00000001-6591-4321-A572-D09F1E34607D}"/>
              </c:ext>
            </c:extLst>
          </c:dPt>
          <c:dPt>
            <c:idx val="1"/>
            <c:invertIfNegative val="0"/>
            <c:bubble3D val="0"/>
            <c:spPr>
              <a:solidFill>
                <a:srgbClr val="1565C0"/>
              </a:solidFill>
              <a:effectLst/>
            </c:spPr>
            <c:extLst>
              <c:ext xmlns:c16="http://schemas.microsoft.com/office/drawing/2014/chart" uri="{C3380CC4-5D6E-409C-BE32-E72D297353CC}">
                <c16:uniqueId val="{00000003-6591-4321-A572-D09F1E34607D}"/>
              </c:ext>
            </c:extLst>
          </c:dPt>
          <c:dPt>
            <c:idx val="2"/>
            <c:invertIfNegative val="0"/>
            <c:bubble3D val="0"/>
            <c:spPr>
              <a:solidFill>
                <a:srgbClr val="0B3A7A"/>
              </a:solidFill>
              <a:effectLst/>
            </c:spPr>
            <c:extLst>
              <c:ext xmlns:c16="http://schemas.microsoft.com/office/drawing/2014/chart" uri="{C3380CC4-5D6E-409C-BE32-E72D297353CC}">
                <c16:uniqueId val="{00000005-6591-4321-A572-D09F1E34607D}"/>
              </c:ext>
            </c:extLst>
          </c:dPt>
          <c:dPt>
            <c:idx val="3"/>
            <c:invertIfNegative val="0"/>
            <c:bubble3D val="0"/>
            <c:spPr>
              <a:solidFill>
                <a:srgbClr val="2B5CA8"/>
              </a:solidFill>
              <a:effectLst/>
            </c:spPr>
            <c:extLst>
              <c:ext xmlns:c16="http://schemas.microsoft.com/office/drawing/2014/chart" uri="{C3380CC4-5D6E-409C-BE32-E72D297353CC}">
                <c16:uniqueId val="{00000007-6591-4321-A572-D09F1E34607D}"/>
              </c:ext>
            </c:extLst>
          </c:dPt>
          <c:dLbls>
            <c:numFmt formatCode="#,##0" sourceLinked="0"/>
            <c:spPr>
              <a:noFill/>
              <a:ln>
                <a:noFill/>
              </a:ln>
              <a:effectLst/>
            </c:spPr>
            <c:txPr>
              <a:bodyPr/>
              <a:lstStyle/>
              <a:p>
                <a:pPr>
                  <a:defRPr sz="1200" b="0" i="0" u="none" strike="noStrike">
                    <a:solidFill>
                      <a:srgbClr val="0D1E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Sem. Sim.</c:v>
                </c:pt>
                <c:pt idx="1">
                  <c:v>Anti-Halluc.</c:v>
                </c:pt>
                <c:pt idx="2">
                  <c:v>ROUGE-L</c:v>
                </c:pt>
                <c:pt idx="3">
                  <c:v>METEOR</c:v>
                </c:pt>
              </c:strCache>
            </c:strRef>
          </c:cat>
          <c:val>
            <c:numRef>
              <c:f>Sheet1!$B$2:$B$5</c:f>
              <c:numCache>
                <c:formatCode>General</c:formatCode>
                <c:ptCount val="4"/>
                <c:pt idx="0">
                  <c:v>93.64</c:v>
                </c:pt>
                <c:pt idx="1">
                  <c:v>92.89</c:v>
                </c:pt>
                <c:pt idx="2">
                  <c:v>86.12</c:v>
                </c:pt>
                <c:pt idx="3">
                  <c:v>81.540000000000006</c:v>
                </c:pt>
              </c:numCache>
            </c:numRef>
          </c:val>
          <c:extLst>
            <c:ext xmlns:c16="http://schemas.microsoft.com/office/drawing/2014/chart" uri="{C3380CC4-5D6E-409C-BE32-E72D297353CC}">
              <c16:uniqueId val="{00000008-6591-4321-A572-D09F1E34607D}"/>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3A6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E5EFF9"/>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1435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5EFF9"/>
        </a:solidFill>
        <a:effectLst/>
      </p:bgPr>
    </p:bg>
    <p:spTree>
      <p:nvGrpSpPr>
        <p:cNvPr id="1" name=""/>
        <p:cNvGrpSpPr/>
        <p:nvPr/>
      </p:nvGrpSpPr>
      <p:grpSpPr>
        <a:xfrm>
          <a:off x="0" y="0"/>
          <a:ext cx="0" cy="0"/>
          <a:chOff x="0" y="0"/>
          <a:chExt cx="0" cy="0"/>
        </a:xfrm>
      </p:grpSpPr>
      <p:sp>
        <p:nvSpPr>
          <p:cNvPr id="2" name="Shape 0"/>
          <p:cNvSpPr/>
          <p:nvPr/>
        </p:nvSpPr>
        <p:spPr>
          <a:xfrm>
            <a:off x="0" y="0"/>
            <a:ext cx="4324580" cy="5143500"/>
          </a:xfrm>
          <a:prstGeom prst="rect">
            <a:avLst/>
          </a:prstGeom>
          <a:solidFill>
            <a:srgbClr val="0D1E3A"/>
          </a:solidFill>
          <a:ln w="12700">
            <a:solidFill>
              <a:srgbClr val="0D1E3A"/>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3" name="Shape 1"/>
          <p:cNvSpPr/>
          <p:nvPr/>
        </p:nvSpPr>
        <p:spPr>
          <a:xfrm>
            <a:off x="4206240" y="0"/>
            <a:ext cx="56408" cy="5143500"/>
          </a:xfrm>
          <a:prstGeom prst="rect">
            <a:avLst/>
          </a:prstGeom>
          <a:solidFill>
            <a:srgbClr val="1A6FD4"/>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6" name="Text 4"/>
          <p:cNvSpPr/>
          <p:nvPr/>
        </p:nvSpPr>
        <p:spPr>
          <a:xfrm>
            <a:off x="137160" y="68468"/>
            <a:ext cx="4123944" cy="731520"/>
          </a:xfrm>
          <a:prstGeom prst="rect">
            <a:avLst/>
          </a:prstGeom>
          <a:noFill/>
          <a:ln/>
        </p:spPr>
        <p:txBody>
          <a:bodyPr wrap="square" rtlCol="0" anchor="ctr"/>
          <a:lstStyle/>
          <a:p>
            <a:pPr marL="0" indent="0" algn="l">
              <a:buNone/>
            </a:pPr>
            <a:r>
              <a:rPr lang="en-US" sz="4400" b="1" dirty="0">
                <a:solidFill>
                  <a:srgbClr val="FFFFFF"/>
                </a:solidFill>
                <a:latin typeface="Cambria" panose="02040503050406030204" pitchFamily="18" charset="0"/>
                <a:ea typeface="Cambria" panose="02040503050406030204" pitchFamily="18" charset="0"/>
                <a:cs typeface="Calibri" pitchFamily="34" charset="-120"/>
              </a:rPr>
              <a:t>HealthAssist AI</a:t>
            </a:r>
            <a:endParaRPr lang="en-US" sz="4400" dirty="0">
              <a:latin typeface="Cambria" panose="02040503050406030204" pitchFamily="18" charset="0"/>
              <a:ea typeface="Cambria" panose="02040503050406030204" pitchFamily="18" charset="0"/>
            </a:endParaRPr>
          </a:p>
        </p:txBody>
      </p:sp>
      <p:sp>
        <p:nvSpPr>
          <p:cNvPr id="7" name="Text 5"/>
          <p:cNvSpPr/>
          <p:nvPr/>
        </p:nvSpPr>
        <p:spPr>
          <a:xfrm>
            <a:off x="235031" y="829874"/>
            <a:ext cx="3854517" cy="502920"/>
          </a:xfrm>
          <a:prstGeom prst="rect">
            <a:avLst/>
          </a:prstGeom>
          <a:noFill/>
          <a:ln/>
        </p:spPr>
        <p:txBody>
          <a:bodyPr wrap="square" rtlCol="0" anchor="t"/>
          <a:lstStyle/>
          <a:p>
            <a:pPr marL="0" indent="0" algn="l">
              <a:buNone/>
            </a:pPr>
            <a:r>
              <a:rPr lang="en-US" i="1" dirty="0">
                <a:solidFill>
                  <a:srgbClr val="CADCFC"/>
                </a:solidFill>
                <a:latin typeface="Cambria" panose="02040503050406030204" pitchFamily="18" charset="0"/>
                <a:ea typeface="Cambria" panose="02040503050406030204" pitchFamily="18" charset="0"/>
                <a:cs typeface="Calibri" pitchFamily="34" charset="-120"/>
              </a:rPr>
              <a:t>Hybrid Healthcare Intelligence System</a:t>
            </a:r>
            <a:endParaRPr lang="en-US" dirty="0">
              <a:latin typeface="Cambria" panose="02040503050406030204" pitchFamily="18" charset="0"/>
              <a:ea typeface="Cambria" panose="02040503050406030204" pitchFamily="18" charset="0"/>
            </a:endParaRPr>
          </a:p>
        </p:txBody>
      </p:sp>
      <p:sp>
        <p:nvSpPr>
          <p:cNvPr id="8" name="Shape 6"/>
          <p:cNvSpPr/>
          <p:nvPr/>
        </p:nvSpPr>
        <p:spPr>
          <a:xfrm>
            <a:off x="228600" y="2286000"/>
            <a:ext cx="3290442" cy="36576"/>
          </a:xfrm>
          <a:prstGeom prst="rect">
            <a:avLst/>
          </a:prstGeom>
          <a:solidFill>
            <a:srgbClr val="1A6FD4"/>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9" name="Text 7"/>
          <p:cNvSpPr/>
          <p:nvPr/>
        </p:nvSpPr>
        <p:spPr>
          <a:xfrm>
            <a:off x="228599" y="2377440"/>
            <a:ext cx="3760505" cy="320040"/>
          </a:xfrm>
          <a:prstGeom prst="rect">
            <a:avLst/>
          </a:prstGeom>
          <a:noFill/>
          <a:ln/>
        </p:spPr>
        <p:txBody>
          <a:bodyPr wrap="square" rtlCol="0" anchor="ctr"/>
          <a:lstStyle/>
          <a:p>
            <a:pPr marL="0" indent="0" algn="l">
              <a:buNone/>
            </a:pPr>
            <a:r>
              <a:rPr lang="en-US" sz="1050" b="1" dirty="0">
                <a:solidFill>
                  <a:srgbClr val="E6B800"/>
                </a:solidFill>
                <a:latin typeface="Cambria" panose="02040503050406030204" pitchFamily="18" charset="0"/>
                <a:ea typeface="Cambria" panose="02040503050406030204" pitchFamily="18" charset="0"/>
                <a:cs typeface="Calibri" pitchFamily="34" charset="-120"/>
              </a:rPr>
              <a:t>FINAL REVIEW  |  TEAM CM01  |  APRIL 2026</a:t>
            </a:r>
            <a:endParaRPr lang="en-US" sz="1050" dirty="0">
              <a:latin typeface="Cambria" panose="02040503050406030204" pitchFamily="18" charset="0"/>
              <a:ea typeface="Cambria" panose="02040503050406030204" pitchFamily="18" charset="0"/>
            </a:endParaRPr>
          </a:p>
        </p:txBody>
      </p:sp>
      <p:sp>
        <p:nvSpPr>
          <p:cNvPr id="10" name="Shape 8"/>
          <p:cNvSpPr/>
          <p:nvPr/>
        </p:nvSpPr>
        <p:spPr>
          <a:xfrm>
            <a:off x="228599" y="2788920"/>
            <a:ext cx="3854517" cy="292608"/>
          </a:xfrm>
          <a:prstGeom prst="rect">
            <a:avLst/>
          </a:prstGeom>
          <a:solidFill>
            <a:srgbClr val="0B3A7A"/>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11" name="Text 9"/>
          <p:cNvSpPr/>
          <p:nvPr/>
        </p:nvSpPr>
        <p:spPr>
          <a:xfrm>
            <a:off x="320039" y="2788920"/>
            <a:ext cx="2632353"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mbria" panose="02040503050406030204" pitchFamily="18" charset="0"/>
                <a:ea typeface="Cambria" panose="02040503050406030204" pitchFamily="18" charset="0"/>
                <a:cs typeface="Calibri" pitchFamily="34" charset="-120"/>
              </a:rPr>
              <a:t>Gaddam Venu</a:t>
            </a:r>
            <a:endParaRPr lang="en-US" sz="1100" dirty="0">
              <a:latin typeface="Cambria" panose="02040503050406030204" pitchFamily="18" charset="0"/>
              <a:ea typeface="Cambria" panose="02040503050406030204" pitchFamily="18" charset="0"/>
            </a:endParaRPr>
          </a:p>
        </p:txBody>
      </p:sp>
      <p:sp>
        <p:nvSpPr>
          <p:cNvPr id="12" name="Text 10"/>
          <p:cNvSpPr/>
          <p:nvPr/>
        </p:nvSpPr>
        <p:spPr>
          <a:xfrm>
            <a:off x="2834639" y="2788920"/>
            <a:ext cx="1128151" cy="292608"/>
          </a:xfrm>
          <a:prstGeom prst="rect">
            <a:avLst/>
          </a:prstGeom>
          <a:noFill/>
          <a:ln/>
        </p:spPr>
        <p:txBody>
          <a:bodyPr wrap="square" lIns="0" tIns="0" rIns="0" bIns="0" rtlCol="0" anchor="ctr"/>
          <a:lstStyle/>
          <a:p>
            <a:pPr marL="0" indent="0" algn="r">
              <a:buNone/>
            </a:pPr>
            <a:r>
              <a:rPr lang="en-US" sz="1000" dirty="0">
                <a:solidFill>
                  <a:srgbClr val="CADCFC"/>
                </a:solidFill>
                <a:latin typeface="Cambria" panose="02040503050406030204" pitchFamily="18" charset="0"/>
                <a:ea typeface="Cambria" panose="02040503050406030204" pitchFamily="18" charset="0"/>
                <a:cs typeface="Calibri" pitchFamily="34" charset="-120"/>
              </a:rPr>
              <a:t>Y22ACM430</a:t>
            </a:r>
            <a:endParaRPr lang="en-US" sz="1000" dirty="0">
              <a:latin typeface="Cambria" panose="02040503050406030204" pitchFamily="18" charset="0"/>
              <a:ea typeface="Cambria" panose="02040503050406030204" pitchFamily="18" charset="0"/>
            </a:endParaRPr>
          </a:p>
        </p:txBody>
      </p:sp>
      <p:sp>
        <p:nvSpPr>
          <p:cNvPr id="13" name="Shape 11"/>
          <p:cNvSpPr/>
          <p:nvPr/>
        </p:nvSpPr>
        <p:spPr>
          <a:xfrm>
            <a:off x="228599" y="3136392"/>
            <a:ext cx="3854517" cy="292608"/>
          </a:xfrm>
          <a:prstGeom prst="rect">
            <a:avLst/>
          </a:prstGeom>
          <a:solidFill>
            <a:srgbClr val="0D1E3A"/>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14" name="Text 12"/>
          <p:cNvSpPr/>
          <p:nvPr/>
        </p:nvSpPr>
        <p:spPr>
          <a:xfrm>
            <a:off x="320039" y="3136392"/>
            <a:ext cx="2632353"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mbria" panose="02040503050406030204" pitchFamily="18" charset="0"/>
                <a:ea typeface="Cambria" panose="02040503050406030204" pitchFamily="18" charset="0"/>
                <a:cs typeface="Calibri" pitchFamily="34" charset="-120"/>
              </a:rPr>
              <a:t>Devandla Jeevan</a:t>
            </a:r>
            <a:endParaRPr lang="en-US" sz="1100" dirty="0">
              <a:latin typeface="Cambria" panose="02040503050406030204" pitchFamily="18" charset="0"/>
              <a:ea typeface="Cambria" panose="02040503050406030204" pitchFamily="18" charset="0"/>
            </a:endParaRPr>
          </a:p>
        </p:txBody>
      </p:sp>
      <p:sp>
        <p:nvSpPr>
          <p:cNvPr id="15" name="Text 13"/>
          <p:cNvSpPr/>
          <p:nvPr/>
        </p:nvSpPr>
        <p:spPr>
          <a:xfrm>
            <a:off x="2834639" y="3136392"/>
            <a:ext cx="1128151" cy="292608"/>
          </a:xfrm>
          <a:prstGeom prst="rect">
            <a:avLst/>
          </a:prstGeom>
          <a:noFill/>
          <a:ln/>
        </p:spPr>
        <p:txBody>
          <a:bodyPr wrap="square" lIns="0" tIns="0" rIns="0" bIns="0" rtlCol="0" anchor="ctr"/>
          <a:lstStyle/>
          <a:p>
            <a:pPr marL="0" indent="0" algn="r">
              <a:buNone/>
            </a:pPr>
            <a:r>
              <a:rPr lang="en-US" sz="1000" dirty="0">
                <a:solidFill>
                  <a:srgbClr val="CADCFC"/>
                </a:solidFill>
                <a:latin typeface="Cambria" panose="02040503050406030204" pitchFamily="18" charset="0"/>
                <a:ea typeface="Cambria" panose="02040503050406030204" pitchFamily="18" charset="0"/>
                <a:cs typeface="Calibri" pitchFamily="34" charset="-120"/>
              </a:rPr>
              <a:t>Y22ACM420</a:t>
            </a:r>
            <a:endParaRPr lang="en-US" sz="1000" dirty="0">
              <a:latin typeface="Cambria" panose="02040503050406030204" pitchFamily="18" charset="0"/>
              <a:ea typeface="Cambria" panose="02040503050406030204" pitchFamily="18" charset="0"/>
            </a:endParaRPr>
          </a:p>
        </p:txBody>
      </p:sp>
      <p:sp>
        <p:nvSpPr>
          <p:cNvPr id="16" name="Shape 14"/>
          <p:cNvSpPr/>
          <p:nvPr/>
        </p:nvSpPr>
        <p:spPr>
          <a:xfrm>
            <a:off x="228599" y="3483864"/>
            <a:ext cx="3854517" cy="292608"/>
          </a:xfrm>
          <a:prstGeom prst="rect">
            <a:avLst/>
          </a:prstGeom>
          <a:solidFill>
            <a:srgbClr val="0B3A7A"/>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17" name="Text 15"/>
          <p:cNvSpPr/>
          <p:nvPr/>
        </p:nvSpPr>
        <p:spPr>
          <a:xfrm>
            <a:off x="320039" y="3483864"/>
            <a:ext cx="2632353"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mbria" panose="02040503050406030204" pitchFamily="18" charset="0"/>
                <a:ea typeface="Cambria" panose="02040503050406030204" pitchFamily="18" charset="0"/>
                <a:cs typeface="Calibri" pitchFamily="34" charset="-120"/>
              </a:rPr>
              <a:t>Gulivindala Sri Lakshmi Sarojini</a:t>
            </a:r>
            <a:endParaRPr lang="en-US" sz="1100" dirty="0">
              <a:latin typeface="Cambria" panose="02040503050406030204" pitchFamily="18" charset="0"/>
              <a:ea typeface="Cambria" panose="02040503050406030204" pitchFamily="18" charset="0"/>
            </a:endParaRPr>
          </a:p>
        </p:txBody>
      </p:sp>
      <p:sp>
        <p:nvSpPr>
          <p:cNvPr id="18" name="Text 16"/>
          <p:cNvSpPr/>
          <p:nvPr/>
        </p:nvSpPr>
        <p:spPr>
          <a:xfrm>
            <a:off x="2834639" y="3483864"/>
            <a:ext cx="1128151" cy="292608"/>
          </a:xfrm>
          <a:prstGeom prst="rect">
            <a:avLst/>
          </a:prstGeom>
          <a:noFill/>
          <a:ln/>
        </p:spPr>
        <p:txBody>
          <a:bodyPr wrap="square" lIns="0" tIns="0" rIns="0" bIns="0" rtlCol="0" anchor="ctr"/>
          <a:lstStyle/>
          <a:p>
            <a:pPr marL="0" indent="0" algn="r">
              <a:buNone/>
            </a:pPr>
            <a:r>
              <a:rPr lang="en-US" sz="1000" dirty="0">
                <a:solidFill>
                  <a:srgbClr val="CADCFC"/>
                </a:solidFill>
                <a:latin typeface="Cambria" panose="02040503050406030204" pitchFamily="18" charset="0"/>
                <a:ea typeface="Cambria" panose="02040503050406030204" pitchFamily="18" charset="0"/>
                <a:cs typeface="Calibri" pitchFamily="34" charset="-120"/>
              </a:rPr>
              <a:t>L23ACM496</a:t>
            </a:r>
            <a:endParaRPr lang="en-US" sz="1000" dirty="0">
              <a:latin typeface="Cambria" panose="02040503050406030204" pitchFamily="18" charset="0"/>
              <a:ea typeface="Cambria" panose="02040503050406030204" pitchFamily="18" charset="0"/>
            </a:endParaRPr>
          </a:p>
        </p:txBody>
      </p:sp>
      <p:sp>
        <p:nvSpPr>
          <p:cNvPr id="19" name="Shape 17"/>
          <p:cNvSpPr/>
          <p:nvPr/>
        </p:nvSpPr>
        <p:spPr>
          <a:xfrm>
            <a:off x="228599" y="3831336"/>
            <a:ext cx="3854517" cy="292608"/>
          </a:xfrm>
          <a:prstGeom prst="rect">
            <a:avLst/>
          </a:prstGeom>
          <a:solidFill>
            <a:srgbClr val="0D1E3A"/>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20" name="Text 18"/>
          <p:cNvSpPr/>
          <p:nvPr/>
        </p:nvSpPr>
        <p:spPr>
          <a:xfrm>
            <a:off x="320039" y="3831336"/>
            <a:ext cx="2632353"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mbria" panose="02040503050406030204" pitchFamily="18" charset="0"/>
                <a:ea typeface="Cambria" panose="02040503050406030204" pitchFamily="18" charset="0"/>
                <a:cs typeface="Calibri" pitchFamily="34" charset="-120"/>
              </a:rPr>
              <a:t>Doppalapudi Sri Saiteja</a:t>
            </a:r>
            <a:endParaRPr lang="en-US" sz="1100" dirty="0">
              <a:latin typeface="Cambria" panose="02040503050406030204" pitchFamily="18" charset="0"/>
              <a:ea typeface="Cambria" panose="02040503050406030204" pitchFamily="18" charset="0"/>
            </a:endParaRPr>
          </a:p>
        </p:txBody>
      </p:sp>
      <p:sp>
        <p:nvSpPr>
          <p:cNvPr id="21" name="Text 19"/>
          <p:cNvSpPr/>
          <p:nvPr/>
        </p:nvSpPr>
        <p:spPr>
          <a:xfrm>
            <a:off x="2834639" y="3831336"/>
            <a:ext cx="1128151" cy="292608"/>
          </a:xfrm>
          <a:prstGeom prst="rect">
            <a:avLst/>
          </a:prstGeom>
          <a:noFill/>
          <a:ln/>
        </p:spPr>
        <p:txBody>
          <a:bodyPr wrap="square" lIns="0" tIns="0" rIns="0" bIns="0" rtlCol="0" anchor="ctr"/>
          <a:lstStyle/>
          <a:p>
            <a:pPr marL="0" indent="0" algn="r">
              <a:buNone/>
            </a:pPr>
            <a:r>
              <a:rPr lang="en-US" sz="1000" dirty="0">
                <a:solidFill>
                  <a:srgbClr val="CADCFC"/>
                </a:solidFill>
                <a:latin typeface="Cambria" panose="02040503050406030204" pitchFamily="18" charset="0"/>
                <a:ea typeface="Cambria" panose="02040503050406030204" pitchFamily="18" charset="0"/>
                <a:cs typeface="Calibri" pitchFamily="34" charset="-120"/>
              </a:rPr>
              <a:t>Y22ACM428</a:t>
            </a:r>
            <a:endParaRPr lang="en-US" sz="1000" dirty="0">
              <a:latin typeface="Cambria" panose="02040503050406030204" pitchFamily="18" charset="0"/>
              <a:ea typeface="Cambria" panose="02040503050406030204" pitchFamily="18" charset="0"/>
            </a:endParaRPr>
          </a:p>
        </p:txBody>
      </p:sp>
      <p:sp>
        <p:nvSpPr>
          <p:cNvPr id="22" name="Shape 20"/>
          <p:cNvSpPr/>
          <p:nvPr/>
        </p:nvSpPr>
        <p:spPr>
          <a:xfrm>
            <a:off x="228599" y="4178808"/>
            <a:ext cx="3854517" cy="292608"/>
          </a:xfrm>
          <a:prstGeom prst="rect">
            <a:avLst/>
          </a:prstGeom>
          <a:solidFill>
            <a:srgbClr val="0B3A7A"/>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23" name="Text 21"/>
          <p:cNvSpPr/>
          <p:nvPr/>
        </p:nvSpPr>
        <p:spPr>
          <a:xfrm>
            <a:off x="320039" y="4178808"/>
            <a:ext cx="2632353"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mbria" panose="02040503050406030204" pitchFamily="18" charset="0"/>
                <a:ea typeface="Cambria" panose="02040503050406030204" pitchFamily="18" charset="0"/>
                <a:cs typeface="Calibri" pitchFamily="34" charset="-120"/>
              </a:rPr>
              <a:t>Mudraboina Durga Rao</a:t>
            </a:r>
            <a:endParaRPr lang="en-US" sz="1100" dirty="0">
              <a:latin typeface="Cambria" panose="02040503050406030204" pitchFamily="18" charset="0"/>
              <a:ea typeface="Cambria" panose="02040503050406030204" pitchFamily="18" charset="0"/>
            </a:endParaRPr>
          </a:p>
        </p:txBody>
      </p:sp>
      <p:sp>
        <p:nvSpPr>
          <p:cNvPr id="24" name="Text 22"/>
          <p:cNvSpPr/>
          <p:nvPr/>
        </p:nvSpPr>
        <p:spPr>
          <a:xfrm>
            <a:off x="2834639" y="4178808"/>
            <a:ext cx="1128151" cy="292608"/>
          </a:xfrm>
          <a:prstGeom prst="rect">
            <a:avLst/>
          </a:prstGeom>
          <a:noFill/>
          <a:ln/>
        </p:spPr>
        <p:txBody>
          <a:bodyPr wrap="square" lIns="0" tIns="0" rIns="0" bIns="0" rtlCol="0" anchor="ctr"/>
          <a:lstStyle/>
          <a:p>
            <a:pPr marL="0" indent="0" algn="r">
              <a:buNone/>
            </a:pPr>
            <a:r>
              <a:rPr lang="en-US" sz="1000" dirty="0">
                <a:solidFill>
                  <a:srgbClr val="CADCFC"/>
                </a:solidFill>
                <a:latin typeface="Cambria" panose="02040503050406030204" pitchFamily="18" charset="0"/>
                <a:ea typeface="Cambria" panose="02040503050406030204" pitchFamily="18" charset="0"/>
                <a:cs typeface="Calibri" pitchFamily="34" charset="-120"/>
              </a:rPr>
              <a:t>L23ACM498</a:t>
            </a:r>
            <a:endParaRPr lang="en-US" sz="1000" dirty="0">
              <a:latin typeface="Cambria" panose="02040503050406030204" pitchFamily="18" charset="0"/>
              <a:ea typeface="Cambria" panose="02040503050406030204" pitchFamily="18" charset="0"/>
            </a:endParaRPr>
          </a:p>
        </p:txBody>
      </p:sp>
      <p:sp>
        <p:nvSpPr>
          <p:cNvPr id="27" name="Shape 25"/>
          <p:cNvSpPr/>
          <p:nvPr/>
        </p:nvSpPr>
        <p:spPr>
          <a:xfrm>
            <a:off x="4389120" y="1280160"/>
            <a:ext cx="2068278" cy="914400"/>
          </a:xfrm>
          <a:prstGeom prst="rect">
            <a:avLst/>
          </a:prstGeom>
          <a:solidFill>
            <a:srgbClr val="FFFFFF"/>
          </a:solidFill>
          <a:ln w="12700">
            <a:solidFill>
              <a:srgbClr val="BDD6F5"/>
            </a:solidFill>
            <a:prstDash val="solid"/>
          </a:ln>
          <a:effectLst>
            <a:outerShdw blurRad="38100" dist="25400" dir="8100000" algn="bl" rotWithShape="0">
              <a:srgbClr val="000000">
                <a:alpha val="8000"/>
              </a:srgbClr>
            </a:outerShdw>
          </a:effectLst>
        </p:spPr>
        <p:txBody>
          <a:bodyPr/>
          <a:lstStyle/>
          <a:p>
            <a:endParaRPr lang="en-IN">
              <a:latin typeface="Cambria" panose="02040503050406030204" pitchFamily="18" charset="0"/>
              <a:ea typeface="Cambria" panose="02040503050406030204" pitchFamily="18" charset="0"/>
            </a:endParaRPr>
          </a:p>
        </p:txBody>
      </p:sp>
      <p:sp>
        <p:nvSpPr>
          <p:cNvPr id="28" name="Shape 26"/>
          <p:cNvSpPr/>
          <p:nvPr/>
        </p:nvSpPr>
        <p:spPr>
          <a:xfrm>
            <a:off x="4389120" y="1280160"/>
            <a:ext cx="2068278" cy="54864"/>
          </a:xfrm>
          <a:prstGeom prst="rect">
            <a:avLst/>
          </a:prstGeom>
          <a:solidFill>
            <a:srgbClr val="1A6FD4"/>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30" name="Text 28"/>
          <p:cNvSpPr/>
          <p:nvPr/>
        </p:nvSpPr>
        <p:spPr>
          <a:xfrm>
            <a:off x="4389120" y="1828800"/>
            <a:ext cx="2068278" cy="274320"/>
          </a:xfrm>
          <a:prstGeom prst="rect">
            <a:avLst/>
          </a:prstGeom>
          <a:noFill/>
          <a:ln/>
        </p:spPr>
        <p:txBody>
          <a:bodyPr wrap="square" rtlCol="0" anchor="ctr"/>
          <a:lstStyle/>
          <a:p>
            <a:pPr marL="0" indent="0" algn="ctr">
              <a:buNone/>
            </a:pPr>
            <a:r>
              <a:rPr lang="en-US" sz="1000" dirty="0">
                <a:solidFill>
                  <a:srgbClr val="1A3A6A"/>
                </a:solidFill>
                <a:latin typeface="Cambria" panose="02040503050406030204" pitchFamily="18" charset="0"/>
                <a:ea typeface="Cambria" panose="02040503050406030204" pitchFamily="18" charset="0"/>
                <a:cs typeface="Calibri" pitchFamily="34" charset="-120"/>
              </a:rPr>
              <a:t>Overall Accuracy</a:t>
            </a:r>
            <a:endParaRPr lang="en-US" sz="1000" dirty="0">
              <a:latin typeface="Cambria" panose="02040503050406030204" pitchFamily="18" charset="0"/>
              <a:ea typeface="Cambria" panose="02040503050406030204" pitchFamily="18" charset="0"/>
            </a:endParaRPr>
          </a:p>
        </p:txBody>
      </p:sp>
      <p:sp>
        <p:nvSpPr>
          <p:cNvPr id="31" name="Shape 29"/>
          <p:cNvSpPr/>
          <p:nvPr/>
        </p:nvSpPr>
        <p:spPr>
          <a:xfrm>
            <a:off x="6675120" y="1280160"/>
            <a:ext cx="2068278" cy="914400"/>
          </a:xfrm>
          <a:prstGeom prst="rect">
            <a:avLst/>
          </a:prstGeom>
          <a:solidFill>
            <a:srgbClr val="FFFFFF"/>
          </a:solidFill>
          <a:ln w="12700">
            <a:solidFill>
              <a:srgbClr val="BDD6F5"/>
            </a:solidFill>
            <a:prstDash val="solid"/>
          </a:ln>
          <a:effectLst>
            <a:outerShdw blurRad="38100" dist="25400" dir="8100000" algn="bl" rotWithShape="0">
              <a:srgbClr val="000000">
                <a:alpha val="8000"/>
              </a:srgbClr>
            </a:outerShdw>
          </a:effectLst>
        </p:spPr>
        <p:txBody>
          <a:bodyPr/>
          <a:lstStyle/>
          <a:p>
            <a:endParaRPr lang="en-IN">
              <a:latin typeface="Cambria" panose="02040503050406030204" pitchFamily="18" charset="0"/>
              <a:ea typeface="Cambria" panose="02040503050406030204" pitchFamily="18" charset="0"/>
            </a:endParaRPr>
          </a:p>
        </p:txBody>
      </p:sp>
      <p:sp>
        <p:nvSpPr>
          <p:cNvPr id="32" name="Shape 30"/>
          <p:cNvSpPr/>
          <p:nvPr/>
        </p:nvSpPr>
        <p:spPr>
          <a:xfrm>
            <a:off x="6675120" y="1280160"/>
            <a:ext cx="2068278" cy="54864"/>
          </a:xfrm>
          <a:prstGeom prst="rect">
            <a:avLst/>
          </a:prstGeom>
          <a:solidFill>
            <a:srgbClr val="1A6FD4"/>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33" name="Text 31"/>
          <p:cNvSpPr/>
          <p:nvPr/>
        </p:nvSpPr>
        <p:spPr>
          <a:xfrm>
            <a:off x="6675120" y="1353312"/>
            <a:ext cx="2068278" cy="457200"/>
          </a:xfrm>
          <a:prstGeom prst="rect">
            <a:avLst/>
          </a:prstGeom>
          <a:noFill/>
          <a:ln/>
        </p:spPr>
        <p:txBody>
          <a:bodyPr wrap="square" rtlCol="0" anchor="ctr"/>
          <a:lstStyle/>
          <a:p>
            <a:pPr marL="0" indent="0" algn="ctr">
              <a:buNone/>
            </a:pPr>
            <a:r>
              <a:rPr lang="en-US" sz="2200" b="1" dirty="0">
                <a:solidFill>
                  <a:srgbClr val="1A6FD4"/>
                </a:solidFill>
                <a:latin typeface="Cambria" panose="02040503050406030204" pitchFamily="18" charset="0"/>
                <a:ea typeface="Cambria" panose="02040503050406030204" pitchFamily="18" charset="0"/>
                <a:cs typeface="Calibri" pitchFamily="34" charset="-120"/>
              </a:rPr>
              <a:t>93.64%</a:t>
            </a:r>
            <a:endParaRPr lang="en-US" sz="2200" dirty="0">
              <a:latin typeface="Cambria" panose="02040503050406030204" pitchFamily="18" charset="0"/>
              <a:ea typeface="Cambria" panose="02040503050406030204" pitchFamily="18" charset="0"/>
            </a:endParaRPr>
          </a:p>
        </p:txBody>
      </p:sp>
      <p:sp>
        <p:nvSpPr>
          <p:cNvPr id="34" name="Text 32"/>
          <p:cNvSpPr/>
          <p:nvPr/>
        </p:nvSpPr>
        <p:spPr>
          <a:xfrm>
            <a:off x="6675120" y="1828800"/>
            <a:ext cx="2068278" cy="274320"/>
          </a:xfrm>
          <a:prstGeom prst="rect">
            <a:avLst/>
          </a:prstGeom>
          <a:noFill/>
          <a:ln/>
        </p:spPr>
        <p:txBody>
          <a:bodyPr wrap="square" rtlCol="0" anchor="ctr"/>
          <a:lstStyle/>
          <a:p>
            <a:pPr marL="0" indent="0" algn="ctr">
              <a:buNone/>
            </a:pPr>
            <a:r>
              <a:rPr lang="en-US" sz="1000" dirty="0">
                <a:solidFill>
                  <a:srgbClr val="1A3A6A"/>
                </a:solidFill>
                <a:latin typeface="Cambria" panose="02040503050406030204" pitchFamily="18" charset="0"/>
                <a:ea typeface="Cambria" panose="02040503050406030204" pitchFamily="18" charset="0"/>
                <a:cs typeface="Calibri" pitchFamily="34" charset="-120"/>
              </a:rPr>
              <a:t>Semantic Similarity</a:t>
            </a:r>
            <a:endParaRPr lang="en-US" sz="1000" dirty="0">
              <a:latin typeface="Cambria" panose="02040503050406030204" pitchFamily="18" charset="0"/>
              <a:ea typeface="Cambria" panose="02040503050406030204" pitchFamily="18" charset="0"/>
            </a:endParaRPr>
          </a:p>
        </p:txBody>
      </p:sp>
      <p:sp>
        <p:nvSpPr>
          <p:cNvPr id="35" name="Shape 33"/>
          <p:cNvSpPr/>
          <p:nvPr/>
        </p:nvSpPr>
        <p:spPr>
          <a:xfrm>
            <a:off x="4389120" y="2377440"/>
            <a:ext cx="2068278" cy="914400"/>
          </a:xfrm>
          <a:prstGeom prst="rect">
            <a:avLst/>
          </a:prstGeom>
          <a:solidFill>
            <a:srgbClr val="FFFFFF"/>
          </a:solidFill>
          <a:ln w="12700">
            <a:solidFill>
              <a:srgbClr val="BDD6F5"/>
            </a:solidFill>
            <a:prstDash val="solid"/>
          </a:ln>
          <a:effectLst>
            <a:outerShdw blurRad="38100" dist="25400" dir="8100000" algn="bl" rotWithShape="0">
              <a:srgbClr val="000000">
                <a:alpha val="8000"/>
              </a:srgbClr>
            </a:outerShdw>
          </a:effectLst>
        </p:spPr>
        <p:txBody>
          <a:bodyPr/>
          <a:lstStyle/>
          <a:p>
            <a:endParaRPr lang="en-IN">
              <a:latin typeface="Cambria" panose="02040503050406030204" pitchFamily="18" charset="0"/>
              <a:ea typeface="Cambria" panose="02040503050406030204" pitchFamily="18" charset="0"/>
            </a:endParaRPr>
          </a:p>
        </p:txBody>
      </p:sp>
      <p:sp>
        <p:nvSpPr>
          <p:cNvPr id="36" name="Shape 34"/>
          <p:cNvSpPr/>
          <p:nvPr/>
        </p:nvSpPr>
        <p:spPr>
          <a:xfrm>
            <a:off x="4389120" y="2377440"/>
            <a:ext cx="2068278" cy="54864"/>
          </a:xfrm>
          <a:prstGeom prst="rect">
            <a:avLst/>
          </a:prstGeom>
          <a:solidFill>
            <a:srgbClr val="1A6FD4"/>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37" name="Text 35"/>
          <p:cNvSpPr/>
          <p:nvPr/>
        </p:nvSpPr>
        <p:spPr>
          <a:xfrm>
            <a:off x="4389120" y="2450592"/>
            <a:ext cx="2068278" cy="457200"/>
          </a:xfrm>
          <a:prstGeom prst="rect">
            <a:avLst/>
          </a:prstGeom>
          <a:noFill/>
          <a:ln/>
        </p:spPr>
        <p:txBody>
          <a:bodyPr wrap="square" rtlCol="0" anchor="ctr"/>
          <a:lstStyle/>
          <a:p>
            <a:pPr marL="0" indent="0" algn="ctr">
              <a:buNone/>
            </a:pPr>
            <a:r>
              <a:rPr lang="en-US" sz="2200" b="1" dirty="0">
                <a:solidFill>
                  <a:srgbClr val="1A6FD4"/>
                </a:solidFill>
                <a:latin typeface="Cambria" panose="02040503050406030204" pitchFamily="18" charset="0"/>
                <a:ea typeface="Cambria" panose="02040503050406030204" pitchFamily="18" charset="0"/>
                <a:cs typeface="Calibri" pitchFamily="34" charset="-120"/>
              </a:rPr>
              <a:t>7.11%</a:t>
            </a:r>
            <a:endParaRPr lang="en-US" sz="2200" dirty="0">
              <a:latin typeface="Cambria" panose="02040503050406030204" pitchFamily="18" charset="0"/>
              <a:ea typeface="Cambria" panose="02040503050406030204" pitchFamily="18" charset="0"/>
            </a:endParaRPr>
          </a:p>
        </p:txBody>
      </p:sp>
      <p:sp>
        <p:nvSpPr>
          <p:cNvPr id="38" name="Text 36"/>
          <p:cNvSpPr/>
          <p:nvPr/>
        </p:nvSpPr>
        <p:spPr>
          <a:xfrm>
            <a:off x="4389120" y="2926080"/>
            <a:ext cx="2068278" cy="274320"/>
          </a:xfrm>
          <a:prstGeom prst="rect">
            <a:avLst/>
          </a:prstGeom>
          <a:noFill/>
          <a:ln/>
        </p:spPr>
        <p:txBody>
          <a:bodyPr wrap="square" rtlCol="0" anchor="ctr"/>
          <a:lstStyle/>
          <a:p>
            <a:pPr marL="0" indent="0" algn="ctr">
              <a:buNone/>
            </a:pPr>
            <a:r>
              <a:rPr lang="en-US" sz="1000" dirty="0">
                <a:solidFill>
                  <a:srgbClr val="1A3A6A"/>
                </a:solidFill>
                <a:latin typeface="Cambria" panose="02040503050406030204" pitchFamily="18" charset="0"/>
                <a:ea typeface="Cambria" panose="02040503050406030204" pitchFamily="18" charset="0"/>
                <a:cs typeface="Calibri" pitchFamily="34" charset="-120"/>
              </a:rPr>
              <a:t>Hallucination Rate</a:t>
            </a:r>
            <a:endParaRPr lang="en-US" sz="1000" dirty="0">
              <a:latin typeface="Cambria" panose="02040503050406030204" pitchFamily="18" charset="0"/>
              <a:ea typeface="Cambria" panose="02040503050406030204" pitchFamily="18" charset="0"/>
            </a:endParaRPr>
          </a:p>
        </p:txBody>
      </p:sp>
      <p:sp>
        <p:nvSpPr>
          <p:cNvPr id="39" name="Shape 37"/>
          <p:cNvSpPr/>
          <p:nvPr/>
        </p:nvSpPr>
        <p:spPr>
          <a:xfrm>
            <a:off x="6675120" y="2377440"/>
            <a:ext cx="2068278" cy="914400"/>
          </a:xfrm>
          <a:prstGeom prst="rect">
            <a:avLst/>
          </a:prstGeom>
          <a:solidFill>
            <a:srgbClr val="FFFFFF"/>
          </a:solidFill>
          <a:ln w="12700">
            <a:solidFill>
              <a:srgbClr val="BDD6F5"/>
            </a:solidFill>
            <a:prstDash val="solid"/>
          </a:ln>
          <a:effectLst>
            <a:outerShdw blurRad="38100" dist="25400" dir="8100000" algn="bl" rotWithShape="0">
              <a:srgbClr val="000000">
                <a:alpha val="8000"/>
              </a:srgbClr>
            </a:outerShdw>
          </a:effectLst>
        </p:spPr>
        <p:txBody>
          <a:bodyPr/>
          <a:lstStyle/>
          <a:p>
            <a:endParaRPr lang="en-IN">
              <a:latin typeface="Cambria" panose="02040503050406030204" pitchFamily="18" charset="0"/>
              <a:ea typeface="Cambria" panose="02040503050406030204" pitchFamily="18" charset="0"/>
            </a:endParaRPr>
          </a:p>
        </p:txBody>
      </p:sp>
      <p:sp>
        <p:nvSpPr>
          <p:cNvPr id="40" name="Shape 38"/>
          <p:cNvSpPr/>
          <p:nvPr/>
        </p:nvSpPr>
        <p:spPr>
          <a:xfrm>
            <a:off x="6675120" y="2377440"/>
            <a:ext cx="2068278" cy="54864"/>
          </a:xfrm>
          <a:prstGeom prst="rect">
            <a:avLst/>
          </a:prstGeom>
          <a:solidFill>
            <a:srgbClr val="1A6FD4"/>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41" name="Text 39"/>
          <p:cNvSpPr/>
          <p:nvPr/>
        </p:nvSpPr>
        <p:spPr>
          <a:xfrm>
            <a:off x="6675120" y="2450592"/>
            <a:ext cx="2068278" cy="457200"/>
          </a:xfrm>
          <a:prstGeom prst="rect">
            <a:avLst/>
          </a:prstGeom>
          <a:noFill/>
          <a:ln/>
        </p:spPr>
        <p:txBody>
          <a:bodyPr wrap="square" rtlCol="0" anchor="ctr"/>
          <a:lstStyle/>
          <a:p>
            <a:pPr marL="0" indent="0" algn="ctr">
              <a:buNone/>
            </a:pPr>
            <a:r>
              <a:rPr lang="en-US" sz="2200" b="1" dirty="0">
                <a:solidFill>
                  <a:srgbClr val="1A6FD4"/>
                </a:solidFill>
                <a:latin typeface="Cambria" panose="02040503050406030204" pitchFamily="18" charset="0"/>
                <a:ea typeface="Cambria" panose="02040503050406030204" pitchFamily="18" charset="0"/>
                <a:cs typeface="Calibri" pitchFamily="34" charset="-120"/>
              </a:rPr>
              <a:t>12+</a:t>
            </a:r>
            <a:endParaRPr lang="en-US" sz="2200" dirty="0">
              <a:latin typeface="Cambria" panose="02040503050406030204" pitchFamily="18" charset="0"/>
              <a:ea typeface="Cambria" panose="02040503050406030204" pitchFamily="18" charset="0"/>
            </a:endParaRPr>
          </a:p>
        </p:txBody>
      </p:sp>
      <p:sp>
        <p:nvSpPr>
          <p:cNvPr id="42" name="Text 40"/>
          <p:cNvSpPr/>
          <p:nvPr/>
        </p:nvSpPr>
        <p:spPr>
          <a:xfrm>
            <a:off x="6675120" y="2926080"/>
            <a:ext cx="2068278" cy="274320"/>
          </a:xfrm>
          <a:prstGeom prst="rect">
            <a:avLst/>
          </a:prstGeom>
          <a:noFill/>
          <a:ln/>
        </p:spPr>
        <p:txBody>
          <a:bodyPr wrap="square" rtlCol="0" anchor="ctr"/>
          <a:lstStyle/>
          <a:p>
            <a:pPr marL="0" indent="0" algn="ctr">
              <a:buNone/>
            </a:pPr>
            <a:r>
              <a:rPr lang="en-US" sz="1000" dirty="0">
                <a:solidFill>
                  <a:srgbClr val="1A3A6A"/>
                </a:solidFill>
                <a:latin typeface="Cambria" panose="02040503050406030204" pitchFamily="18" charset="0"/>
                <a:ea typeface="Cambria" panose="02040503050406030204" pitchFamily="18" charset="0"/>
                <a:cs typeface="Calibri" pitchFamily="34" charset="-120"/>
              </a:rPr>
              <a:t>Languages Supported</a:t>
            </a:r>
            <a:endParaRPr lang="en-US" sz="1000" dirty="0">
              <a:latin typeface="Cambria" panose="02040503050406030204" pitchFamily="18" charset="0"/>
              <a:ea typeface="Cambria" panose="02040503050406030204" pitchFamily="18" charset="0"/>
            </a:endParaRPr>
          </a:p>
        </p:txBody>
      </p:sp>
      <p:sp>
        <p:nvSpPr>
          <p:cNvPr id="43" name="Shape 41"/>
          <p:cNvSpPr/>
          <p:nvPr/>
        </p:nvSpPr>
        <p:spPr>
          <a:xfrm>
            <a:off x="4389120" y="3520440"/>
            <a:ext cx="4754880" cy="640080"/>
          </a:xfrm>
          <a:prstGeom prst="rect">
            <a:avLst/>
          </a:prstGeom>
          <a:solidFill>
            <a:srgbClr val="E5EFF9"/>
          </a:solidFill>
          <a:ln w="12700">
            <a:solidFill>
              <a:srgbClr val="BDD6F5"/>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44" name="Text 42"/>
          <p:cNvSpPr/>
          <p:nvPr/>
        </p:nvSpPr>
        <p:spPr>
          <a:xfrm>
            <a:off x="5076682" y="3538728"/>
            <a:ext cx="4067318" cy="585216"/>
          </a:xfrm>
          <a:prstGeom prst="rect">
            <a:avLst/>
          </a:prstGeom>
          <a:noFill/>
          <a:ln/>
        </p:spPr>
        <p:txBody>
          <a:bodyPr wrap="square" rtlCol="0" anchor="ctr"/>
          <a:lstStyle/>
          <a:p>
            <a:pPr marL="0" indent="0" algn="l">
              <a:buNone/>
            </a:pPr>
            <a:r>
              <a:rPr lang="en-US" sz="1200" b="1" dirty="0">
                <a:solidFill>
                  <a:srgbClr val="0D1E3A"/>
                </a:solidFill>
                <a:latin typeface="Cambria" panose="02040503050406030204" pitchFamily="18" charset="0"/>
                <a:ea typeface="Cambria" panose="02040503050406030204" pitchFamily="18" charset="0"/>
                <a:cs typeface="Calibri" pitchFamily="34" charset="-120"/>
              </a:rPr>
              <a:t>Guided by</a:t>
            </a:r>
            <a:endParaRPr lang="en-US" sz="1200" b="1" dirty="0">
              <a:latin typeface="Cambria" panose="02040503050406030204" pitchFamily="18" charset="0"/>
              <a:ea typeface="Cambria" panose="02040503050406030204" pitchFamily="18" charset="0"/>
            </a:endParaRPr>
          </a:p>
          <a:p>
            <a:pPr marL="0" indent="0" algn="l">
              <a:buNone/>
            </a:pPr>
            <a:r>
              <a:rPr lang="en-US" sz="1200" dirty="0">
                <a:solidFill>
                  <a:srgbClr val="0D1E3A"/>
                </a:solidFill>
                <a:latin typeface="Cambria" panose="02040503050406030204" pitchFamily="18" charset="0"/>
                <a:ea typeface="Cambria" panose="02040503050406030204" pitchFamily="18" charset="0"/>
                <a:cs typeface="Calibri" pitchFamily="34" charset="-120"/>
              </a:rPr>
              <a:t>P.V. Naga Srinivas, M.Tech</a:t>
            </a:r>
            <a:endParaRPr lang="en-US" sz="1200" dirty="0">
              <a:latin typeface="Cambria" panose="02040503050406030204" pitchFamily="18" charset="0"/>
              <a:ea typeface="Cambria" panose="02040503050406030204" pitchFamily="18" charset="0"/>
            </a:endParaRPr>
          </a:p>
          <a:p>
            <a:pPr marL="0" indent="0" algn="l">
              <a:buNone/>
            </a:pPr>
            <a:r>
              <a:rPr lang="en-US" sz="1200" dirty="0">
                <a:solidFill>
                  <a:srgbClr val="0D1E3A"/>
                </a:solidFill>
                <a:latin typeface="Cambria" panose="02040503050406030204" pitchFamily="18" charset="0"/>
                <a:ea typeface="Cambria" panose="02040503050406030204" pitchFamily="18" charset="0"/>
                <a:cs typeface="Calibri" pitchFamily="34" charset="-120"/>
              </a:rPr>
              <a:t>Asst. Professor, Dept. of CSE (AI &amp; ML)</a:t>
            </a:r>
            <a:endParaRPr lang="en-US" sz="1200" dirty="0">
              <a:latin typeface="Cambria" panose="02040503050406030204" pitchFamily="18" charset="0"/>
              <a:ea typeface="Cambria" panose="02040503050406030204" pitchFamily="18" charset="0"/>
            </a:endParaRPr>
          </a:p>
        </p:txBody>
      </p:sp>
      <p:sp>
        <p:nvSpPr>
          <p:cNvPr id="45" name="Shape 43"/>
          <p:cNvSpPr/>
          <p:nvPr/>
        </p:nvSpPr>
        <p:spPr>
          <a:xfrm>
            <a:off x="4379340" y="4343400"/>
            <a:ext cx="4754880" cy="457200"/>
          </a:xfrm>
          <a:prstGeom prst="rect">
            <a:avLst/>
          </a:prstGeom>
          <a:solidFill>
            <a:srgbClr val="0D1E3A"/>
          </a:solidFill>
          <a:ln w="12700">
            <a:solidFill>
              <a:srgbClr val="0D1E3A"/>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46" name="Text 44"/>
          <p:cNvSpPr/>
          <p:nvPr/>
        </p:nvSpPr>
        <p:spPr>
          <a:xfrm>
            <a:off x="4403358" y="4315968"/>
            <a:ext cx="4512606" cy="457200"/>
          </a:xfrm>
          <a:prstGeom prst="rect">
            <a:avLst/>
          </a:prstGeom>
          <a:noFill/>
          <a:ln/>
        </p:spPr>
        <p:txBody>
          <a:bodyPr wrap="square" rtlCol="0" anchor="ctr"/>
          <a:lstStyle/>
          <a:p>
            <a:pPr marL="0" indent="0" algn="ctr">
              <a:buNone/>
            </a:pPr>
            <a:r>
              <a:rPr lang="en-US" sz="1400" b="1" dirty="0">
                <a:solidFill>
                  <a:srgbClr val="FFFFFF"/>
                </a:solidFill>
                <a:latin typeface="Cambria" panose="02040503050406030204" pitchFamily="18" charset="0"/>
                <a:ea typeface="Cambria" panose="02040503050406030204" pitchFamily="18" charset="0"/>
                <a:cs typeface="Calibri" pitchFamily="34" charset="-120"/>
              </a:rPr>
              <a:t>Bapatla Engineering College  •  Dept. of CSE (AI &amp; ML)</a:t>
            </a:r>
            <a:endParaRPr lang="en-US" sz="1400" dirty="0">
              <a:latin typeface="Cambria" panose="02040503050406030204" pitchFamily="18" charset="0"/>
              <a:ea typeface="Cambria" panose="02040503050406030204" pitchFamily="18" charset="0"/>
            </a:endParaRPr>
          </a:p>
        </p:txBody>
      </p:sp>
      <p:sp>
        <p:nvSpPr>
          <p:cNvPr id="47" name="Shape 45"/>
          <p:cNvSpPr/>
          <p:nvPr/>
        </p:nvSpPr>
        <p:spPr>
          <a:xfrm>
            <a:off x="0" y="4864608"/>
            <a:ext cx="9144000" cy="278892"/>
          </a:xfrm>
          <a:prstGeom prst="rect">
            <a:avLst/>
          </a:prstGeom>
          <a:solidFill>
            <a:srgbClr val="1A6FD4"/>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48" name="Text 46"/>
          <p:cNvSpPr/>
          <p:nvPr/>
        </p:nvSpPr>
        <p:spPr>
          <a:xfrm>
            <a:off x="0" y="4864608"/>
            <a:ext cx="9401262" cy="278892"/>
          </a:xfrm>
          <a:prstGeom prst="rect">
            <a:avLst/>
          </a:prstGeom>
          <a:noFill/>
          <a:ln/>
        </p:spPr>
        <p:txBody>
          <a:bodyPr wrap="square" lIns="0" tIns="0" rIns="0" bIns="0" rtlCol="0" anchor="ctr"/>
          <a:lstStyle/>
          <a:p>
            <a:pPr marL="0" indent="0" algn="ctr">
              <a:buNone/>
            </a:pPr>
            <a:endParaRPr lang="en-US" sz="1000" dirty="0">
              <a:latin typeface="Cambria" panose="02040503050406030204" pitchFamily="18" charset="0"/>
              <a:ea typeface="Cambria" panose="02040503050406030204" pitchFamily="18" charset="0"/>
            </a:endParaRPr>
          </a:p>
        </p:txBody>
      </p:sp>
      <p:pic>
        <p:nvPicPr>
          <p:cNvPr id="49" name="Image 0">
            <a:extLst>
              <a:ext uri="{FF2B5EF4-FFF2-40B4-BE49-F238E27FC236}">
                <a16:creationId xmlns:a16="http://schemas.microsoft.com/office/drawing/2014/main" id="{53439C3D-9125-EFD6-50B7-142DDC9C0C47}"/>
              </a:ext>
            </a:extLst>
          </p:cNvPr>
          <p:cNvPicPr>
            <a:picLocks noChangeAspect="1"/>
          </p:cNvPicPr>
          <p:nvPr/>
        </p:nvPicPr>
        <p:blipFill>
          <a:blip r:embed="rId3"/>
          <a:srcRect b="7397"/>
          <a:stretch>
            <a:fillRect/>
          </a:stretch>
        </p:blipFill>
        <p:spPr>
          <a:xfrm>
            <a:off x="4329726" y="0"/>
            <a:ext cx="4814274" cy="3493008"/>
          </a:xfrm>
          <a:prstGeom prst="rect">
            <a:avLst/>
          </a:prstGeom>
        </p:spPr>
      </p:pic>
      <p:pic>
        <p:nvPicPr>
          <p:cNvPr id="50" name="Image 1">
            <a:extLst>
              <a:ext uri="{FF2B5EF4-FFF2-40B4-BE49-F238E27FC236}">
                <a16:creationId xmlns:a16="http://schemas.microsoft.com/office/drawing/2014/main" id="{306B3E9C-7B20-A744-CAF9-89C1B82D6498}"/>
              </a:ext>
            </a:extLst>
          </p:cNvPr>
          <p:cNvPicPr>
            <a:picLocks noChangeAspect="1"/>
          </p:cNvPicPr>
          <p:nvPr/>
        </p:nvPicPr>
        <p:blipFill>
          <a:blip r:embed="rId4"/>
          <a:stretch>
            <a:fillRect/>
          </a:stretch>
        </p:blipFill>
        <p:spPr>
          <a:xfrm>
            <a:off x="4476869" y="3581121"/>
            <a:ext cx="512064" cy="512064"/>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1020"/>
          </a:solidFill>
          <a:ln w="12700">
            <a:solidFill>
              <a:srgbClr val="071020"/>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4" name="Text 2"/>
          <p:cNvSpPr/>
          <p:nvPr/>
        </p:nvSpPr>
        <p:spPr>
          <a:xfrm>
            <a:off x="320040" y="0"/>
            <a:ext cx="6858000" cy="96012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anose="02040503050406030204" pitchFamily="18" charset="0"/>
                <a:ea typeface="Cambria" panose="02040503050406030204" pitchFamily="18" charset="0"/>
                <a:cs typeface="Calibri" pitchFamily="34" charset="-120"/>
              </a:rPr>
              <a:t>PRESENTATION OVERVIEW</a:t>
            </a:r>
            <a:endParaRPr lang="en-US" sz="3600" dirty="0">
              <a:latin typeface="Cambria" panose="02040503050406030204" pitchFamily="18" charset="0"/>
              <a:ea typeface="Cambria" panose="02040503050406030204" pitchFamily="18" charset="0"/>
            </a:endParaRPr>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endParaRPr lang="en-US" sz="1400" dirty="0">
              <a:latin typeface="Cambria" panose="02040503050406030204" pitchFamily="18" charset="0"/>
              <a:ea typeface="Cambria" panose="02040503050406030204" pitchFamily="18" charset="0"/>
            </a:endParaRPr>
          </a:p>
        </p:txBody>
      </p:sp>
      <p:sp>
        <p:nvSpPr>
          <p:cNvPr id="6" name="Shape 4"/>
          <p:cNvSpPr/>
          <p:nvPr/>
        </p:nvSpPr>
        <p:spPr>
          <a:xfrm>
            <a:off x="365760" y="1143000"/>
            <a:ext cx="4023360" cy="749808"/>
          </a:xfrm>
          <a:prstGeom prst="rect">
            <a:avLst/>
          </a:prstGeom>
          <a:solidFill>
            <a:srgbClr val="0D1E3A"/>
          </a:solidFill>
          <a:ln w="12700">
            <a:solidFill>
              <a:srgbClr val="1A6FD4"/>
            </a:solidFill>
            <a:prstDash val="solid"/>
          </a:ln>
          <a:effectLst>
            <a:outerShdw blurRad="38100" dist="25400" dir="8100000" algn="bl" rotWithShape="0">
              <a:srgbClr val="000000">
                <a:alpha val="12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7" name="Shape 5"/>
          <p:cNvSpPr/>
          <p:nvPr/>
        </p:nvSpPr>
        <p:spPr>
          <a:xfrm>
            <a:off x="365760" y="1143000"/>
            <a:ext cx="457200" cy="749808"/>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8" name="Text 6"/>
          <p:cNvSpPr/>
          <p:nvPr/>
        </p:nvSpPr>
        <p:spPr>
          <a:xfrm>
            <a:off x="365760" y="1143000"/>
            <a:ext cx="457200" cy="74980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01</a:t>
            </a:r>
            <a:endParaRPr lang="en-US" sz="2000" dirty="0">
              <a:latin typeface="Cambria" panose="02040503050406030204" pitchFamily="18" charset="0"/>
              <a:ea typeface="Cambria" panose="02040503050406030204" pitchFamily="18" charset="0"/>
            </a:endParaRPr>
          </a:p>
        </p:txBody>
      </p:sp>
      <p:sp>
        <p:nvSpPr>
          <p:cNvPr id="9" name="Text 7"/>
          <p:cNvSpPr/>
          <p:nvPr/>
        </p:nvSpPr>
        <p:spPr>
          <a:xfrm>
            <a:off x="868680" y="1188720"/>
            <a:ext cx="3474720" cy="347472"/>
          </a:xfrm>
          <a:prstGeom prst="rect">
            <a:avLst/>
          </a:prstGeom>
          <a:noFill/>
          <a:ln/>
        </p:spPr>
        <p:txBody>
          <a:bodyPr wrap="square" lIns="0" tIns="0" rIns="0" bIns="0" rtlCol="0" anchor="b"/>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Abstract</a:t>
            </a:r>
            <a:endParaRPr lang="en-US" sz="1600" dirty="0">
              <a:latin typeface="Cambria" panose="02040503050406030204" pitchFamily="18" charset="0"/>
              <a:ea typeface="Cambria" panose="02040503050406030204" pitchFamily="18" charset="0"/>
            </a:endParaRPr>
          </a:p>
        </p:txBody>
      </p:sp>
      <p:sp>
        <p:nvSpPr>
          <p:cNvPr id="10" name="Text 8"/>
          <p:cNvSpPr/>
          <p:nvPr/>
        </p:nvSpPr>
        <p:spPr>
          <a:xfrm>
            <a:off x="868680" y="1527048"/>
            <a:ext cx="3474720" cy="29260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System overview &amp; key contributions</a:t>
            </a:r>
            <a:endParaRPr lang="en-US" sz="1200" dirty="0">
              <a:latin typeface="Cambria" panose="02040503050406030204" pitchFamily="18" charset="0"/>
              <a:ea typeface="Cambria" panose="02040503050406030204" pitchFamily="18" charset="0"/>
            </a:endParaRPr>
          </a:p>
        </p:txBody>
      </p:sp>
      <p:sp>
        <p:nvSpPr>
          <p:cNvPr id="11" name="Shape 9"/>
          <p:cNvSpPr/>
          <p:nvPr/>
        </p:nvSpPr>
        <p:spPr>
          <a:xfrm>
            <a:off x="365760" y="2057400"/>
            <a:ext cx="4023360" cy="749808"/>
          </a:xfrm>
          <a:prstGeom prst="rect">
            <a:avLst/>
          </a:prstGeom>
          <a:solidFill>
            <a:srgbClr val="0D1E3A"/>
          </a:solidFill>
          <a:ln w="12700">
            <a:solidFill>
              <a:srgbClr val="1A6FD4"/>
            </a:solidFill>
            <a:prstDash val="solid"/>
          </a:ln>
          <a:effectLst>
            <a:outerShdw blurRad="38100" dist="25400" dir="8100000" algn="bl" rotWithShape="0">
              <a:srgbClr val="000000">
                <a:alpha val="12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12" name="Shape 10"/>
          <p:cNvSpPr/>
          <p:nvPr/>
        </p:nvSpPr>
        <p:spPr>
          <a:xfrm>
            <a:off x="365760" y="2057400"/>
            <a:ext cx="457200" cy="749808"/>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3" name="Text 11"/>
          <p:cNvSpPr/>
          <p:nvPr/>
        </p:nvSpPr>
        <p:spPr>
          <a:xfrm>
            <a:off x="365760" y="2057400"/>
            <a:ext cx="457200" cy="74980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02</a:t>
            </a:r>
            <a:endParaRPr lang="en-US" sz="2000" dirty="0">
              <a:latin typeface="Cambria" panose="02040503050406030204" pitchFamily="18" charset="0"/>
              <a:ea typeface="Cambria" panose="02040503050406030204" pitchFamily="18" charset="0"/>
            </a:endParaRPr>
          </a:p>
        </p:txBody>
      </p:sp>
      <p:sp>
        <p:nvSpPr>
          <p:cNvPr id="14" name="Text 12"/>
          <p:cNvSpPr/>
          <p:nvPr/>
        </p:nvSpPr>
        <p:spPr>
          <a:xfrm>
            <a:off x="868680" y="2103120"/>
            <a:ext cx="3474720" cy="347472"/>
          </a:xfrm>
          <a:prstGeom prst="rect">
            <a:avLst/>
          </a:prstGeom>
          <a:noFill/>
          <a:ln/>
        </p:spPr>
        <p:txBody>
          <a:bodyPr wrap="square" lIns="0" tIns="0" rIns="0" bIns="0" rtlCol="0" anchor="b"/>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Existing System</a:t>
            </a:r>
            <a:endParaRPr lang="en-US" sz="1600" dirty="0">
              <a:latin typeface="Cambria" panose="02040503050406030204" pitchFamily="18" charset="0"/>
              <a:ea typeface="Cambria" panose="02040503050406030204" pitchFamily="18" charset="0"/>
            </a:endParaRPr>
          </a:p>
        </p:txBody>
      </p:sp>
      <p:sp>
        <p:nvSpPr>
          <p:cNvPr id="15" name="Text 13"/>
          <p:cNvSpPr/>
          <p:nvPr/>
        </p:nvSpPr>
        <p:spPr>
          <a:xfrm>
            <a:off x="868680" y="2441448"/>
            <a:ext cx="3474720" cy="29260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Limitations of current healthcare AI tools</a:t>
            </a:r>
            <a:endParaRPr lang="en-US" sz="1200" dirty="0">
              <a:latin typeface="Cambria" panose="02040503050406030204" pitchFamily="18" charset="0"/>
              <a:ea typeface="Cambria" panose="02040503050406030204" pitchFamily="18" charset="0"/>
            </a:endParaRPr>
          </a:p>
        </p:txBody>
      </p:sp>
      <p:sp>
        <p:nvSpPr>
          <p:cNvPr id="16" name="Shape 14"/>
          <p:cNvSpPr/>
          <p:nvPr/>
        </p:nvSpPr>
        <p:spPr>
          <a:xfrm>
            <a:off x="365760" y="2971800"/>
            <a:ext cx="4023360" cy="749808"/>
          </a:xfrm>
          <a:prstGeom prst="rect">
            <a:avLst/>
          </a:prstGeom>
          <a:solidFill>
            <a:srgbClr val="0D1E3A"/>
          </a:solidFill>
          <a:ln w="12700">
            <a:solidFill>
              <a:srgbClr val="1A6FD4"/>
            </a:solidFill>
            <a:prstDash val="solid"/>
          </a:ln>
          <a:effectLst>
            <a:outerShdw blurRad="38100" dist="25400" dir="8100000" algn="bl" rotWithShape="0">
              <a:srgbClr val="000000">
                <a:alpha val="12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17" name="Shape 15"/>
          <p:cNvSpPr/>
          <p:nvPr/>
        </p:nvSpPr>
        <p:spPr>
          <a:xfrm>
            <a:off x="365760" y="2971800"/>
            <a:ext cx="457200" cy="749808"/>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8" name="Text 16"/>
          <p:cNvSpPr/>
          <p:nvPr/>
        </p:nvSpPr>
        <p:spPr>
          <a:xfrm>
            <a:off x="365760" y="2971800"/>
            <a:ext cx="457200" cy="74980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03</a:t>
            </a:r>
            <a:endParaRPr lang="en-US" sz="2000" dirty="0">
              <a:latin typeface="Cambria" panose="02040503050406030204" pitchFamily="18" charset="0"/>
              <a:ea typeface="Cambria" panose="02040503050406030204" pitchFamily="18" charset="0"/>
            </a:endParaRPr>
          </a:p>
        </p:txBody>
      </p:sp>
      <p:sp>
        <p:nvSpPr>
          <p:cNvPr id="19" name="Text 17"/>
          <p:cNvSpPr/>
          <p:nvPr/>
        </p:nvSpPr>
        <p:spPr>
          <a:xfrm>
            <a:off x="868680" y="3017520"/>
            <a:ext cx="3474720" cy="347472"/>
          </a:xfrm>
          <a:prstGeom prst="rect">
            <a:avLst/>
          </a:prstGeom>
          <a:noFill/>
          <a:ln/>
        </p:spPr>
        <p:txBody>
          <a:bodyPr wrap="square" lIns="0" tIns="0" rIns="0" bIns="0" rtlCol="0" anchor="b"/>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Proposed System</a:t>
            </a:r>
            <a:endParaRPr lang="en-US" sz="1600" dirty="0">
              <a:latin typeface="Cambria" panose="02040503050406030204" pitchFamily="18" charset="0"/>
              <a:ea typeface="Cambria" panose="02040503050406030204" pitchFamily="18" charset="0"/>
            </a:endParaRPr>
          </a:p>
        </p:txBody>
      </p:sp>
      <p:sp>
        <p:nvSpPr>
          <p:cNvPr id="20" name="Text 18"/>
          <p:cNvSpPr/>
          <p:nvPr/>
        </p:nvSpPr>
        <p:spPr>
          <a:xfrm>
            <a:off x="868680" y="3355848"/>
            <a:ext cx="3474720" cy="29260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7 clinical modules &amp; framework</a:t>
            </a:r>
            <a:endParaRPr lang="en-US" sz="1200" dirty="0">
              <a:latin typeface="Cambria" panose="02040503050406030204" pitchFamily="18" charset="0"/>
              <a:ea typeface="Cambria" panose="02040503050406030204" pitchFamily="18" charset="0"/>
            </a:endParaRPr>
          </a:p>
        </p:txBody>
      </p:sp>
      <p:sp>
        <p:nvSpPr>
          <p:cNvPr id="21" name="Shape 19"/>
          <p:cNvSpPr/>
          <p:nvPr/>
        </p:nvSpPr>
        <p:spPr>
          <a:xfrm>
            <a:off x="365760" y="3886200"/>
            <a:ext cx="4023360" cy="749808"/>
          </a:xfrm>
          <a:prstGeom prst="rect">
            <a:avLst/>
          </a:prstGeom>
          <a:solidFill>
            <a:srgbClr val="0D1E3A"/>
          </a:solidFill>
          <a:ln w="12700">
            <a:solidFill>
              <a:srgbClr val="1A6FD4"/>
            </a:solidFill>
            <a:prstDash val="solid"/>
          </a:ln>
          <a:effectLst>
            <a:outerShdw blurRad="38100" dist="25400" dir="8100000" algn="bl" rotWithShape="0">
              <a:srgbClr val="000000">
                <a:alpha val="12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22" name="Shape 20"/>
          <p:cNvSpPr/>
          <p:nvPr/>
        </p:nvSpPr>
        <p:spPr>
          <a:xfrm>
            <a:off x="365760" y="3886200"/>
            <a:ext cx="457200" cy="749808"/>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23" name="Text 21"/>
          <p:cNvSpPr/>
          <p:nvPr/>
        </p:nvSpPr>
        <p:spPr>
          <a:xfrm>
            <a:off x="365760" y="3886200"/>
            <a:ext cx="457200" cy="74980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04</a:t>
            </a:r>
            <a:endParaRPr lang="en-US" sz="2000" dirty="0">
              <a:latin typeface="Cambria" panose="02040503050406030204" pitchFamily="18" charset="0"/>
              <a:ea typeface="Cambria" panose="02040503050406030204" pitchFamily="18" charset="0"/>
            </a:endParaRPr>
          </a:p>
        </p:txBody>
      </p:sp>
      <p:sp>
        <p:nvSpPr>
          <p:cNvPr id="24" name="Text 22"/>
          <p:cNvSpPr/>
          <p:nvPr/>
        </p:nvSpPr>
        <p:spPr>
          <a:xfrm>
            <a:off x="868680" y="3931920"/>
            <a:ext cx="3474720" cy="347472"/>
          </a:xfrm>
          <a:prstGeom prst="rect">
            <a:avLst/>
          </a:prstGeom>
          <a:noFill/>
          <a:ln/>
        </p:spPr>
        <p:txBody>
          <a:bodyPr wrap="square" lIns="0" tIns="0" rIns="0" bIns="0" rtlCol="0" anchor="b"/>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Design</a:t>
            </a:r>
            <a:endParaRPr lang="en-US" sz="1600" dirty="0">
              <a:latin typeface="Cambria" panose="02040503050406030204" pitchFamily="18" charset="0"/>
              <a:ea typeface="Cambria" panose="02040503050406030204" pitchFamily="18" charset="0"/>
            </a:endParaRPr>
          </a:p>
        </p:txBody>
      </p:sp>
      <p:sp>
        <p:nvSpPr>
          <p:cNvPr id="25" name="Text 23"/>
          <p:cNvSpPr/>
          <p:nvPr/>
        </p:nvSpPr>
        <p:spPr>
          <a:xfrm>
            <a:off x="868680" y="4270248"/>
            <a:ext cx="3474720" cy="29260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System &amp; Mistral architecture</a:t>
            </a:r>
            <a:endParaRPr lang="en-US" sz="1200" dirty="0">
              <a:latin typeface="Cambria" panose="02040503050406030204" pitchFamily="18" charset="0"/>
              <a:ea typeface="Cambria" panose="02040503050406030204" pitchFamily="18" charset="0"/>
            </a:endParaRPr>
          </a:p>
        </p:txBody>
      </p:sp>
      <p:sp>
        <p:nvSpPr>
          <p:cNvPr id="26" name="Shape 24"/>
          <p:cNvSpPr/>
          <p:nvPr/>
        </p:nvSpPr>
        <p:spPr>
          <a:xfrm>
            <a:off x="4754880" y="1143000"/>
            <a:ext cx="4023360" cy="749808"/>
          </a:xfrm>
          <a:prstGeom prst="rect">
            <a:avLst/>
          </a:prstGeom>
          <a:solidFill>
            <a:srgbClr val="0D1E3A"/>
          </a:solidFill>
          <a:ln w="12700">
            <a:solidFill>
              <a:srgbClr val="1A6FD4"/>
            </a:solidFill>
            <a:prstDash val="solid"/>
          </a:ln>
          <a:effectLst>
            <a:outerShdw blurRad="38100" dist="25400" dir="8100000" algn="bl" rotWithShape="0">
              <a:srgbClr val="000000">
                <a:alpha val="12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27" name="Shape 25"/>
          <p:cNvSpPr/>
          <p:nvPr/>
        </p:nvSpPr>
        <p:spPr>
          <a:xfrm>
            <a:off x="4754880" y="1143000"/>
            <a:ext cx="457200" cy="749808"/>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28" name="Text 26"/>
          <p:cNvSpPr/>
          <p:nvPr/>
        </p:nvSpPr>
        <p:spPr>
          <a:xfrm>
            <a:off x="4754880" y="1143000"/>
            <a:ext cx="457200" cy="74980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05</a:t>
            </a:r>
            <a:endParaRPr lang="en-US" sz="2000" dirty="0">
              <a:latin typeface="Cambria" panose="02040503050406030204" pitchFamily="18" charset="0"/>
              <a:ea typeface="Cambria" panose="02040503050406030204" pitchFamily="18" charset="0"/>
            </a:endParaRPr>
          </a:p>
        </p:txBody>
      </p:sp>
      <p:sp>
        <p:nvSpPr>
          <p:cNvPr id="29" name="Text 27"/>
          <p:cNvSpPr/>
          <p:nvPr/>
        </p:nvSpPr>
        <p:spPr>
          <a:xfrm>
            <a:off x="5257800" y="1188720"/>
            <a:ext cx="3474720" cy="347472"/>
          </a:xfrm>
          <a:prstGeom prst="rect">
            <a:avLst/>
          </a:prstGeom>
          <a:noFill/>
          <a:ln/>
        </p:spPr>
        <p:txBody>
          <a:bodyPr wrap="square" lIns="0" tIns="0" rIns="0" bIns="0" rtlCol="0" anchor="b"/>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Implementation</a:t>
            </a:r>
            <a:endParaRPr lang="en-US" sz="1600" dirty="0">
              <a:latin typeface="Cambria" panose="02040503050406030204" pitchFamily="18" charset="0"/>
              <a:ea typeface="Cambria" panose="02040503050406030204" pitchFamily="18" charset="0"/>
            </a:endParaRPr>
          </a:p>
        </p:txBody>
      </p:sp>
      <p:sp>
        <p:nvSpPr>
          <p:cNvPr id="30" name="Text 28"/>
          <p:cNvSpPr/>
          <p:nvPr/>
        </p:nvSpPr>
        <p:spPr>
          <a:xfrm>
            <a:off x="5257800" y="1527048"/>
            <a:ext cx="3474720" cy="29260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Tech stack, pipeline &amp; security</a:t>
            </a:r>
            <a:endParaRPr lang="en-US" sz="1200" dirty="0">
              <a:latin typeface="Cambria" panose="02040503050406030204" pitchFamily="18" charset="0"/>
              <a:ea typeface="Cambria" panose="02040503050406030204" pitchFamily="18" charset="0"/>
            </a:endParaRPr>
          </a:p>
        </p:txBody>
      </p:sp>
      <p:sp>
        <p:nvSpPr>
          <p:cNvPr id="31" name="Shape 29"/>
          <p:cNvSpPr/>
          <p:nvPr/>
        </p:nvSpPr>
        <p:spPr>
          <a:xfrm>
            <a:off x="4754880" y="2057400"/>
            <a:ext cx="4023360" cy="749808"/>
          </a:xfrm>
          <a:prstGeom prst="rect">
            <a:avLst/>
          </a:prstGeom>
          <a:solidFill>
            <a:srgbClr val="0D1E3A"/>
          </a:solidFill>
          <a:ln w="12700">
            <a:solidFill>
              <a:srgbClr val="1A6FD4"/>
            </a:solidFill>
            <a:prstDash val="solid"/>
          </a:ln>
          <a:effectLst>
            <a:outerShdw blurRad="38100" dist="25400" dir="8100000" algn="bl" rotWithShape="0">
              <a:srgbClr val="000000">
                <a:alpha val="12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32" name="Shape 30"/>
          <p:cNvSpPr/>
          <p:nvPr/>
        </p:nvSpPr>
        <p:spPr>
          <a:xfrm>
            <a:off x="4754880" y="2057400"/>
            <a:ext cx="457200" cy="749808"/>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33" name="Text 31"/>
          <p:cNvSpPr/>
          <p:nvPr/>
        </p:nvSpPr>
        <p:spPr>
          <a:xfrm>
            <a:off x="4754880" y="2057400"/>
            <a:ext cx="457200" cy="74980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06</a:t>
            </a:r>
            <a:endParaRPr lang="en-US" sz="2000" dirty="0">
              <a:latin typeface="Cambria" panose="02040503050406030204" pitchFamily="18" charset="0"/>
              <a:ea typeface="Cambria" panose="02040503050406030204" pitchFamily="18" charset="0"/>
            </a:endParaRPr>
          </a:p>
        </p:txBody>
      </p:sp>
      <p:sp>
        <p:nvSpPr>
          <p:cNvPr id="34" name="Text 32"/>
          <p:cNvSpPr/>
          <p:nvPr/>
        </p:nvSpPr>
        <p:spPr>
          <a:xfrm>
            <a:off x="5257800" y="2103120"/>
            <a:ext cx="3474720" cy="347472"/>
          </a:xfrm>
          <a:prstGeom prst="rect">
            <a:avLst/>
          </a:prstGeom>
          <a:noFill/>
          <a:ln/>
        </p:spPr>
        <p:txBody>
          <a:bodyPr wrap="square" lIns="0" tIns="0" rIns="0" bIns="0" rtlCol="0" anchor="b"/>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Results</a:t>
            </a:r>
            <a:endParaRPr lang="en-US" sz="1600" dirty="0">
              <a:latin typeface="Cambria" panose="02040503050406030204" pitchFamily="18" charset="0"/>
              <a:ea typeface="Cambria" panose="02040503050406030204" pitchFamily="18" charset="0"/>
            </a:endParaRPr>
          </a:p>
        </p:txBody>
      </p:sp>
      <p:sp>
        <p:nvSpPr>
          <p:cNvPr id="35" name="Text 33"/>
          <p:cNvSpPr/>
          <p:nvPr/>
        </p:nvSpPr>
        <p:spPr>
          <a:xfrm>
            <a:off x="5257800" y="2441448"/>
            <a:ext cx="3474720" cy="29260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Performance metrics &amp; analysis</a:t>
            </a:r>
            <a:endParaRPr lang="en-US" sz="1200" dirty="0">
              <a:latin typeface="Cambria" panose="02040503050406030204" pitchFamily="18" charset="0"/>
              <a:ea typeface="Cambria" panose="02040503050406030204" pitchFamily="18" charset="0"/>
            </a:endParaRPr>
          </a:p>
        </p:txBody>
      </p:sp>
      <p:sp>
        <p:nvSpPr>
          <p:cNvPr id="36" name="Shape 34"/>
          <p:cNvSpPr/>
          <p:nvPr/>
        </p:nvSpPr>
        <p:spPr>
          <a:xfrm>
            <a:off x="4754880" y="2971800"/>
            <a:ext cx="4023360" cy="749808"/>
          </a:xfrm>
          <a:prstGeom prst="rect">
            <a:avLst/>
          </a:prstGeom>
          <a:solidFill>
            <a:srgbClr val="0D1E3A"/>
          </a:solidFill>
          <a:ln w="12700">
            <a:solidFill>
              <a:srgbClr val="1A6FD4"/>
            </a:solidFill>
            <a:prstDash val="solid"/>
          </a:ln>
          <a:effectLst>
            <a:outerShdw blurRad="38100" dist="25400" dir="8100000" algn="bl" rotWithShape="0">
              <a:srgbClr val="000000">
                <a:alpha val="12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37" name="Shape 35"/>
          <p:cNvSpPr/>
          <p:nvPr/>
        </p:nvSpPr>
        <p:spPr>
          <a:xfrm>
            <a:off x="4754880" y="2971800"/>
            <a:ext cx="457200" cy="749808"/>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38" name="Text 36"/>
          <p:cNvSpPr/>
          <p:nvPr/>
        </p:nvSpPr>
        <p:spPr>
          <a:xfrm>
            <a:off x="4754880" y="2971800"/>
            <a:ext cx="457200" cy="74980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07</a:t>
            </a:r>
            <a:endParaRPr lang="en-US" sz="2000" dirty="0">
              <a:latin typeface="Cambria" panose="02040503050406030204" pitchFamily="18" charset="0"/>
              <a:ea typeface="Cambria" panose="02040503050406030204" pitchFamily="18" charset="0"/>
            </a:endParaRPr>
          </a:p>
        </p:txBody>
      </p:sp>
      <p:sp>
        <p:nvSpPr>
          <p:cNvPr id="39" name="Text 37"/>
          <p:cNvSpPr/>
          <p:nvPr/>
        </p:nvSpPr>
        <p:spPr>
          <a:xfrm>
            <a:off x="5257800" y="3017520"/>
            <a:ext cx="3474720" cy="347472"/>
          </a:xfrm>
          <a:prstGeom prst="rect">
            <a:avLst/>
          </a:prstGeom>
          <a:noFill/>
          <a:ln/>
        </p:spPr>
        <p:txBody>
          <a:bodyPr wrap="square" lIns="0" tIns="0" rIns="0" bIns="0" rtlCol="0" anchor="b"/>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Conclusion</a:t>
            </a:r>
            <a:endParaRPr lang="en-US" sz="1600" dirty="0">
              <a:latin typeface="Cambria" panose="02040503050406030204" pitchFamily="18" charset="0"/>
              <a:ea typeface="Cambria" panose="02040503050406030204" pitchFamily="18" charset="0"/>
            </a:endParaRPr>
          </a:p>
        </p:txBody>
      </p:sp>
      <p:sp>
        <p:nvSpPr>
          <p:cNvPr id="40" name="Text 38"/>
          <p:cNvSpPr/>
          <p:nvPr/>
        </p:nvSpPr>
        <p:spPr>
          <a:xfrm>
            <a:off x="5257800" y="3355848"/>
            <a:ext cx="3474720" cy="29260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Summary &amp; future scope</a:t>
            </a:r>
            <a:endParaRPr lang="en-US" sz="1200" dirty="0">
              <a:latin typeface="Cambria" panose="02040503050406030204" pitchFamily="18" charset="0"/>
              <a:ea typeface="Cambria" panose="02040503050406030204" pitchFamily="18" charset="0"/>
            </a:endParaRPr>
          </a:p>
        </p:txBody>
      </p:sp>
      <p:sp>
        <p:nvSpPr>
          <p:cNvPr id="41" name="Shape 39"/>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42" name="Text 40"/>
          <p:cNvSpPr/>
          <p:nvPr/>
        </p:nvSpPr>
        <p:spPr>
          <a:xfrm>
            <a:off x="0" y="4864608"/>
            <a:ext cx="9144000" cy="278892"/>
          </a:xfrm>
          <a:prstGeom prst="rect">
            <a:avLst/>
          </a:prstGeom>
          <a:noFill/>
          <a:ln/>
        </p:spPr>
        <p:txBody>
          <a:bodyPr wrap="square" lIns="0" tIns="0" rIns="0" bIns="0" rtlCol="0" anchor="ctr"/>
          <a:lstStyle/>
          <a:p>
            <a:pPr marL="0" indent="0" algn="ctr">
              <a:buNone/>
            </a:pPr>
            <a:r>
              <a:rPr lang="en-US" sz="1050" dirty="0">
                <a:solidFill>
                  <a:srgbClr val="FFFFFF"/>
                </a:solidFill>
                <a:latin typeface="Cambria" panose="02040503050406030204" pitchFamily="18" charset="0"/>
                <a:ea typeface="Cambria" panose="02040503050406030204" pitchFamily="18" charset="0"/>
                <a:cs typeface="Calibri" pitchFamily="34" charset="-120"/>
              </a:rPr>
              <a:t>HealthAssist AI  |  Bapatla Engineering College  |  2025-26</a:t>
            </a:r>
            <a:endParaRPr lang="en-US" sz="105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1020"/>
          </a:solidFill>
          <a:ln w="12700">
            <a:solidFill>
              <a:srgbClr val="071020"/>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4" name="Text 2"/>
          <p:cNvSpPr/>
          <p:nvPr/>
        </p:nvSpPr>
        <p:spPr>
          <a:xfrm>
            <a:off x="320040" y="0"/>
            <a:ext cx="6858000" cy="960120"/>
          </a:xfrm>
          <a:prstGeom prst="rect">
            <a:avLst/>
          </a:prstGeom>
          <a:noFill/>
          <a:ln/>
        </p:spPr>
        <p:txBody>
          <a:bodyPr wrap="square" lIns="0" tIns="0" rIns="0" bIns="0" rtlCol="0" anchor="ctr"/>
          <a:lstStyle/>
          <a:p>
            <a:r>
              <a:rPr lang="en-US" sz="3600" b="1" dirty="0">
                <a:solidFill>
                  <a:srgbClr val="FFFFFF"/>
                </a:solidFill>
                <a:latin typeface="Cambria" panose="02040503050406030204" pitchFamily="18" charset="0"/>
                <a:ea typeface="Cambria" panose="02040503050406030204" pitchFamily="18" charset="0"/>
                <a:cs typeface="Calibri" pitchFamily="34" charset="-120"/>
              </a:rPr>
              <a:t>ABSTRACT</a:t>
            </a:r>
            <a:endParaRPr lang="en-US" sz="3600" dirty="0">
              <a:latin typeface="Cambria" panose="02040503050406030204" pitchFamily="18" charset="0"/>
              <a:ea typeface="Cambria" panose="02040503050406030204" pitchFamily="18" charset="0"/>
            </a:endParaRPr>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endParaRPr lang="en-US" sz="1300" dirty="0">
              <a:latin typeface="Cambria" panose="02040503050406030204" pitchFamily="18" charset="0"/>
              <a:ea typeface="Cambria" panose="02040503050406030204" pitchFamily="18" charset="0"/>
            </a:endParaRPr>
          </a:p>
        </p:txBody>
      </p:sp>
      <p:sp>
        <p:nvSpPr>
          <p:cNvPr id="12" name="Shape 10"/>
          <p:cNvSpPr/>
          <p:nvPr/>
        </p:nvSpPr>
        <p:spPr>
          <a:xfrm>
            <a:off x="365760" y="1143000"/>
            <a:ext cx="8412480" cy="3072384"/>
          </a:xfrm>
          <a:prstGeom prst="rect">
            <a:avLst/>
          </a:prstGeom>
          <a:solidFill>
            <a:srgbClr val="0D1E3A"/>
          </a:solidFill>
          <a:ln w="12700">
            <a:solidFill>
              <a:srgbClr val="1A6FD4"/>
            </a:solidFill>
            <a:prstDash val="solid"/>
          </a:ln>
          <a:effectLst>
            <a:outerShdw blurRad="38100" dist="25400" dir="8100000" algn="bl" rotWithShape="0">
              <a:srgbClr val="000000">
                <a:alpha val="15000"/>
              </a:srgbClr>
            </a:outerShdw>
          </a:effectLst>
        </p:spPr>
        <p:txBody>
          <a:bodyPr/>
          <a:lstStyle/>
          <a:p>
            <a:endParaRPr lang="en-IN">
              <a:latin typeface="Cambria" panose="02040503050406030204" pitchFamily="18" charset="0"/>
              <a:ea typeface="Cambria" panose="02040503050406030204" pitchFamily="18" charset="0"/>
            </a:endParaRPr>
          </a:p>
        </p:txBody>
      </p:sp>
      <p:sp>
        <p:nvSpPr>
          <p:cNvPr id="13" name="Shape 11"/>
          <p:cNvSpPr/>
          <p:nvPr/>
        </p:nvSpPr>
        <p:spPr>
          <a:xfrm>
            <a:off x="365760" y="1179576"/>
            <a:ext cx="578377" cy="3003804"/>
          </a:xfrm>
          <a:prstGeom prst="rect">
            <a:avLst/>
          </a:prstGeom>
          <a:solidFill>
            <a:srgbClr val="0B3A7A"/>
          </a:solidFill>
          <a:ln w="12700">
            <a:solidFill>
              <a:srgbClr val="0B3A7A"/>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17" name="Shape 15"/>
          <p:cNvSpPr/>
          <p:nvPr/>
        </p:nvSpPr>
        <p:spPr>
          <a:xfrm>
            <a:off x="365760" y="4270248"/>
            <a:ext cx="8412480" cy="429768"/>
          </a:xfrm>
          <a:prstGeom prst="rect">
            <a:avLst/>
          </a:prstGeom>
          <a:solidFill>
            <a:srgbClr val="0D1E3A"/>
          </a:solidFill>
          <a:ln w="12700">
            <a:solidFill>
              <a:srgbClr val="1A6FD4"/>
            </a:solidFill>
            <a:prstDash val="solid"/>
          </a:ln>
          <a:effectLst>
            <a:outerShdw blurRad="38100" dist="25400" dir="8100000" algn="bl" rotWithShape="0">
              <a:srgbClr val="000000">
                <a:alpha val="15000"/>
              </a:srgbClr>
            </a:outerShdw>
          </a:effectLst>
        </p:spPr>
        <p:txBody>
          <a:bodyPr/>
          <a:lstStyle/>
          <a:p>
            <a:endParaRPr lang="en-IN">
              <a:latin typeface="Cambria" panose="02040503050406030204" pitchFamily="18" charset="0"/>
              <a:ea typeface="Cambria" panose="02040503050406030204" pitchFamily="18" charset="0"/>
            </a:endParaRPr>
          </a:p>
        </p:txBody>
      </p:sp>
      <p:sp>
        <p:nvSpPr>
          <p:cNvPr id="18" name="Shape 16"/>
          <p:cNvSpPr/>
          <p:nvPr/>
        </p:nvSpPr>
        <p:spPr>
          <a:xfrm>
            <a:off x="365759" y="4270248"/>
            <a:ext cx="1202845" cy="429768"/>
          </a:xfrm>
          <a:prstGeom prst="rect">
            <a:avLst/>
          </a:prstGeom>
          <a:solidFill>
            <a:srgbClr val="0B3A7A"/>
          </a:solidFill>
          <a:ln w="12700">
            <a:solidFill>
              <a:srgbClr val="0B3A7A"/>
            </a:solidFill>
            <a:prstDash val="solid"/>
          </a:ln>
        </p:spPr>
        <p:txBody>
          <a:bodyPr/>
          <a:lstStyle/>
          <a:p>
            <a:r>
              <a:rPr lang="en-IN" dirty="0">
                <a:solidFill>
                  <a:schemeClr val="bg1"/>
                </a:solidFill>
                <a:latin typeface="Cambria" panose="02040503050406030204" pitchFamily="18" charset="0"/>
                <a:ea typeface="Cambria" panose="02040503050406030204" pitchFamily="18" charset="0"/>
              </a:rPr>
              <a:t>Keywords</a:t>
            </a:r>
          </a:p>
        </p:txBody>
      </p:sp>
      <p:sp>
        <p:nvSpPr>
          <p:cNvPr id="19" name="Text 17"/>
          <p:cNvSpPr/>
          <p:nvPr/>
        </p:nvSpPr>
        <p:spPr>
          <a:xfrm>
            <a:off x="365760" y="3712464"/>
            <a:ext cx="1371600" cy="987552"/>
          </a:xfrm>
          <a:prstGeom prst="rect">
            <a:avLst/>
          </a:prstGeom>
          <a:noFill/>
          <a:ln/>
        </p:spPr>
        <p:txBody>
          <a:bodyPr wrap="square" lIns="0" tIns="0" rIns="0" bIns="0" rtlCol="0" anchor="ctr"/>
          <a:lstStyle/>
          <a:p>
            <a:pPr marL="0" indent="0" algn="ctr">
              <a:buNone/>
            </a:pPr>
            <a:endParaRPr lang="en-US" sz="2000" dirty="0">
              <a:latin typeface="Cambria" panose="02040503050406030204" pitchFamily="18" charset="0"/>
              <a:ea typeface="Cambria" panose="02040503050406030204" pitchFamily="18" charset="0"/>
            </a:endParaRPr>
          </a:p>
        </p:txBody>
      </p:sp>
      <p:sp>
        <p:nvSpPr>
          <p:cNvPr id="22" name="Shape 20"/>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23" name="Text 21"/>
          <p:cNvSpPr/>
          <p:nvPr/>
        </p:nvSpPr>
        <p:spPr>
          <a:xfrm>
            <a:off x="0" y="4864608"/>
            <a:ext cx="9144000" cy="278892"/>
          </a:xfrm>
          <a:prstGeom prst="rect">
            <a:avLst/>
          </a:prstGeom>
          <a:noFill/>
          <a:ln/>
        </p:spPr>
        <p:txBody>
          <a:bodyPr wrap="square" lIns="0" tIns="0" rIns="0" bIns="0" rtlCol="0" anchor="ctr"/>
          <a:lstStyle/>
          <a:p>
            <a:pPr marL="0" indent="0" algn="ctr">
              <a:buNone/>
            </a:pPr>
            <a:r>
              <a:rPr lang="en-US" sz="1000" dirty="0">
                <a:solidFill>
                  <a:srgbClr val="FFFFFF"/>
                </a:solidFill>
                <a:latin typeface="Cambria" panose="02040503050406030204" pitchFamily="18" charset="0"/>
                <a:ea typeface="Cambria" panose="02040503050406030204" pitchFamily="18" charset="0"/>
                <a:cs typeface="Calibri" pitchFamily="34" charset="-120"/>
              </a:rPr>
              <a:t>HealthAssist AI  |  Bapatla Engineering College  |  2025-26</a:t>
            </a:r>
            <a:endParaRPr lang="en-US" sz="1000" dirty="0">
              <a:latin typeface="Cambria" panose="02040503050406030204" pitchFamily="18" charset="0"/>
              <a:ea typeface="Cambria" panose="02040503050406030204" pitchFamily="18" charset="0"/>
            </a:endParaRPr>
          </a:p>
        </p:txBody>
      </p:sp>
      <p:sp>
        <p:nvSpPr>
          <p:cNvPr id="25" name="TextBox 24">
            <a:extLst>
              <a:ext uri="{FF2B5EF4-FFF2-40B4-BE49-F238E27FC236}">
                <a16:creationId xmlns:a16="http://schemas.microsoft.com/office/drawing/2014/main" id="{0B427926-2BB4-F37B-07C3-3FFCF63E3C42}"/>
              </a:ext>
            </a:extLst>
          </p:cNvPr>
          <p:cNvSpPr txBox="1"/>
          <p:nvPr/>
        </p:nvSpPr>
        <p:spPr>
          <a:xfrm>
            <a:off x="944136" y="1267633"/>
            <a:ext cx="7834103" cy="2893100"/>
          </a:xfrm>
          <a:prstGeom prst="rect">
            <a:avLst/>
          </a:prstGeom>
          <a:noFill/>
        </p:spPr>
        <p:txBody>
          <a:bodyPr wrap="square">
            <a:spAutoFit/>
          </a:bodyPr>
          <a:lstStyle/>
          <a:p>
            <a:r>
              <a:rPr lang="en-US" sz="1400" i="1" dirty="0">
                <a:solidFill>
                  <a:schemeClr val="bg1"/>
                </a:solidFill>
                <a:latin typeface="Cambria" panose="02040503050406030204" pitchFamily="18" charset="0"/>
                <a:ea typeface="Cambria" panose="02040503050406030204" pitchFamily="18" charset="0"/>
              </a:rPr>
              <a:t> HealthAssist AI bridges healthcare access gap with AI powered medical assistance. The system has seven clinical modules that would help in delivering comprehensive care. Medicine Based Guidance provides drug information, Disease based Guidance informs on the treatment protocols of various diseases. Medical Report Analysis would interpret various lab tests and would point out the abnormal lab values that are clinically significant. Image Based Medical Data Analysis would extract prescription details, dose instructions and medical information. Systems Based Analysis intends to perform the differential diagnosis with combinations of presenting compliments along with the assessment of severity. The Emergency Triage will particularly apply the red, orange, yellow and green protocols to the critically ill patient. Hospital Details will locate the facility within a radius of 30 km with the help of </a:t>
            </a:r>
            <a:r>
              <a:rPr lang="en-US" sz="1400" i="1" dirty="0" err="1">
                <a:solidFill>
                  <a:schemeClr val="bg1"/>
                </a:solidFill>
                <a:latin typeface="Cambria" panose="02040503050406030204" pitchFamily="18" charset="0"/>
                <a:ea typeface="Cambria" panose="02040503050406030204" pitchFamily="18" charset="0"/>
              </a:rPr>
              <a:t>Geoapify</a:t>
            </a:r>
            <a:r>
              <a:rPr lang="en-US" sz="1400" i="1" dirty="0">
                <a:solidFill>
                  <a:schemeClr val="bg1"/>
                </a:solidFill>
                <a:latin typeface="Cambria" panose="02040503050406030204" pitchFamily="18" charset="0"/>
                <a:ea typeface="Cambria" panose="02040503050406030204" pitchFamily="18" charset="0"/>
              </a:rPr>
              <a:t> API. Combining Hybrid Mistral Large AI which supports all languages and </a:t>
            </a:r>
            <a:r>
              <a:rPr lang="en-US" sz="1400" i="1" dirty="0" err="1">
                <a:solidFill>
                  <a:schemeClr val="bg1"/>
                </a:solidFill>
                <a:latin typeface="Cambria" panose="02040503050406030204" pitchFamily="18" charset="0"/>
                <a:ea typeface="Cambria" panose="02040503050406030204" pitchFamily="18" charset="0"/>
              </a:rPr>
              <a:t>Supabase</a:t>
            </a:r>
            <a:r>
              <a:rPr lang="en-US" sz="1400" i="1" dirty="0">
                <a:solidFill>
                  <a:schemeClr val="bg1"/>
                </a:solidFill>
                <a:latin typeface="Cambria" panose="02040503050406030204" pitchFamily="18" charset="0"/>
                <a:ea typeface="Cambria" panose="02040503050406030204" pitchFamily="18" charset="0"/>
              </a:rPr>
              <a:t> Database that can SHA-256 authenticate secure health record, it has compressive accuracy of 89.55%, Semantic similarity is 93.64%, METEOR score is 81.54%, Rouge L score is 86.12% while hallucination rate is 7.11%, it is clinically reliable for the underprivileged.</a:t>
            </a:r>
            <a:endParaRPr lang="en-IN" sz="1400" i="1" dirty="0">
              <a:solidFill>
                <a:schemeClr val="bg1"/>
              </a:solidFill>
              <a:latin typeface="Cambria" panose="02040503050406030204" pitchFamily="18" charset="0"/>
              <a:ea typeface="Cambria" panose="02040503050406030204" pitchFamily="18" charset="0"/>
            </a:endParaRPr>
          </a:p>
        </p:txBody>
      </p:sp>
      <p:sp>
        <p:nvSpPr>
          <p:cNvPr id="27" name="TextBox 26">
            <a:extLst>
              <a:ext uri="{FF2B5EF4-FFF2-40B4-BE49-F238E27FC236}">
                <a16:creationId xmlns:a16="http://schemas.microsoft.com/office/drawing/2014/main" id="{29905B0A-D1BC-7DAB-19D0-6A62CED971BE}"/>
              </a:ext>
            </a:extLst>
          </p:cNvPr>
          <p:cNvSpPr txBox="1"/>
          <p:nvPr/>
        </p:nvSpPr>
        <p:spPr>
          <a:xfrm>
            <a:off x="1521398" y="4320647"/>
            <a:ext cx="7302562" cy="307777"/>
          </a:xfrm>
          <a:prstGeom prst="rect">
            <a:avLst/>
          </a:prstGeom>
          <a:noFill/>
        </p:spPr>
        <p:txBody>
          <a:bodyPr wrap="square">
            <a:spAutoFit/>
          </a:bodyPr>
          <a:lstStyle/>
          <a:p>
            <a:r>
              <a:rPr lang="en-IN" sz="1400" dirty="0">
                <a:solidFill>
                  <a:schemeClr val="bg1"/>
                </a:solidFill>
                <a:latin typeface="Cambria" panose="02040503050406030204" pitchFamily="18" charset="0"/>
                <a:ea typeface="Cambria" panose="02040503050406030204" pitchFamily="18" charset="0"/>
              </a:rPr>
              <a:t>HealthAssist AI, </a:t>
            </a:r>
            <a:r>
              <a:rPr lang="en-IN" sz="1400" dirty="0" err="1">
                <a:solidFill>
                  <a:schemeClr val="bg1"/>
                </a:solidFill>
                <a:latin typeface="Cambria" panose="02040503050406030204" pitchFamily="18" charset="0"/>
                <a:ea typeface="Cambria" panose="02040503050406030204" pitchFamily="18" charset="0"/>
              </a:rPr>
              <a:t>Supabase</a:t>
            </a:r>
            <a:r>
              <a:rPr lang="en-IN" sz="1400" dirty="0">
                <a:solidFill>
                  <a:schemeClr val="bg1"/>
                </a:solidFill>
                <a:latin typeface="Cambria" panose="02040503050406030204" pitchFamily="18" charset="0"/>
                <a:ea typeface="Cambria" panose="02040503050406030204" pitchFamily="18" charset="0"/>
              </a:rPr>
              <a:t>, Hybrid Mistral AI, Emergency Triage, Semantic Similarity, </a:t>
            </a:r>
            <a:r>
              <a:rPr lang="en-IN" sz="1400" dirty="0" err="1">
                <a:solidFill>
                  <a:schemeClr val="bg1"/>
                </a:solidFill>
                <a:latin typeface="Cambria" panose="02040503050406030204" pitchFamily="18" charset="0"/>
                <a:ea typeface="Cambria" panose="02040503050406030204" pitchFamily="18" charset="0"/>
              </a:rPr>
              <a:t>Geoapify</a:t>
            </a:r>
            <a:endParaRPr lang="en-IN" sz="1400" dirty="0">
              <a:solidFill>
                <a:schemeClr val="bg1"/>
              </a:solidFill>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E5EF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E3A"/>
          </a:solidFill>
          <a:ln w="12700">
            <a:solidFill>
              <a:srgbClr val="0D1E3A"/>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4" name="Text 2"/>
          <p:cNvSpPr/>
          <p:nvPr/>
        </p:nvSpPr>
        <p:spPr>
          <a:xfrm>
            <a:off x="320040" y="0"/>
            <a:ext cx="6858000" cy="96012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anose="02040503050406030204" pitchFamily="18" charset="0"/>
                <a:ea typeface="Cambria" panose="02040503050406030204" pitchFamily="18" charset="0"/>
                <a:cs typeface="Calibri" pitchFamily="34" charset="-120"/>
              </a:rPr>
              <a:t>ABSTRACT</a:t>
            </a:r>
            <a:endParaRPr lang="en-US" sz="3600" dirty="0">
              <a:latin typeface="Cambria" panose="02040503050406030204" pitchFamily="18" charset="0"/>
              <a:ea typeface="Cambria" panose="02040503050406030204" pitchFamily="18" charset="0"/>
            </a:endParaRPr>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r>
              <a:rPr lang="en-US" sz="1400" i="1" dirty="0">
                <a:solidFill>
                  <a:srgbClr val="CADCFC"/>
                </a:solidFill>
                <a:latin typeface="Cambria" panose="02040503050406030204" pitchFamily="18" charset="0"/>
                <a:ea typeface="Cambria" panose="02040503050406030204" pitchFamily="18" charset="0"/>
                <a:cs typeface="Calibri" pitchFamily="34" charset="-120"/>
              </a:rPr>
              <a:t>Overview of HealthAssist AI</a:t>
            </a:r>
            <a:endParaRPr lang="en-US" sz="1400" dirty="0">
              <a:latin typeface="Cambria" panose="02040503050406030204" pitchFamily="18" charset="0"/>
              <a:ea typeface="Cambria" panose="02040503050406030204" pitchFamily="18" charset="0"/>
            </a:endParaRPr>
          </a:p>
        </p:txBody>
      </p:sp>
      <p:sp>
        <p:nvSpPr>
          <p:cNvPr id="6" name="Text 4"/>
          <p:cNvSpPr/>
          <p:nvPr/>
        </p:nvSpPr>
        <p:spPr>
          <a:xfrm>
            <a:off x="365760" y="1097280"/>
            <a:ext cx="8412480" cy="822960"/>
          </a:xfrm>
          <a:prstGeom prst="rect">
            <a:avLst/>
          </a:prstGeom>
          <a:noFill/>
          <a:ln/>
        </p:spPr>
        <p:txBody>
          <a:bodyPr wrap="square" rtlCol="0" anchor="ctr"/>
          <a:lstStyle/>
          <a:p>
            <a:pPr marL="0" indent="0" algn="just">
              <a:buNone/>
            </a:pPr>
            <a:r>
              <a:rPr lang="en-US" sz="1400" i="1" dirty="0">
                <a:solidFill>
                  <a:srgbClr val="0D1E3A"/>
                </a:solidFill>
                <a:latin typeface="Cambria" panose="02040503050406030204" pitchFamily="18" charset="0"/>
                <a:ea typeface="Cambria" panose="02040503050406030204" pitchFamily="18" charset="0"/>
                <a:cs typeface="Calibri" pitchFamily="34" charset="-120"/>
              </a:rPr>
              <a:t>"HealthAssist AI bridges the healthcare access gap with AI-powered medical assistance. The system features seven clinical modules delivering comprehensive care — from Medicine &amp; Disease Guidance to Emergency Triage and Hospital Location — targeting underserved populations with multilingual support."</a:t>
            </a:r>
            <a:endParaRPr lang="en-US" sz="1400" dirty="0">
              <a:latin typeface="Cambria" panose="02040503050406030204" pitchFamily="18" charset="0"/>
              <a:ea typeface="Cambria" panose="02040503050406030204" pitchFamily="18" charset="0"/>
            </a:endParaRPr>
          </a:p>
        </p:txBody>
      </p:sp>
      <p:sp>
        <p:nvSpPr>
          <p:cNvPr id="7" name="Shape 5"/>
          <p:cNvSpPr/>
          <p:nvPr/>
        </p:nvSpPr>
        <p:spPr>
          <a:xfrm>
            <a:off x="274320" y="2020824"/>
            <a:ext cx="1965960" cy="2505456"/>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8" name="Shape 6"/>
          <p:cNvSpPr/>
          <p:nvPr/>
        </p:nvSpPr>
        <p:spPr>
          <a:xfrm>
            <a:off x="274320" y="1965960"/>
            <a:ext cx="1965960" cy="54864"/>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9" name="Text 7"/>
          <p:cNvSpPr/>
          <p:nvPr/>
        </p:nvSpPr>
        <p:spPr>
          <a:xfrm>
            <a:off x="274320" y="2057400"/>
            <a:ext cx="1965960" cy="594360"/>
          </a:xfrm>
          <a:prstGeom prst="rect">
            <a:avLst/>
          </a:prstGeom>
          <a:noFill/>
          <a:ln/>
        </p:spPr>
        <p:txBody>
          <a:bodyPr wrap="square" rtlCol="0" anchor="ctr"/>
          <a:lstStyle/>
          <a:p>
            <a:pPr marL="0" indent="0" algn="ctr">
              <a:buNone/>
            </a:pPr>
            <a:r>
              <a:rPr lang="en-US" sz="3200" b="1" dirty="0">
                <a:solidFill>
                  <a:srgbClr val="1A6FD4"/>
                </a:solidFill>
                <a:latin typeface="Cambria" panose="02040503050406030204" pitchFamily="18" charset="0"/>
                <a:ea typeface="Cambria" panose="02040503050406030204" pitchFamily="18" charset="0"/>
                <a:cs typeface="Calibri" pitchFamily="34" charset="-120"/>
              </a:rPr>
              <a:t>89.55%</a:t>
            </a:r>
            <a:endParaRPr lang="en-US" sz="3200" dirty="0">
              <a:latin typeface="Cambria" panose="02040503050406030204" pitchFamily="18" charset="0"/>
              <a:ea typeface="Cambria" panose="02040503050406030204" pitchFamily="18" charset="0"/>
            </a:endParaRPr>
          </a:p>
        </p:txBody>
      </p:sp>
      <p:sp>
        <p:nvSpPr>
          <p:cNvPr id="10" name="Text 8"/>
          <p:cNvSpPr/>
          <p:nvPr/>
        </p:nvSpPr>
        <p:spPr>
          <a:xfrm>
            <a:off x="274320" y="2624328"/>
            <a:ext cx="1965960" cy="274320"/>
          </a:xfrm>
          <a:prstGeom prst="rect">
            <a:avLst/>
          </a:prstGeom>
          <a:noFill/>
          <a:ln/>
        </p:spPr>
        <p:txBody>
          <a:bodyPr wrap="square" rtlCol="0" anchor="ctr"/>
          <a:lstStyle/>
          <a:p>
            <a:pPr marL="0" indent="0" algn="ctr">
              <a:buNone/>
            </a:pPr>
            <a:r>
              <a:rPr lang="en-US" sz="1400" b="1" dirty="0">
                <a:solidFill>
                  <a:srgbClr val="0D1E3A"/>
                </a:solidFill>
                <a:latin typeface="Cambria" panose="02040503050406030204" pitchFamily="18" charset="0"/>
                <a:ea typeface="Cambria" panose="02040503050406030204" pitchFamily="18" charset="0"/>
                <a:cs typeface="Calibri" pitchFamily="34" charset="-120"/>
              </a:rPr>
              <a:t>Overall Accuracy</a:t>
            </a:r>
            <a:endParaRPr lang="en-US" sz="1400" dirty="0">
              <a:latin typeface="Cambria" panose="02040503050406030204" pitchFamily="18" charset="0"/>
              <a:ea typeface="Cambria" panose="02040503050406030204" pitchFamily="18" charset="0"/>
            </a:endParaRPr>
          </a:p>
        </p:txBody>
      </p:sp>
      <p:sp>
        <p:nvSpPr>
          <p:cNvPr id="11" name="Text 9"/>
          <p:cNvSpPr/>
          <p:nvPr/>
        </p:nvSpPr>
        <p:spPr>
          <a:xfrm>
            <a:off x="365760" y="2880360"/>
            <a:ext cx="1783080" cy="1554480"/>
          </a:xfrm>
          <a:prstGeom prst="rect">
            <a:avLst/>
          </a:prstGeom>
          <a:noFill/>
          <a:ln/>
        </p:spPr>
        <p:txBody>
          <a:bodyPr wrap="square" rtlCol="0" anchor="t"/>
          <a:lstStyle/>
          <a:p>
            <a:pPr marL="0" indent="0" algn="ctr">
              <a:buNone/>
            </a:pPr>
            <a:r>
              <a:rPr lang="en-US" sz="1100" dirty="0">
                <a:solidFill>
                  <a:srgbClr val="1A3A6A"/>
                </a:solidFill>
                <a:latin typeface="Cambria" panose="02040503050406030204" pitchFamily="18" charset="0"/>
                <a:ea typeface="Cambria" panose="02040503050406030204" pitchFamily="18" charset="0"/>
                <a:cs typeface="Calibri" pitchFamily="34" charset="-120"/>
              </a:rPr>
              <a:t>High-quality responses across all 7 clinical modules</a:t>
            </a:r>
            <a:endParaRPr lang="en-US" sz="1100" dirty="0">
              <a:latin typeface="Cambria" panose="02040503050406030204" pitchFamily="18" charset="0"/>
              <a:ea typeface="Cambria" panose="02040503050406030204" pitchFamily="18" charset="0"/>
            </a:endParaRPr>
          </a:p>
        </p:txBody>
      </p:sp>
      <p:sp>
        <p:nvSpPr>
          <p:cNvPr id="12" name="Shape 10"/>
          <p:cNvSpPr/>
          <p:nvPr/>
        </p:nvSpPr>
        <p:spPr>
          <a:xfrm>
            <a:off x="2450592" y="1965960"/>
            <a:ext cx="1965960" cy="2560320"/>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13" name="Shape 11"/>
          <p:cNvSpPr/>
          <p:nvPr/>
        </p:nvSpPr>
        <p:spPr>
          <a:xfrm>
            <a:off x="2450592" y="1965960"/>
            <a:ext cx="1965960" cy="54864"/>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4" name="Text 12"/>
          <p:cNvSpPr/>
          <p:nvPr/>
        </p:nvSpPr>
        <p:spPr>
          <a:xfrm>
            <a:off x="2450592" y="2057400"/>
            <a:ext cx="1965960" cy="594360"/>
          </a:xfrm>
          <a:prstGeom prst="rect">
            <a:avLst/>
          </a:prstGeom>
          <a:noFill/>
          <a:ln/>
        </p:spPr>
        <p:txBody>
          <a:bodyPr wrap="square" rtlCol="0" anchor="ctr"/>
          <a:lstStyle/>
          <a:p>
            <a:pPr marL="0" indent="0" algn="ctr">
              <a:buNone/>
            </a:pPr>
            <a:r>
              <a:rPr lang="en-US" sz="3200" b="1" dirty="0">
                <a:solidFill>
                  <a:srgbClr val="1A6FD4"/>
                </a:solidFill>
                <a:latin typeface="Cambria" panose="02040503050406030204" pitchFamily="18" charset="0"/>
                <a:ea typeface="Cambria" panose="02040503050406030204" pitchFamily="18" charset="0"/>
                <a:cs typeface="Calibri" pitchFamily="34" charset="-120"/>
              </a:rPr>
              <a:t>93.64%</a:t>
            </a:r>
            <a:endParaRPr lang="en-US" sz="3200" dirty="0">
              <a:latin typeface="Cambria" panose="02040503050406030204" pitchFamily="18" charset="0"/>
              <a:ea typeface="Cambria" panose="02040503050406030204" pitchFamily="18" charset="0"/>
            </a:endParaRPr>
          </a:p>
        </p:txBody>
      </p:sp>
      <p:sp>
        <p:nvSpPr>
          <p:cNvPr id="15" name="Text 13"/>
          <p:cNvSpPr/>
          <p:nvPr/>
        </p:nvSpPr>
        <p:spPr>
          <a:xfrm>
            <a:off x="2450592" y="2624328"/>
            <a:ext cx="1965960" cy="274320"/>
          </a:xfrm>
          <a:prstGeom prst="rect">
            <a:avLst/>
          </a:prstGeom>
          <a:noFill/>
          <a:ln/>
        </p:spPr>
        <p:txBody>
          <a:bodyPr wrap="square" rtlCol="0" anchor="ctr"/>
          <a:lstStyle/>
          <a:p>
            <a:pPr marL="0" indent="0" algn="ctr">
              <a:buNone/>
            </a:pPr>
            <a:r>
              <a:rPr lang="en-US" sz="1400" b="1" dirty="0">
                <a:solidFill>
                  <a:srgbClr val="0D1E3A"/>
                </a:solidFill>
                <a:latin typeface="Cambria" panose="02040503050406030204" pitchFamily="18" charset="0"/>
                <a:ea typeface="Cambria" panose="02040503050406030204" pitchFamily="18" charset="0"/>
                <a:cs typeface="Calibri" pitchFamily="34" charset="-120"/>
              </a:rPr>
              <a:t>Semantic Similarity</a:t>
            </a:r>
            <a:endParaRPr lang="en-US" sz="1400" dirty="0">
              <a:latin typeface="Cambria" panose="02040503050406030204" pitchFamily="18" charset="0"/>
              <a:ea typeface="Cambria" panose="02040503050406030204" pitchFamily="18" charset="0"/>
            </a:endParaRPr>
          </a:p>
        </p:txBody>
      </p:sp>
      <p:sp>
        <p:nvSpPr>
          <p:cNvPr id="16" name="Text 14"/>
          <p:cNvSpPr/>
          <p:nvPr/>
        </p:nvSpPr>
        <p:spPr>
          <a:xfrm>
            <a:off x="2542032" y="2880360"/>
            <a:ext cx="1783080" cy="1554480"/>
          </a:xfrm>
          <a:prstGeom prst="rect">
            <a:avLst/>
          </a:prstGeom>
          <a:noFill/>
          <a:ln/>
        </p:spPr>
        <p:txBody>
          <a:bodyPr wrap="square" rtlCol="0" anchor="t"/>
          <a:lstStyle/>
          <a:p>
            <a:pPr marL="0" indent="0" algn="ctr">
              <a:buNone/>
            </a:pPr>
            <a:r>
              <a:rPr lang="en-US" sz="1100" dirty="0">
                <a:solidFill>
                  <a:srgbClr val="1A3A6A"/>
                </a:solidFill>
                <a:latin typeface="Cambria" panose="02040503050406030204" pitchFamily="18" charset="0"/>
                <a:ea typeface="Cambria" panose="02040503050406030204" pitchFamily="18" charset="0"/>
                <a:cs typeface="Calibri" pitchFamily="34" charset="-120"/>
              </a:rPr>
              <a:t>Strong alignment with expert medical knowledge</a:t>
            </a:r>
            <a:endParaRPr lang="en-US" sz="1100" dirty="0">
              <a:latin typeface="Cambria" panose="02040503050406030204" pitchFamily="18" charset="0"/>
              <a:ea typeface="Cambria" panose="02040503050406030204" pitchFamily="18" charset="0"/>
            </a:endParaRPr>
          </a:p>
        </p:txBody>
      </p:sp>
      <p:sp>
        <p:nvSpPr>
          <p:cNvPr id="17" name="Shape 15"/>
          <p:cNvSpPr/>
          <p:nvPr/>
        </p:nvSpPr>
        <p:spPr>
          <a:xfrm>
            <a:off x="4626864" y="1965960"/>
            <a:ext cx="1965960" cy="2560320"/>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18" name="Shape 16"/>
          <p:cNvSpPr/>
          <p:nvPr/>
        </p:nvSpPr>
        <p:spPr>
          <a:xfrm>
            <a:off x="4626864" y="1965960"/>
            <a:ext cx="1965960" cy="54864"/>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9" name="Text 17"/>
          <p:cNvSpPr/>
          <p:nvPr/>
        </p:nvSpPr>
        <p:spPr>
          <a:xfrm>
            <a:off x="4626864" y="2057400"/>
            <a:ext cx="1965960" cy="594360"/>
          </a:xfrm>
          <a:prstGeom prst="rect">
            <a:avLst/>
          </a:prstGeom>
          <a:noFill/>
          <a:ln/>
        </p:spPr>
        <p:txBody>
          <a:bodyPr wrap="square" rtlCol="0" anchor="ctr"/>
          <a:lstStyle/>
          <a:p>
            <a:pPr marL="0" indent="0" algn="ctr">
              <a:buNone/>
            </a:pPr>
            <a:r>
              <a:rPr lang="en-US" sz="3200" b="1" dirty="0">
                <a:solidFill>
                  <a:srgbClr val="1A6FD4"/>
                </a:solidFill>
                <a:latin typeface="Cambria" panose="02040503050406030204" pitchFamily="18" charset="0"/>
                <a:ea typeface="Cambria" panose="02040503050406030204" pitchFamily="18" charset="0"/>
                <a:cs typeface="Calibri" pitchFamily="34" charset="-120"/>
              </a:rPr>
              <a:t>86.12%</a:t>
            </a:r>
            <a:endParaRPr lang="en-US" sz="3200" dirty="0">
              <a:latin typeface="Cambria" panose="02040503050406030204" pitchFamily="18" charset="0"/>
              <a:ea typeface="Cambria" panose="02040503050406030204" pitchFamily="18" charset="0"/>
            </a:endParaRPr>
          </a:p>
        </p:txBody>
      </p:sp>
      <p:sp>
        <p:nvSpPr>
          <p:cNvPr id="20" name="Text 18"/>
          <p:cNvSpPr/>
          <p:nvPr/>
        </p:nvSpPr>
        <p:spPr>
          <a:xfrm>
            <a:off x="4626864" y="2624328"/>
            <a:ext cx="1965960" cy="274320"/>
          </a:xfrm>
          <a:prstGeom prst="rect">
            <a:avLst/>
          </a:prstGeom>
          <a:noFill/>
          <a:ln/>
        </p:spPr>
        <p:txBody>
          <a:bodyPr wrap="square" rtlCol="0" anchor="ctr"/>
          <a:lstStyle/>
          <a:p>
            <a:pPr marL="0" indent="0" algn="ctr">
              <a:buNone/>
            </a:pPr>
            <a:r>
              <a:rPr lang="en-US" sz="1400" b="1" dirty="0">
                <a:solidFill>
                  <a:srgbClr val="0D1E3A"/>
                </a:solidFill>
                <a:latin typeface="Cambria" panose="02040503050406030204" pitchFamily="18" charset="0"/>
                <a:ea typeface="Cambria" panose="02040503050406030204" pitchFamily="18" charset="0"/>
                <a:cs typeface="Calibri" pitchFamily="34" charset="-120"/>
              </a:rPr>
              <a:t>ROUGE-L Score</a:t>
            </a:r>
            <a:endParaRPr lang="en-US" sz="1400" dirty="0">
              <a:latin typeface="Cambria" panose="02040503050406030204" pitchFamily="18" charset="0"/>
              <a:ea typeface="Cambria" panose="02040503050406030204" pitchFamily="18" charset="0"/>
            </a:endParaRPr>
          </a:p>
        </p:txBody>
      </p:sp>
      <p:sp>
        <p:nvSpPr>
          <p:cNvPr id="21" name="Text 19"/>
          <p:cNvSpPr/>
          <p:nvPr/>
        </p:nvSpPr>
        <p:spPr>
          <a:xfrm>
            <a:off x="4718304" y="2880360"/>
            <a:ext cx="1783080" cy="1554480"/>
          </a:xfrm>
          <a:prstGeom prst="rect">
            <a:avLst/>
          </a:prstGeom>
          <a:noFill/>
          <a:ln/>
        </p:spPr>
        <p:txBody>
          <a:bodyPr wrap="square" rtlCol="0" anchor="t"/>
          <a:lstStyle/>
          <a:p>
            <a:pPr marL="0" indent="0" algn="ctr">
              <a:buNone/>
            </a:pPr>
            <a:r>
              <a:rPr lang="en-US" sz="1100" dirty="0">
                <a:solidFill>
                  <a:srgbClr val="1A3A6A"/>
                </a:solidFill>
                <a:latin typeface="Cambria" panose="02040503050406030204" pitchFamily="18" charset="0"/>
                <a:ea typeface="Cambria" panose="02040503050406030204" pitchFamily="18" charset="0"/>
                <a:cs typeface="Calibri" pitchFamily="34" charset="-120"/>
              </a:rPr>
              <a:t>Structural coherence in all generated responses</a:t>
            </a:r>
            <a:endParaRPr lang="en-US" sz="1100" dirty="0">
              <a:latin typeface="Cambria" panose="02040503050406030204" pitchFamily="18" charset="0"/>
              <a:ea typeface="Cambria" panose="02040503050406030204" pitchFamily="18" charset="0"/>
            </a:endParaRPr>
          </a:p>
        </p:txBody>
      </p:sp>
      <p:sp>
        <p:nvSpPr>
          <p:cNvPr id="22" name="Shape 20"/>
          <p:cNvSpPr/>
          <p:nvPr/>
        </p:nvSpPr>
        <p:spPr>
          <a:xfrm>
            <a:off x="6803136" y="1965960"/>
            <a:ext cx="1965960" cy="2560320"/>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23" name="Shape 21"/>
          <p:cNvSpPr/>
          <p:nvPr/>
        </p:nvSpPr>
        <p:spPr>
          <a:xfrm>
            <a:off x="6803136" y="1965960"/>
            <a:ext cx="1965960" cy="54864"/>
          </a:xfrm>
          <a:prstGeom prst="rect">
            <a:avLst/>
          </a:prstGeom>
          <a:solidFill>
            <a:srgbClr val="1565C0"/>
          </a:solidFill>
          <a:ln w="12700">
            <a:solidFill>
              <a:srgbClr val="1565C0"/>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24" name="Text 22"/>
          <p:cNvSpPr/>
          <p:nvPr/>
        </p:nvSpPr>
        <p:spPr>
          <a:xfrm>
            <a:off x="6803136" y="2057400"/>
            <a:ext cx="1965960" cy="594360"/>
          </a:xfrm>
          <a:prstGeom prst="rect">
            <a:avLst/>
          </a:prstGeom>
          <a:noFill/>
          <a:ln/>
        </p:spPr>
        <p:txBody>
          <a:bodyPr wrap="square" rtlCol="0" anchor="ctr"/>
          <a:lstStyle/>
          <a:p>
            <a:pPr marL="0" indent="0" algn="ctr">
              <a:buNone/>
            </a:pPr>
            <a:r>
              <a:rPr lang="en-US" sz="3200" b="1" dirty="0">
                <a:solidFill>
                  <a:srgbClr val="1565C0"/>
                </a:solidFill>
                <a:latin typeface="Cambria" panose="02040503050406030204" pitchFamily="18" charset="0"/>
                <a:ea typeface="Cambria" panose="02040503050406030204" pitchFamily="18" charset="0"/>
                <a:cs typeface="Calibri" pitchFamily="34" charset="-120"/>
              </a:rPr>
              <a:t>0.08%</a:t>
            </a:r>
            <a:endParaRPr lang="en-US" sz="3200" dirty="0">
              <a:latin typeface="Cambria" panose="02040503050406030204" pitchFamily="18" charset="0"/>
              <a:ea typeface="Cambria" panose="02040503050406030204" pitchFamily="18" charset="0"/>
            </a:endParaRPr>
          </a:p>
        </p:txBody>
      </p:sp>
      <p:sp>
        <p:nvSpPr>
          <p:cNvPr id="25" name="Text 23"/>
          <p:cNvSpPr/>
          <p:nvPr/>
        </p:nvSpPr>
        <p:spPr>
          <a:xfrm>
            <a:off x="6803136" y="2624328"/>
            <a:ext cx="1965960" cy="274320"/>
          </a:xfrm>
          <a:prstGeom prst="rect">
            <a:avLst/>
          </a:prstGeom>
          <a:noFill/>
          <a:ln/>
        </p:spPr>
        <p:txBody>
          <a:bodyPr wrap="square" rtlCol="0" anchor="ctr"/>
          <a:lstStyle/>
          <a:p>
            <a:pPr marL="0" indent="0" algn="ctr">
              <a:buNone/>
            </a:pPr>
            <a:r>
              <a:rPr lang="en-US" sz="1400" b="1" dirty="0">
                <a:solidFill>
                  <a:srgbClr val="0D1E3A"/>
                </a:solidFill>
                <a:latin typeface="Cambria" panose="02040503050406030204" pitchFamily="18" charset="0"/>
                <a:ea typeface="Cambria" panose="02040503050406030204" pitchFamily="18" charset="0"/>
                <a:cs typeface="Calibri" pitchFamily="34" charset="-120"/>
              </a:rPr>
              <a:t>Hallucination Rate</a:t>
            </a:r>
            <a:endParaRPr lang="en-US" sz="1400" dirty="0">
              <a:latin typeface="Cambria" panose="02040503050406030204" pitchFamily="18" charset="0"/>
              <a:ea typeface="Cambria" panose="02040503050406030204" pitchFamily="18" charset="0"/>
            </a:endParaRPr>
          </a:p>
        </p:txBody>
      </p:sp>
      <p:sp>
        <p:nvSpPr>
          <p:cNvPr id="26" name="Text 24"/>
          <p:cNvSpPr/>
          <p:nvPr/>
        </p:nvSpPr>
        <p:spPr>
          <a:xfrm>
            <a:off x="6894576" y="2880360"/>
            <a:ext cx="1783080" cy="1554480"/>
          </a:xfrm>
          <a:prstGeom prst="rect">
            <a:avLst/>
          </a:prstGeom>
          <a:noFill/>
          <a:ln/>
        </p:spPr>
        <p:txBody>
          <a:bodyPr wrap="square" rtlCol="0" anchor="t"/>
          <a:lstStyle/>
          <a:p>
            <a:pPr marL="0" indent="0" algn="ctr">
              <a:buNone/>
            </a:pPr>
            <a:r>
              <a:rPr lang="en-US" sz="1100" dirty="0">
                <a:solidFill>
                  <a:srgbClr val="1A3A6A"/>
                </a:solidFill>
                <a:latin typeface="Cambria" panose="02040503050406030204" pitchFamily="18" charset="0"/>
                <a:ea typeface="Cambria" panose="02040503050406030204" pitchFamily="18" charset="0"/>
                <a:cs typeface="Calibri" pitchFamily="34" charset="-120"/>
              </a:rPr>
              <a:t>Exceptionally low — prioritizing patient safety</a:t>
            </a:r>
            <a:endParaRPr lang="en-US" sz="1100" dirty="0">
              <a:latin typeface="Cambria" panose="02040503050406030204" pitchFamily="18" charset="0"/>
              <a:ea typeface="Cambria" panose="02040503050406030204" pitchFamily="18" charset="0"/>
            </a:endParaRPr>
          </a:p>
        </p:txBody>
      </p:sp>
      <p:sp>
        <p:nvSpPr>
          <p:cNvPr id="27" name="Shape 25"/>
          <p:cNvSpPr/>
          <p:nvPr/>
        </p:nvSpPr>
        <p:spPr>
          <a:xfrm>
            <a:off x="274320" y="4617720"/>
            <a:ext cx="8595360" cy="201168"/>
          </a:xfrm>
          <a:prstGeom prst="rect">
            <a:avLst/>
          </a:prstGeom>
          <a:solidFill>
            <a:srgbClr val="BDD6F5"/>
          </a:solidFill>
          <a:ln w="12700">
            <a:solidFill>
              <a:srgbClr val="BDD6F5"/>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28" name="Text 26"/>
          <p:cNvSpPr/>
          <p:nvPr/>
        </p:nvSpPr>
        <p:spPr>
          <a:xfrm>
            <a:off x="274320" y="4617720"/>
            <a:ext cx="8595360" cy="201168"/>
          </a:xfrm>
          <a:prstGeom prst="rect">
            <a:avLst/>
          </a:prstGeom>
          <a:noFill/>
          <a:ln/>
        </p:spPr>
        <p:txBody>
          <a:bodyPr wrap="square" lIns="0" tIns="0" rIns="0" bIns="0" rtlCol="0" anchor="ctr"/>
          <a:lstStyle/>
          <a:p>
            <a:pPr marL="0" indent="0" algn="ctr">
              <a:buNone/>
            </a:pPr>
            <a:r>
              <a:rPr lang="en-US" sz="1000" dirty="0">
                <a:solidFill>
                  <a:srgbClr val="0B3A7A"/>
                </a:solidFill>
                <a:latin typeface="Cambria" panose="02040503050406030204" pitchFamily="18" charset="0"/>
                <a:ea typeface="Cambria" panose="02040503050406030204" pitchFamily="18" charset="0"/>
                <a:cs typeface="Calibri" pitchFamily="34" charset="-120"/>
              </a:rPr>
              <a:t>KEYWORDS: HealthAssist AI  •  Supabase  •  Hybrid Mistral AI  •  Emergency Triage  •  Semantic Similarity  •  Geoapify</a:t>
            </a:r>
            <a:endParaRPr lang="en-US" sz="1000" dirty="0">
              <a:latin typeface="Cambria" panose="02040503050406030204" pitchFamily="18" charset="0"/>
              <a:ea typeface="Cambria" panose="02040503050406030204" pitchFamily="18" charset="0"/>
            </a:endParaRPr>
          </a:p>
        </p:txBody>
      </p:sp>
      <p:sp>
        <p:nvSpPr>
          <p:cNvPr id="29" name="Shape 27"/>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30" name="Text 28"/>
          <p:cNvSpPr/>
          <p:nvPr/>
        </p:nvSpPr>
        <p:spPr>
          <a:xfrm>
            <a:off x="0" y="4864608"/>
            <a:ext cx="9144000" cy="278892"/>
          </a:xfrm>
          <a:prstGeom prst="rect">
            <a:avLst/>
          </a:prstGeom>
          <a:noFill/>
          <a:ln/>
        </p:spPr>
        <p:txBody>
          <a:bodyPr wrap="square" lIns="0" tIns="0" rIns="0" bIns="0" rtlCol="0" anchor="ctr"/>
          <a:lstStyle/>
          <a:p>
            <a:pPr marL="0" indent="0" algn="ctr">
              <a:buNone/>
            </a:pPr>
            <a:r>
              <a:rPr lang="en-US" sz="1050" dirty="0">
                <a:solidFill>
                  <a:srgbClr val="FFFFFF"/>
                </a:solidFill>
                <a:latin typeface="Cambria" panose="02040503050406030204" pitchFamily="18" charset="0"/>
                <a:ea typeface="Cambria" panose="02040503050406030204" pitchFamily="18" charset="0"/>
                <a:cs typeface="Calibri" pitchFamily="34" charset="-120"/>
              </a:rPr>
              <a:t>HealthAssist AI  |  Bapatla Engineering College  |  2025-26</a:t>
            </a:r>
            <a:endParaRPr lang="en-US" sz="1050"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EF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E3A"/>
          </a:solidFill>
          <a:ln w="12700">
            <a:solidFill>
              <a:srgbClr val="0D1E3A"/>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4" name="Text 2"/>
          <p:cNvSpPr/>
          <p:nvPr/>
        </p:nvSpPr>
        <p:spPr>
          <a:xfrm>
            <a:off x="320040" y="0"/>
            <a:ext cx="6858000" cy="96012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anose="02040503050406030204" pitchFamily="18" charset="0"/>
                <a:ea typeface="Cambria" panose="02040503050406030204" pitchFamily="18" charset="0"/>
                <a:cs typeface="Calibri" pitchFamily="34" charset="-120"/>
              </a:rPr>
              <a:t>EXISTING SYSTEM</a:t>
            </a:r>
            <a:endParaRPr lang="en-US" sz="3600" dirty="0">
              <a:latin typeface="Cambria" panose="02040503050406030204" pitchFamily="18" charset="0"/>
              <a:ea typeface="Cambria" panose="02040503050406030204" pitchFamily="18" charset="0"/>
            </a:endParaRPr>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r>
              <a:rPr lang="en-US" sz="1400" i="1" dirty="0">
                <a:solidFill>
                  <a:srgbClr val="CADCFC"/>
                </a:solidFill>
                <a:latin typeface="Cambria" panose="02040503050406030204" pitchFamily="18" charset="0"/>
                <a:ea typeface="Cambria" panose="02040503050406030204" pitchFamily="18" charset="0"/>
                <a:cs typeface="Calibri" pitchFamily="34" charset="-120"/>
              </a:rPr>
              <a:t>Limitations of Current Healthcare AI Solutions</a:t>
            </a:r>
            <a:endParaRPr lang="en-US" sz="1400" dirty="0">
              <a:latin typeface="Cambria" panose="02040503050406030204" pitchFamily="18" charset="0"/>
              <a:ea typeface="Cambria" panose="02040503050406030204" pitchFamily="18" charset="0"/>
            </a:endParaRPr>
          </a:p>
        </p:txBody>
      </p:sp>
      <p:sp>
        <p:nvSpPr>
          <p:cNvPr id="6" name="Text 4"/>
          <p:cNvSpPr/>
          <p:nvPr/>
        </p:nvSpPr>
        <p:spPr>
          <a:xfrm>
            <a:off x="365760" y="1078992"/>
            <a:ext cx="8412480" cy="310896"/>
          </a:xfrm>
          <a:prstGeom prst="rect">
            <a:avLst/>
          </a:prstGeom>
          <a:noFill/>
          <a:ln/>
        </p:spPr>
        <p:txBody>
          <a:bodyPr wrap="square" rtlCol="0" anchor="ctr"/>
          <a:lstStyle/>
          <a:p>
            <a:pPr marL="0" indent="0" algn="l">
              <a:buNone/>
            </a:pPr>
            <a:r>
              <a:rPr lang="en-US" sz="1400" b="1" dirty="0">
                <a:solidFill>
                  <a:srgbClr val="1A6FD4"/>
                </a:solidFill>
                <a:latin typeface="Cambria" panose="02040503050406030204" pitchFamily="18" charset="0"/>
                <a:ea typeface="Cambria" panose="02040503050406030204" pitchFamily="18" charset="0"/>
                <a:cs typeface="Calibri" pitchFamily="34" charset="-120"/>
              </a:rPr>
              <a:t>CURRENT SYSTEMS FALL SHORT</a:t>
            </a:r>
            <a:endParaRPr lang="en-US" sz="1400" dirty="0">
              <a:latin typeface="Cambria" panose="02040503050406030204" pitchFamily="18" charset="0"/>
              <a:ea typeface="Cambria" panose="02040503050406030204" pitchFamily="18" charset="0"/>
            </a:endParaRPr>
          </a:p>
        </p:txBody>
      </p:sp>
      <p:sp>
        <p:nvSpPr>
          <p:cNvPr id="7" name="Shape 5"/>
          <p:cNvSpPr/>
          <p:nvPr/>
        </p:nvSpPr>
        <p:spPr>
          <a:xfrm>
            <a:off x="365760" y="1481328"/>
            <a:ext cx="4114800" cy="1417320"/>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8" name="Shape 6"/>
          <p:cNvSpPr/>
          <p:nvPr/>
        </p:nvSpPr>
        <p:spPr>
          <a:xfrm>
            <a:off x="365760" y="1481328"/>
            <a:ext cx="4114800" cy="347472"/>
          </a:xfrm>
          <a:prstGeom prst="rect">
            <a:avLst/>
          </a:prstGeom>
          <a:solidFill>
            <a:srgbClr val="0B3A7A"/>
          </a:solidFill>
          <a:ln w="12700">
            <a:solidFill>
              <a:srgbClr val="0B3A7A"/>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9" name="Text 7"/>
          <p:cNvSpPr/>
          <p:nvPr/>
        </p:nvSpPr>
        <p:spPr>
          <a:xfrm>
            <a:off x="475488" y="1481328"/>
            <a:ext cx="4005072"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Calibri" pitchFamily="34" charset="-120"/>
              </a:rPr>
              <a:t>✗  No Emergency Prioritization</a:t>
            </a:r>
            <a:endParaRPr lang="en-US" sz="1400" dirty="0">
              <a:latin typeface="Cambria" panose="02040503050406030204" pitchFamily="18" charset="0"/>
              <a:ea typeface="Cambria" panose="02040503050406030204" pitchFamily="18" charset="0"/>
            </a:endParaRPr>
          </a:p>
        </p:txBody>
      </p:sp>
      <p:sp>
        <p:nvSpPr>
          <p:cNvPr id="10" name="Text 8"/>
          <p:cNvSpPr/>
          <p:nvPr/>
        </p:nvSpPr>
        <p:spPr>
          <a:xfrm>
            <a:off x="475488" y="1847088"/>
            <a:ext cx="3895344" cy="960120"/>
          </a:xfrm>
          <a:prstGeom prst="rect">
            <a:avLst/>
          </a:prstGeom>
          <a:noFill/>
          <a:ln/>
        </p:spPr>
        <p:txBody>
          <a:bodyPr wrap="square" rtlCol="0" anchor="t"/>
          <a:lstStyle/>
          <a:p>
            <a:pPr marL="0" indent="0" algn="l">
              <a:buNone/>
            </a:pPr>
            <a:r>
              <a:rPr lang="en-US" sz="1400" dirty="0">
                <a:solidFill>
                  <a:srgbClr val="0D1E3A"/>
                </a:solidFill>
                <a:latin typeface="Cambria" panose="02040503050406030204" pitchFamily="18" charset="0"/>
                <a:ea typeface="Cambria" panose="02040503050406030204" pitchFamily="18" charset="0"/>
                <a:cs typeface="Calibri" pitchFamily="34" charset="-120"/>
              </a:rPr>
              <a:t>Most systems treat all health queries equally — no red/yellow/green triage. Critical emergencies go unrecognized, delaying life-saving responses.</a:t>
            </a:r>
            <a:endParaRPr lang="en-US" sz="1400" dirty="0">
              <a:latin typeface="Cambria" panose="02040503050406030204" pitchFamily="18" charset="0"/>
              <a:ea typeface="Cambria" panose="02040503050406030204" pitchFamily="18" charset="0"/>
            </a:endParaRPr>
          </a:p>
        </p:txBody>
      </p:sp>
      <p:sp>
        <p:nvSpPr>
          <p:cNvPr id="11" name="Shape 9"/>
          <p:cNvSpPr/>
          <p:nvPr/>
        </p:nvSpPr>
        <p:spPr>
          <a:xfrm>
            <a:off x="4754880" y="1481328"/>
            <a:ext cx="4114800" cy="1417320"/>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12" name="Shape 10"/>
          <p:cNvSpPr/>
          <p:nvPr/>
        </p:nvSpPr>
        <p:spPr>
          <a:xfrm>
            <a:off x="4754880" y="1481328"/>
            <a:ext cx="4114800" cy="347472"/>
          </a:xfrm>
          <a:prstGeom prst="rect">
            <a:avLst/>
          </a:prstGeom>
          <a:solidFill>
            <a:srgbClr val="0B3A7A"/>
          </a:solidFill>
          <a:ln w="12700">
            <a:solidFill>
              <a:srgbClr val="0B3A7A"/>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3" name="Text 11"/>
          <p:cNvSpPr/>
          <p:nvPr/>
        </p:nvSpPr>
        <p:spPr>
          <a:xfrm>
            <a:off x="4864608" y="1481328"/>
            <a:ext cx="4005072"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Calibri" pitchFamily="34" charset="-120"/>
              </a:rPr>
              <a:t>✗  Text-Only, No Image Analysis</a:t>
            </a:r>
            <a:endParaRPr lang="en-US" sz="1400" dirty="0">
              <a:latin typeface="Cambria" panose="02040503050406030204" pitchFamily="18" charset="0"/>
              <a:ea typeface="Cambria" panose="02040503050406030204" pitchFamily="18" charset="0"/>
            </a:endParaRPr>
          </a:p>
        </p:txBody>
      </p:sp>
      <p:sp>
        <p:nvSpPr>
          <p:cNvPr id="14" name="Text 12"/>
          <p:cNvSpPr/>
          <p:nvPr/>
        </p:nvSpPr>
        <p:spPr>
          <a:xfrm>
            <a:off x="4864608" y="1847088"/>
            <a:ext cx="3895344" cy="960120"/>
          </a:xfrm>
          <a:prstGeom prst="rect">
            <a:avLst/>
          </a:prstGeom>
          <a:noFill/>
          <a:ln/>
        </p:spPr>
        <p:txBody>
          <a:bodyPr wrap="square" rtlCol="0" anchor="t"/>
          <a:lstStyle/>
          <a:p>
            <a:pPr marL="0" indent="0" algn="l">
              <a:buNone/>
            </a:pPr>
            <a:r>
              <a:rPr lang="en-US" sz="1400" dirty="0">
                <a:solidFill>
                  <a:srgbClr val="0D1E3A"/>
                </a:solidFill>
                <a:latin typeface="Cambria" panose="02040503050406030204" pitchFamily="18" charset="0"/>
                <a:ea typeface="Cambria" panose="02040503050406030204" pitchFamily="18" charset="0"/>
                <a:cs typeface="Calibri" pitchFamily="34" charset="-120"/>
              </a:rPr>
              <a:t>Current systems cannot interpret medical images, prescriptions, or scanned lab reports — users with physical documents are left without digital assistance.</a:t>
            </a:r>
            <a:endParaRPr lang="en-US" sz="1400" dirty="0">
              <a:latin typeface="Cambria" panose="02040503050406030204" pitchFamily="18" charset="0"/>
              <a:ea typeface="Cambria" panose="02040503050406030204" pitchFamily="18" charset="0"/>
            </a:endParaRPr>
          </a:p>
        </p:txBody>
      </p:sp>
      <p:sp>
        <p:nvSpPr>
          <p:cNvPr id="15" name="Shape 13"/>
          <p:cNvSpPr/>
          <p:nvPr/>
        </p:nvSpPr>
        <p:spPr>
          <a:xfrm>
            <a:off x="365760" y="3054096"/>
            <a:ext cx="4114800" cy="1417320"/>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16" name="Shape 14"/>
          <p:cNvSpPr/>
          <p:nvPr/>
        </p:nvSpPr>
        <p:spPr>
          <a:xfrm>
            <a:off x="365760" y="3054096"/>
            <a:ext cx="4114800" cy="347472"/>
          </a:xfrm>
          <a:prstGeom prst="rect">
            <a:avLst/>
          </a:prstGeom>
          <a:solidFill>
            <a:srgbClr val="0B3A7A"/>
          </a:solidFill>
          <a:ln w="12700">
            <a:solidFill>
              <a:srgbClr val="0B3A7A"/>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7" name="Text 15"/>
          <p:cNvSpPr/>
          <p:nvPr/>
        </p:nvSpPr>
        <p:spPr>
          <a:xfrm>
            <a:off x="475488" y="3054096"/>
            <a:ext cx="4005072"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Calibri" pitchFamily="34" charset="-120"/>
              </a:rPr>
              <a:t>✗  General AI, Not Medically Trained</a:t>
            </a:r>
            <a:endParaRPr lang="en-US" sz="1400" dirty="0">
              <a:latin typeface="Cambria" panose="02040503050406030204" pitchFamily="18" charset="0"/>
              <a:ea typeface="Cambria" panose="02040503050406030204" pitchFamily="18" charset="0"/>
            </a:endParaRPr>
          </a:p>
        </p:txBody>
      </p:sp>
      <p:sp>
        <p:nvSpPr>
          <p:cNvPr id="18" name="Text 16"/>
          <p:cNvSpPr/>
          <p:nvPr/>
        </p:nvSpPr>
        <p:spPr>
          <a:xfrm>
            <a:off x="475488" y="3419856"/>
            <a:ext cx="3895344" cy="960120"/>
          </a:xfrm>
          <a:prstGeom prst="rect">
            <a:avLst/>
          </a:prstGeom>
          <a:noFill/>
          <a:ln/>
        </p:spPr>
        <p:txBody>
          <a:bodyPr wrap="square" rtlCol="0" anchor="t"/>
          <a:lstStyle/>
          <a:p>
            <a:pPr marL="0" indent="0" algn="l">
              <a:buNone/>
            </a:pPr>
            <a:r>
              <a:rPr lang="en-US" sz="1400" dirty="0">
                <a:solidFill>
                  <a:srgbClr val="0D1E3A"/>
                </a:solidFill>
                <a:latin typeface="Cambria" panose="02040503050406030204" pitchFamily="18" charset="0"/>
                <a:ea typeface="Cambria" panose="02040503050406030204" pitchFamily="18" charset="0"/>
                <a:cs typeface="Calibri" pitchFamily="34" charset="-120"/>
              </a:rPr>
              <a:t>Generic LLMs provide vague or unreliable clinical advice. No domain-specific training leads to hallucinations and untrustworthy outputs.</a:t>
            </a:r>
            <a:endParaRPr lang="en-US" sz="1400" dirty="0">
              <a:latin typeface="Cambria" panose="02040503050406030204" pitchFamily="18" charset="0"/>
              <a:ea typeface="Cambria" panose="02040503050406030204" pitchFamily="18" charset="0"/>
            </a:endParaRPr>
          </a:p>
        </p:txBody>
      </p:sp>
      <p:sp>
        <p:nvSpPr>
          <p:cNvPr id="19" name="Shape 17"/>
          <p:cNvSpPr/>
          <p:nvPr/>
        </p:nvSpPr>
        <p:spPr>
          <a:xfrm>
            <a:off x="4754880" y="3054096"/>
            <a:ext cx="4114800" cy="1417320"/>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20" name="Shape 18"/>
          <p:cNvSpPr/>
          <p:nvPr/>
        </p:nvSpPr>
        <p:spPr>
          <a:xfrm>
            <a:off x="4754880" y="3054096"/>
            <a:ext cx="4114800" cy="347472"/>
          </a:xfrm>
          <a:prstGeom prst="rect">
            <a:avLst/>
          </a:prstGeom>
          <a:solidFill>
            <a:srgbClr val="0B3A7A"/>
          </a:solidFill>
          <a:ln w="12700">
            <a:solidFill>
              <a:srgbClr val="0B3A7A"/>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21" name="Text 19"/>
          <p:cNvSpPr/>
          <p:nvPr/>
        </p:nvSpPr>
        <p:spPr>
          <a:xfrm>
            <a:off x="4864608" y="3054096"/>
            <a:ext cx="4005072" cy="347472"/>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Calibri" pitchFamily="34" charset="-120"/>
              </a:rPr>
              <a:t>✗  No Multilingual Support</a:t>
            </a:r>
            <a:endParaRPr lang="en-US" sz="1400" dirty="0">
              <a:latin typeface="Cambria" panose="02040503050406030204" pitchFamily="18" charset="0"/>
              <a:ea typeface="Cambria" panose="02040503050406030204" pitchFamily="18" charset="0"/>
            </a:endParaRPr>
          </a:p>
        </p:txBody>
      </p:sp>
      <p:sp>
        <p:nvSpPr>
          <p:cNvPr id="22" name="Text 20"/>
          <p:cNvSpPr/>
          <p:nvPr/>
        </p:nvSpPr>
        <p:spPr>
          <a:xfrm>
            <a:off x="4864608" y="3419856"/>
            <a:ext cx="3895344" cy="960120"/>
          </a:xfrm>
          <a:prstGeom prst="rect">
            <a:avLst/>
          </a:prstGeom>
          <a:noFill/>
          <a:ln/>
        </p:spPr>
        <p:txBody>
          <a:bodyPr wrap="square" rtlCol="0" anchor="t"/>
          <a:lstStyle/>
          <a:p>
            <a:pPr marL="0" indent="0" algn="l">
              <a:buNone/>
            </a:pPr>
            <a:r>
              <a:rPr lang="en-US" sz="1400" dirty="0">
                <a:solidFill>
                  <a:srgbClr val="0D1E3A"/>
                </a:solidFill>
                <a:latin typeface="Cambria" panose="02040503050406030204" pitchFamily="18" charset="0"/>
                <a:ea typeface="Cambria" panose="02040503050406030204" pitchFamily="18" charset="0"/>
                <a:cs typeface="Calibri" pitchFamily="34" charset="-120"/>
              </a:rPr>
              <a:t>Most platforms operate only in English, excluding non-English speakers and rural populations who need healthcare most.</a:t>
            </a:r>
            <a:endParaRPr lang="en-US" sz="1400" dirty="0">
              <a:latin typeface="Cambria" panose="02040503050406030204" pitchFamily="18" charset="0"/>
              <a:ea typeface="Cambria" panose="02040503050406030204" pitchFamily="18" charset="0"/>
            </a:endParaRPr>
          </a:p>
        </p:txBody>
      </p:sp>
      <p:sp>
        <p:nvSpPr>
          <p:cNvPr id="23" name="Shape 21"/>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24" name="Text 22"/>
          <p:cNvSpPr/>
          <p:nvPr/>
        </p:nvSpPr>
        <p:spPr>
          <a:xfrm>
            <a:off x="0" y="4864608"/>
            <a:ext cx="9144000" cy="278892"/>
          </a:xfrm>
          <a:prstGeom prst="rect">
            <a:avLst/>
          </a:prstGeom>
          <a:noFill/>
          <a:ln/>
        </p:spPr>
        <p:txBody>
          <a:bodyPr wrap="square" lIns="0" tIns="0" rIns="0" bIns="0" rtlCol="0" anchor="ctr"/>
          <a:lstStyle/>
          <a:p>
            <a:pPr marL="0" indent="0" algn="ctr">
              <a:buNone/>
            </a:pPr>
            <a:r>
              <a:rPr lang="en-US" sz="1050" dirty="0">
                <a:solidFill>
                  <a:srgbClr val="FFFFFF"/>
                </a:solidFill>
                <a:latin typeface="Cambria" panose="02040503050406030204" pitchFamily="18" charset="0"/>
                <a:ea typeface="Cambria" panose="02040503050406030204" pitchFamily="18" charset="0"/>
                <a:cs typeface="Calibri" pitchFamily="34" charset="-120"/>
              </a:rPr>
              <a:t>HealthAssist AI  |  Bapatla Engineering College  |  2025-26</a:t>
            </a:r>
            <a:endParaRPr lang="en-US" sz="1050"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E5EF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E3A"/>
          </a:solidFill>
          <a:ln w="12700">
            <a:solidFill>
              <a:srgbClr val="0D1E3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4" name="Text 2"/>
          <p:cNvSpPr/>
          <p:nvPr/>
        </p:nvSpPr>
        <p:spPr>
          <a:xfrm>
            <a:off x="0" y="0"/>
            <a:ext cx="7178040" cy="96012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anose="02040503050406030204" pitchFamily="18" charset="0"/>
                <a:ea typeface="Cambria" panose="02040503050406030204" pitchFamily="18" charset="0"/>
                <a:cs typeface="Calibri" pitchFamily="34" charset="-120"/>
              </a:rPr>
              <a:t>PROPOSED SYSTEM</a:t>
            </a:r>
            <a:endParaRPr lang="en-US" sz="3600" dirty="0">
              <a:latin typeface="Cambria" panose="02040503050406030204" pitchFamily="18" charset="0"/>
              <a:ea typeface="Cambria" panose="02040503050406030204" pitchFamily="18" charset="0"/>
            </a:endParaRPr>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endParaRPr lang="en-US" sz="1600" dirty="0">
              <a:latin typeface="Cambria" panose="02040503050406030204" pitchFamily="18" charset="0"/>
              <a:ea typeface="Cambria" panose="02040503050406030204" pitchFamily="18" charset="0"/>
            </a:endParaRPr>
          </a:p>
        </p:txBody>
      </p:sp>
      <p:sp>
        <p:nvSpPr>
          <p:cNvPr id="6" name="Shape 4"/>
          <p:cNvSpPr/>
          <p:nvPr/>
        </p:nvSpPr>
        <p:spPr>
          <a:xfrm>
            <a:off x="2926080" y="1078992"/>
            <a:ext cx="3291840" cy="45720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7" name="Text 5"/>
          <p:cNvSpPr/>
          <p:nvPr/>
        </p:nvSpPr>
        <p:spPr>
          <a:xfrm>
            <a:off x="2926080" y="1078992"/>
            <a:ext cx="329184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HealthAssist AI</a:t>
            </a:r>
            <a:endParaRPr lang="en-US" sz="2000" dirty="0">
              <a:latin typeface="Cambria" panose="02040503050406030204" pitchFamily="18" charset="0"/>
              <a:ea typeface="Cambria" panose="02040503050406030204" pitchFamily="18" charset="0"/>
            </a:endParaRPr>
          </a:p>
        </p:txBody>
      </p:sp>
      <p:sp>
        <p:nvSpPr>
          <p:cNvPr id="8" name="Shape 6"/>
          <p:cNvSpPr/>
          <p:nvPr/>
        </p:nvSpPr>
        <p:spPr>
          <a:xfrm>
            <a:off x="274320" y="1664208"/>
            <a:ext cx="3977640" cy="713232"/>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9" name="Shape 7"/>
          <p:cNvSpPr/>
          <p:nvPr/>
        </p:nvSpPr>
        <p:spPr>
          <a:xfrm>
            <a:off x="274320" y="1664208"/>
            <a:ext cx="3977640" cy="347472"/>
          </a:xfrm>
          <a:prstGeom prst="rect">
            <a:avLst/>
          </a:prstGeom>
          <a:solidFill>
            <a:srgbClr val="0B3A7A"/>
          </a:solidFill>
          <a:ln w="12700">
            <a:solidFill>
              <a:srgbClr val="0B3A7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10" name="Text 8"/>
          <p:cNvSpPr/>
          <p:nvPr/>
        </p:nvSpPr>
        <p:spPr>
          <a:xfrm>
            <a:off x="384048" y="1664208"/>
            <a:ext cx="3867912"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Medicine Guidance</a:t>
            </a:r>
            <a:endParaRPr lang="en-US" sz="1600" dirty="0">
              <a:latin typeface="Cambria" panose="02040503050406030204" pitchFamily="18" charset="0"/>
              <a:ea typeface="Cambria" panose="02040503050406030204" pitchFamily="18" charset="0"/>
            </a:endParaRPr>
          </a:p>
        </p:txBody>
      </p:sp>
      <p:sp>
        <p:nvSpPr>
          <p:cNvPr id="11" name="Text 9"/>
          <p:cNvSpPr/>
          <p:nvPr/>
        </p:nvSpPr>
        <p:spPr>
          <a:xfrm>
            <a:off x="384048" y="2029968"/>
            <a:ext cx="3758184" cy="256032"/>
          </a:xfrm>
          <a:prstGeom prst="rect">
            <a:avLst/>
          </a:prstGeom>
          <a:noFill/>
          <a:ln/>
        </p:spPr>
        <p:txBody>
          <a:bodyPr wrap="square" rtlCol="0" anchor="t"/>
          <a:lstStyle/>
          <a:p>
            <a:pPr marL="0" indent="0" algn="l">
              <a:buNone/>
            </a:pPr>
            <a:r>
              <a:rPr lang="en-US" sz="1600" dirty="0">
                <a:solidFill>
                  <a:srgbClr val="0D1E3A"/>
                </a:solidFill>
                <a:latin typeface="Cambria" panose="02040503050406030204" pitchFamily="18" charset="0"/>
                <a:ea typeface="Cambria" panose="02040503050406030204" pitchFamily="18" charset="0"/>
                <a:cs typeface="Calibri" pitchFamily="34" charset="-120"/>
              </a:rPr>
              <a:t>Drug info, dosage, side effects</a:t>
            </a:r>
            <a:endParaRPr lang="en-US" sz="1600" dirty="0">
              <a:latin typeface="Cambria" panose="02040503050406030204" pitchFamily="18" charset="0"/>
              <a:ea typeface="Cambria" panose="02040503050406030204" pitchFamily="18" charset="0"/>
            </a:endParaRPr>
          </a:p>
        </p:txBody>
      </p:sp>
      <p:sp>
        <p:nvSpPr>
          <p:cNvPr id="12" name="Shape 10"/>
          <p:cNvSpPr/>
          <p:nvPr/>
        </p:nvSpPr>
        <p:spPr>
          <a:xfrm>
            <a:off x="274320" y="2468880"/>
            <a:ext cx="3977640" cy="713232"/>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13" name="Shape 11"/>
          <p:cNvSpPr/>
          <p:nvPr/>
        </p:nvSpPr>
        <p:spPr>
          <a:xfrm>
            <a:off x="274320" y="2468880"/>
            <a:ext cx="3977640" cy="347472"/>
          </a:xfrm>
          <a:prstGeom prst="rect">
            <a:avLst/>
          </a:prstGeom>
          <a:solidFill>
            <a:srgbClr val="0B3A7A"/>
          </a:solidFill>
          <a:ln w="12700">
            <a:solidFill>
              <a:srgbClr val="0B3A7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14" name="Text 12"/>
          <p:cNvSpPr/>
          <p:nvPr/>
        </p:nvSpPr>
        <p:spPr>
          <a:xfrm>
            <a:off x="384048" y="2468880"/>
            <a:ext cx="3867912"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Disease Guidance</a:t>
            </a:r>
            <a:endParaRPr lang="en-US" sz="1600" dirty="0">
              <a:latin typeface="Cambria" panose="02040503050406030204" pitchFamily="18" charset="0"/>
              <a:ea typeface="Cambria" panose="02040503050406030204" pitchFamily="18" charset="0"/>
            </a:endParaRPr>
          </a:p>
        </p:txBody>
      </p:sp>
      <p:sp>
        <p:nvSpPr>
          <p:cNvPr id="15" name="Text 13"/>
          <p:cNvSpPr/>
          <p:nvPr/>
        </p:nvSpPr>
        <p:spPr>
          <a:xfrm>
            <a:off x="384048" y="2834640"/>
            <a:ext cx="3758184" cy="256032"/>
          </a:xfrm>
          <a:prstGeom prst="rect">
            <a:avLst/>
          </a:prstGeom>
          <a:noFill/>
          <a:ln/>
        </p:spPr>
        <p:txBody>
          <a:bodyPr wrap="square" rtlCol="0" anchor="t"/>
          <a:lstStyle/>
          <a:p>
            <a:pPr marL="0" indent="0" algn="l">
              <a:buNone/>
            </a:pPr>
            <a:r>
              <a:rPr lang="en-US" sz="1600" dirty="0">
                <a:solidFill>
                  <a:srgbClr val="0D1E3A"/>
                </a:solidFill>
                <a:latin typeface="Cambria" panose="02040503050406030204" pitchFamily="18" charset="0"/>
                <a:ea typeface="Cambria" panose="02040503050406030204" pitchFamily="18" charset="0"/>
                <a:cs typeface="Calibri" pitchFamily="34" charset="-120"/>
              </a:rPr>
              <a:t>Treatment protocols &amp; prevention</a:t>
            </a:r>
            <a:endParaRPr lang="en-US" sz="1600" dirty="0">
              <a:latin typeface="Cambria" panose="02040503050406030204" pitchFamily="18" charset="0"/>
              <a:ea typeface="Cambria" panose="02040503050406030204" pitchFamily="18" charset="0"/>
            </a:endParaRPr>
          </a:p>
        </p:txBody>
      </p:sp>
      <p:sp>
        <p:nvSpPr>
          <p:cNvPr id="16" name="Shape 14"/>
          <p:cNvSpPr/>
          <p:nvPr/>
        </p:nvSpPr>
        <p:spPr>
          <a:xfrm>
            <a:off x="274320" y="3273552"/>
            <a:ext cx="3977640" cy="713232"/>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17" name="Shape 15"/>
          <p:cNvSpPr/>
          <p:nvPr/>
        </p:nvSpPr>
        <p:spPr>
          <a:xfrm>
            <a:off x="274320" y="3273552"/>
            <a:ext cx="3977640" cy="347472"/>
          </a:xfrm>
          <a:prstGeom prst="rect">
            <a:avLst/>
          </a:prstGeom>
          <a:solidFill>
            <a:srgbClr val="0B3A7A"/>
          </a:solidFill>
          <a:ln w="12700">
            <a:solidFill>
              <a:srgbClr val="0B3A7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18" name="Text 16"/>
          <p:cNvSpPr/>
          <p:nvPr/>
        </p:nvSpPr>
        <p:spPr>
          <a:xfrm>
            <a:off x="384048" y="3273552"/>
            <a:ext cx="3867912"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Medical Report Analysis</a:t>
            </a:r>
            <a:endParaRPr lang="en-US" sz="1600" dirty="0">
              <a:latin typeface="Cambria" panose="02040503050406030204" pitchFamily="18" charset="0"/>
              <a:ea typeface="Cambria" panose="02040503050406030204" pitchFamily="18" charset="0"/>
            </a:endParaRPr>
          </a:p>
        </p:txBody>
      </p:sp>
      <p:sp>
        <p:nvSpPr>
          <p:cNvPr id="19" name="Text 17"/>
          <p:cNvSpPr/>
          <p:nvPr/>
        </p:nvSpPr>
        <p:spPr>
          <a:xfrm>
            <a:off x="384048" y="3639312"/>
            <a:ext cx="3758184" cy="256032"/>
          </a:xfrm>
          <a:prstGeom prst="rect">
            <a:avLst/>
          </a:prstGeom>
          <a:noFill/>
          <a:ln/>
        </p:spPr>
        <p:txBody>
          <a:bodyPr wrap="square" rtlCol="0" anchor="t"/>
          <a:lstStyle/>
          <a:p>
            <a:pPr marL="0" indent="0" algn="l">
              <a:buNone/>
            </a:pPr>
            <a:r>
              <a:rPr lang="en-US" sz="1600" dirty="0">
                <a:solidFill>
                  <a:srgbClr val="0D1E3A"/>
                </a:solidFill>
                <a:latin typeface="Cambria" panose="02040503050406030204" pitchFamily="18" charset="0"/>
                <a:ea typeface="Cambria" panose="02040503050406030204" pitchFamily="18" charset="0"/>
                <a:cs typeface="Calibri" pitchFamily="34" charset="-120"/>
              </a:rPr>
              <a:t>PDF lab report extraction &amp; insights</a:t>
            </a:r>
            <a:endParaRPr lang="en-US" sz="1600" dirty="0">
              <a:latin typeface="Cambria" panose="02040503050406030204" pitchFamily="18" charset="0"/>
              <a:ea typeface="Cambria" panose="02040503050406030204" pitchFamily="18" charset="0"/>
            </a:endParaRPr>
          </a:p>
        </p:txBody>
      </p:sp>
      <p:sp>
        <p:nvSpPr>
          <p:cNvPr id="20" name="Shape 18"/>
          <p:cNvSpPr/>
          <p:nvPr/>
        </p:nvSpPr>
        <p:spPr>
          <a:xfrm>
            <a:off x="274320" y="4078224"/>
            <a:ext cx="3977640" cy="694944"/>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21" name="Shape 19"/>
          <p:cNvSpPr/>
          <p:nvPr/>
        </p:nvSpPr>
        <p:spPr>
          <a:xfrm>
            <a:off x="274320" y="4078224"/>
            <a:ext cx="3977640" cy="347472"/>
          </a:xfrm>
          <a:prstGeom prst="rect">
            <a:avLst/>
          </a:prstGeom>
          <a:solidFill>
            <a:srgbClr val="0B3A7A"/>
          </a:solidFill>
          <a:ln w="12700">
            <a:solidFill>
              <a:srgbClr val="0B3A7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22" name="Text 20"/>
          <p:cNvSpPr/>
          <p:nvPr/>
        </p:nvSpPr>
        <p:spPr>
          <a:xfrm>
            <a:off x="384048" y="4078224"/>
            <a:ext cx="3867912"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Image Data Analysis</a:t>
            </a:r>
            <a:endParaRPr lang="en-US" sz="1600" dirty="0">
              <a:latin typeface="Cambria" panose="02040503050406030204" pitchFamily="18" charset="0"/>
              <a:ea typeface="Cambria" panose="02040503050406030204" pitchFamily="18" charset="0"/>
            </a:endParaRPr>
          </a:p>
        </p:txBody>
      </p:sp>
      <p:sp>
        <p:nvSpPr>
          <p:cNvPr id="23" name="Text 21"/>
          <p:cNvSpPr/>
          <p:nvPr/>
        </p:nvSpPr>
        <p:spPr>
          <a:xfrm>
            <a:off x="384048" y="4443984"/>
            <a:ext cx="3758184" cy="256032"/>
          </a:xfrm>
          <a:prstGeom prst="rect">
            <a:avLst/>
          </a:prstGeom>
          <a:noFill/>
          <a:ln/>
        </p:spPr>
        <p:txBody>
          <a:bodyPr wrap="square" rtlCol="0" anchor="t"/>
          <a:lstStyle/>
          <a:p>
            <a:pPr marL="0" indent="0" algn="l">
              <a:buNone/>
            </a:pPr>
            <a:r>
              <a:rPr lang="en-US" sz="1600" dirty="0">
                <a:solidFill>
                  <a:srgbClr val="0D1E3A"/>
                </a:solidFill>
                <a:latin typeface="Cambria" panose="02040503050406030204" pitchFamily="18" charset="0"/>
                <a:ea typeface="Cambria" panose="02040503050406030204" pitchFamily="18" charset="0"/>
                <a:cs typeface="Calibri" pitchFamily="34" charset="-120"/>
              </a:rPr>
              <a:t>EasyOCR on prescriptions &amp; scan images</a:t>
            </a:r>
            <a:endParaRPr lang="en-US" sz="1600" dirty="0">
              <a:latin typeface="Cambria" panose="02040503050406030204" pitchFamily="18" charset="0"/>
              <a:ea typeface="Cambria" panose="02040503050406030204" pitchFamily="18" charset="0"/>
            </a:endParaRPr>
          </a:p>
        </p:txBody>
      </p:sp>
      <p:sp>
        <p:nvSpPr>
          <p:cNvPr id="24" name="Shape 22"/>
          <p:cNvSpPr/>
          <p:nvPr/>
        </p:nvSpPr>
        <p:spPr>
          <a:xfrm>
            <a:off x="4892040" y="1664208"/>
            <a:ext cx="3977640" cy="713232"/>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25" name="Shape 23"/>
          <p:cNvSpPr/>
          <p:nvPr/>
        </p:nvSpPr>
        <p:spPr>
          <a:xfrm>
            <a:off x="4892040" y="1664208"/>
            <a:ext cx="3977640" cy="347472"/>
          </a:xfrm>
          <a:prstGeom prst="rect">
            <a:avLst/>
          </a:prstGeom>
          <a:solidFill>
            <a:srgbClr val="1565C0"/>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26" name="Text 24"/>
          <p:cNvSpPr/>
          <p:nvPr/>
        </p:nvSpPr>
        <p:spPr>
          <a:xfrm>
            <a:off x="5001768" y="1664208"/>
            <a:ext cx="3867912"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Symptom Analysis</a:t>
            </a:r>
            <a:endParaRPr lang="en-US" sz="1600" dirty="0">
              <a:latin typeface="Cambria" panose="02040503050406030204" pitchFamily="18" charset="0"/>
              <a:ea typeface="Cambria" panose="02040503050406030204" pitchFamily="18" charset="0"/>
            </a:endParaRPr>
          </a:p>
        </p:txBody>
      </p:sp>
      <p:sp>
        <p:nvSpPr>
          <p:cNvPr id="27" name="Text 25"/>
          <p:cNvSpPr/>
          <p:nvPr/>
        </p:nvSpPr>
        <p:spPr>
          <a:xfrm>
            <a:off x="5001768" y="2029968"/>
            <a:ext cx="3758184" cy="256032"/>
          </a:xfrm>
          <a:prstGeom prst="rect">
            <a:avLst/>
          </a:prstGeom>
          <a:noFill/>
          <a:ln/>
        </p:spPr>
        <p:txBody>
          <a:bodyPr wrap="square" rtlCol="0" anchor="t"/>
          <a:lstStyle/>
          <a:p>
            <a:pPr marL="0" indent="0" algn="l">
              <a:buNone/>
            </a:pPr>
            <a:r>
              <a:rPr lang="en-US" sz="1600" dirty="0">
                <a:solidFill>
                  <a:srgbClr val="0D1E3A"/>
                </a:solidFill>
                <a:latin typeface="Cambria" panose="02040503050406030204" pitchFamily="18" charset="0"/>
                <a:ea typeface="Cambria" panose="02040503050406030204" pitchFamily="18" charset="0"/>
                <a:cs typeface="Calibri" pitchFamily="34" charset="-120"/>
              </a:rPr>
              <a:t>Differential diagnosis &amp; medication</a:t>
            </a:r>
            <a:endParaRPr lang="en-US" sz="1600" dirty="0">
              <a:latin typeface="Cambria" panose="02040503050406030204" pitchFamily="18" charset="0"/>
              <a:ea typeface="Cambria" panose="02040503050406030204" pitchFamily="18" charset="0"/>
            </a:endParaRPr>
          </a:p>
        </p:txBody>
      </p:sp>
      <p:sp>
        <p:nvSpPr>
          <p:cNvPr id="28" name="Shape 26"/>
          <p:cNvSpPr/>
          <p:nvPr/>
        </p:nvSpPr>
        <p:spPr>
          <a:xfrm>
            <a:off x="4892040" y="2468880"/>
            <a:ext cx="3977640" cy="713232"/>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29" name="Shape 27"/>
          <p:cNvSpPr/>
          <p:nvPr/>
        </p:nvSpPr>
        <p:spPr>
          <a:xfrm>
            <a:off x="4892040" y="2468880"/>
            <a:ext cx="3977640" cy="347472"/>
          </a:xfrm>
          <a:prstGeom prst="rect">
            <a:avLst/>
          </a:prstGeom>
          <a:solidFill>
            <a:srgbClr val="1565C0"/>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0" name="Text 28"/>
          <p:cNvSpPr/>
          <p:nvPr/>
        </p:nvSpPr>
        <p:spPr>
          <a:xfrm>
            <a:off x="5001768" y="2468880"/>
            <a:ext cx="3867912"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Emergency Triage</a:t>
            </a:r>
            <a:endParaRPr lang="en-US" sz="1600" dirty="0">
              <a:latin typeface="Cambria" panose="02040503050406030204" pitchFamily="18" charset="0"/>
              <a:ea typeface="Cambria" panose="02040503050406030204" pitchFamily="18" charset="0"/>
            </a:endParaRPr>
          </a:p>
        </p:txBody>
      </p:sp>
      <p:sp>
        <p:nvSpPr>
          <p:cNvPr id="31" name="Text 29"/>
          <p:cNvSpPr/>
          <p:nvPr/>
        </p:nvSpPr>
        <p:spPr>
          <a:xfrm>
            <a:off x="5001768" y="2834640"/>
            <a:ext cx="3758184" cy="256032"/>
          </a:xfrm>
          <a:prstGeom prst="rect">
            <a:avLst/>
          </a:prstGeom>
          <a:noFill/>
          <a:ln/>
        </p:spPr>
        <p:txBody>
          <a:bodyPr wrap="square" rtlCol="0" anchor="t"/>
          <a:lstStyle/>
          <a:p>
            <a:pPr marL="0" indent="0" algn="l">
              <a:buNone/>
            </a:pPr>
            <a:r>
              <a:rPr lang="en-US" sz="1600" dirty="0">
                <a:solidFill>
                  <a:srgbClr val="0D1E3A"/>
                </a:solidFill>
                <a:latin typeface="Cambria" panose="02040503050406030204" pitchFamily="18" charset="0"/>
                <a:ea typeface="Cambria" panose="02040503050406030204" pitchFamily="18" charset="0"/>
                <a:cs typeface="Calibri" pitchFamily="34" charset="-120"/>
              </a:rPr>
              <a:t>Red / Yellow / Green classification</a:t>
            </a:r>
            <a:endParaRPr lang="en-US" sz="1600" dirty="0">
              <a:latin typeface="Cambria" panose="02040503050406030204" pitchFamily="18" charset="0"/>
              <a:ea typeface="Cambria" panose="02040503050406030204" pitchFamily="18" charset="0"/>
            </a:endParaRPr>
          </a:p>
        </p:txBody>
      </p:sp>
      <p:sp>
        <p:nvSpPr>
          <p:cNvPr id="32" name="Shape 30"/>
          <p:cNvSpPr/>
          <p:nvPr/>
        </p:nvSpPr>
        <p:spPr>
          <a:xfrm>
            <a:off x="4892040" y="3273552"/>
            <a:ext cx="3977640" cy="886968"/>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33" name="Shape 31"/>
          <p:cNvSpPr/>
          <p:nvPr/>
        </p:nvSpPr>
        <p:spPr>
          <a:xfrm>
            <a:off x="4892040" y="3273552"/>
            <a:ext cx="3977640" cy="347472"/>
          </a:xfrm>
          <a:prstGeom prst="rect">
            <a:avLst/>
          </a:prstGeom>
          <a:solidFill>
            <a:srgbClr val="1565C0"/>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4" name="Text 32"/>
          <p:cNvSpPr/>
          <p:nvPr/>
        </p:nvSpPr>
        <p:spPr>
          <a:xfrm>
            <a:off x="5001768" y="3273552"/>
            <a:ext cx="3867912"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Hospital Locator</a:t>
            </a:r>
            <a:endParaRPr lang="en-US" sz="1600" dirty="0">
              <a:latin typeface="Cambria" panose="02040503050406030204" pitchFamily="18" charset="0"/>
              <a:ea typeface="Cambria" panose="02040503050406030204" pitchFamily="18" charset="0"/>
            </a:endParaRPr>
          </a:p>
        </p:txBody>
      </p:sp>
      <p:sp>
        <p:nvSpPr>
          <p:cNvPr id="35" name="Text 33"/>
          <p:cNvSpPr/>
          <p:nvPr/>
        </p:nvSpPr>
        <p:spPr>
          <a:xfrm>
            <a:off x="5001768" y="3639312"/>
            <a:ext cx="3758184" cy="256032"/>
          </a:xfrm>
          <a:prstGeom prst="rect">
            <a:avLst/>
          </a:prstGeom>
          <a:noFill/>
          <a:ln/>
        </p:spPr>
        <p:txBody>
          <a:bodyPr wrap="square" rtlCol="0" anchor="t"/>
          <a:lstStyle/>
          <a:p>
            <a:pPr marL="0" indent="0" algn="l">
              <a:buNone/>
            </a:pPr>
            <a:r>
              <a:rPr lang="en-US" sz="1600" dirty="0">
                <a:solidFill>
                  <a:srgbClr val="0D1E3A"/>
                </a:solidFill>
                <a:latin typeface="Cambria" panose="02040503050406030204" pitchFamily="18" charset="0"/>
                <a:ea typeface="Cambria" panose="02040503050406030204" pitchFamily="18" charset="0"/>
                <a:cs typeface="Calibri" pitchFamily="34" charset="-120"/>
              </a:rPr>
              <a:t>Nearby hospitals within 30 km via Geoapify</a:t>
            </a:r>
            <a:endParaRPr lang="en-US" sz="1600" dirty="0">
              <a:latin typeface="Cambria" panose="02040503050406030204" pitchFamily="18" charset="0"/>
              <a:ea typeface="Cambria" panose="02040503050406030204" pitchFamily="18" charset="0"/>
            </a:endParaRPr>
          </a:p>
        </p:txBody>
      </p:sp>
      <p:sp>
        <p:nvSpPr>
          <p:cNvPr id="38" name="Shape 36"/>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9" name="Text 37"/>
          <p:cNvSpPr/>
          <p:nvPr/>
        </p:nvSpPr>
        <p:spPr>
          <a:xfrm>
            <a:off x="0" y="4864608"/>
            <a:ext cx="9144000" cy="278892"/>
          </a:xfrm>
          <a:prstGeom prst="rect">
            <a:avLst/>
          </a:prstGeom>
          <a:noFill/>
          <a:ln/>
        </p:spPr>
        <p:txBody>
          <a:bodyPr wrap="square" lIns="0" tIns="0" rIns="0" bIns="0" rtlCol="0" anchor="ctr"/>
          <a:lstStyle/>
          <a:p>
            <a:pPr marL="0" indent="0" algn="ctr">
              <a:buNone/>
            </a:pPr>
            <a:r>
              <a:rPr lang="en-US" sz="1100" dirty="0">
                <a:solidFill>
                  <a:srgbClr val="FFFFFF"/>
                </a:solidFill>
                <a:latin typeface="Cambria" panose="02040503050406030204" pitchFamily="18" charset="0"/>
                <a:ea typeface="Cambria" panose="02040503050406030204" pitchFamily="18" charset="0"/>
                <a:cs typeface="Calibri" pitchFamily="34" charset="-120"/>
              </a:rPr>
              <a:t>HealthAssist AI  |  Bapatla Engineering College  |  2025-26</a:t>
            </a:r>
            <a:endParaRPr lang="en-US" sz="1100"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1020"/>
          </a:solidFill>
          <a:ln w="12700">
            <a:solidFill>
              <a:srgbClr val="071020"/>
            </a:solidFill>
            <a:prstDash val="solid"/>
          </a:ln>
        </p:spPr>
        <p:txBody>
          <a:bodyPr/>
          <a:lstStyle/>
          <a:p>
            <a:endParaRPr lang="en-IN" sz="2400"/>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sz="2400"/>
          </a:p>
        </p:txBody>
      </p:sp>
      <p:sp>
        <p:nvSpPr>
          <p:cNvPr id="4" name="Text 2"/>
          <p:cNvSpPr/>
          <p:nvPr/>
        </p:nvSpPr>
        <p:spPr>
          <a:xfrm>
            <a:off x="320040" y="0"/>
            <a:ext cx="6858000" cy="96012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SEVEN CLINICAL MODULES</a:t>
            </a:r>
            <a:endParaRPr lang="en-US" sz="3600" dirty="0"/>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endParaRPr lang="en-US" sz="1600" dirty="0"/>
          </a:p>
        </p:txBody>
      </p:sp>
      <p:sp>
        <p:nvSpPr>
          <p:cNvPr id="6" name="Shape 4"/>
          <p:cNvSpPr/>
          <p:nvPr/>
        </p:nvSpPr>
        <p:spPr>
          <a:xfrm>
            <a:off x="320040" y="1115568"/>
            <a:ext cx="4114800" cy="777240"/>
          </a:xfrm>
          <a:prstGeom prst="rect">
            <a:avLst/>
          </a:prstGeom>
          <a:solidFill>
            <a:srgbClr val="0D1E3A"/>
          </a:solidFill>
          <a:ln w="12700">
            <a:solidFill>
              <a:srgbClr val="1A6FD4"/>
            </a:solidFill>
            <a:prstDash val="solid"/>
          </a:ln>
          <a:effectLst>
            <a:outerShdw blurRad="38100" dist="25400" dir="8100000" algn="bl" rotWithShape="0">
              <a:srgbClr val="000000">
                <a:alpha val="15000"/>
              </a:srgbClr>
            </a:outerShdw>
          </a:effectLst>
        </p:spPr>
        <p:txBody>
          <a:bodyPr/>
          <a:lstStyle/>
          <a:p>
            <a:endParaRPr lang="en-IN" sz="2400"/>
          </a:p>
        </p:txBody>
      </p:sp>
      <p:sp>
        <p:nvSpPr>
          <p:cNvPr id="7" name="Shape 5"/>
          <p:cNvSpPr/>
          <p:nvPr/>
        </p:nvSpPr>
        <p:spPr>
          <a:xfrm>
            <a:off x="320040" y="1115568"/>
            <a:ext cx="411480" cy="777240"/>
          </a:xfrm>
          <a:prstGeom prst="rect">
            <a:avLst/>
          </a:prstGeom>
          <a:solidFill>
            <a:srgbClr val="1A6FD4"/>
          </a:solidFill>
          <a:ln w="12700">
            <a:solidFill>
              <a:srgbClr val="1A6FD4"/>
            </a:solidFill>
            <a:prstDash val="solid"/>
          </a:ln>
        </p:spPr>
        <p:txBody>
          <a:bodyPr/>
          <a:lstStyle/>
          <a:p>
            <a:endParaRPr lang="en-IN" sz="2400"/>
          </a:p>
        </p:txBody>
      </p:sp>
      <p:sp>
        <p:nvSpPr>
          <p:cNvPr id="8" name="Text 6"/>
          <p:cNvSpPr/>
          <p:nvPr/>
        </p:nvSpPr>
        <p:spPr>
          <a:xfrm>
            <a:off x="320040" y="1115568"/>
            <a:ext cx="411480" cy="777240"/>
          </a:xfrm>
          <a:prstGeom prst="rect">
            <a:avLst/>
          </a:prstGeom>
          <a:noFill/>
          <a:ln/>
        </p:spPr>
        <p:txBody>
          <a:bodyPr wrap="square" lIns="0" tIns="0" rIns="0" bIns="0" rtlCol="0" anchor="ctr"/>
          <a:lstStyle/>
          <a:p>
            <a:pPr marL="0" indent="0" algn="ctr">
              <a:buNone/>
            </a:pPr>
            <a:r>
              <a:rPr lang="en-US" sz="1600" b="1" dirty="0">
                <a:solidFill>
                  <a:srgbClr val="071020"/>
                </a:solidFill>
                <a:latin typeface="Calibri" pitchFamily="34" charset="0"/>
                <a:ea typeface="Calibri" pitchFamily="34" charset="-122"/>
                <a:cs typeface="Calibri" pitchFamily="34" charset="-120"/>
              </a:rPr>
              <a:t>01</a:t>
            </a:r>
            <a:endParaRPr lang="en-US" sz="1600" dirty="0"/>
          </a:p>
        </p:txBody>
      </p:sp>
      <p:sp>
        <p:nvSpPr>
          <p:cNvPr id="9" name="Text 7"/>
          <p:cNvSpPr/>
          <p:nvPr/>
        </p:nvSpPr>
        <p:spPr>
          <a:xfrm>
            <a:off x="777240" y="1152144"/>
            <a:ext cx="3566160" cy="292608"/>
          </a:xfrm>
          <a:prstGeom prst="rect">
            <a:avLst/>
          </a:prstGeom>
          <a:noFill/>
          <a:ln/>
        </p:spPr>
        <p:txBody>
          <a:bodyPr wrap="square" lIns="0" tIns="0" rIns="0" bIns="0" rtlCol="0" anchor="b"/>
          <a:lstStyle/>
          <a:p>
            <a:pPr marL="0" indent="0" algn="l">
              <a:buNone/>
            </a:pPr>
            <a:r>
              <a:rPr lang="en-US" sz="1600" b="1" dirty="0">
                <a:solidFill>
                  <a:srgbClr val="FFFFFF"/>
                </a:solidFill>
                <a:latin typeface="Calibri" pitchFamily="34" charset="0"/>
                <a:ea typeface="Calibri" pitchFamily="34" charset="-122"/>
                <a:cs typeface="Calibri" pitchFamily="34" charset="-120"/>
              </a:rPr>
              <a:t>Medicine Guidance</a:t>
            </a:r>
            <a:endParaRPr lang="en-US" sz="1600" dirty="0"/>
          </a:p>
        </p:txBody>
      </p:sp>
      <p:sp>
        <p:nvSpPr>
          <p:cNvPr id="10" name="Text 8"/>
          <p:cNvSpPr/>
          <p:nvPr/>
        </p:nvSpPr>
        <p:spPr>
          <a:xfrm>
            <a:off x="777240" y="1481328"/>
            <a:ext cx="3566160" cy="365760"/>
          </a:xfrm>
          <a:prstGeom prst="rect">
            <a:avLst/>
          </a:prstGeom>
          <a:noFill/>
          <a:ln/>
        </p:spPr>
        <p:txBody>
          <a:bodyPr wrap="square" lIns="0" tIns="0" rIns="0" bIns="0" rtlCol="0" anchor="t"/>
          <a:lstStyle/>
          <a:p>
            <a:pPr marL="0" indent="0" algn="l">
              <a:buNone/>
            </a:pPr>
            <a:r>
              <a:rPr lang="en-US" sz="1200" dirty="0">
                <a:solidFill>
                  <a:srgbClr val="CADCFC"/>
                </a:solidFill>
                <a:latin typeface="Calibri" pitchFamily="34" charset="0"/>
                <a:ea typeface="Calibri" pitchFamily="34" charset="-122"/>
                <a:cs typeface="Calibri" pitchFamily="34" charset="-120"/>
              </a:rPr>
              <a:t>Dosage, frequency, safety precautions &amp; side effects in any language via Mistral AI &amp; Supabase.</a:t>
            </a:r>
            <a:endParaRPr lang="en-US" sz="1200" dirty="0"/>
          </a:p>
        </p:txBody>
      </p:sp>
      <p:sp>
        <p:nvSpPr>
          <p:cNvPr id="11" name="Shape 9"/>
          <p:cNvSpPr/>
          <p:nvPr/>
        </p:nvSpPr>
        <p:spPr>
          <a:xfrm>
            <a:off x="320040" y="2029968"/>
            <a:ext cx="4114800" cy="777240"/>
          </a:xfrm>
          <a:prstGeom prst="rect">
            <a:avLst/>
          </a:prstGeom>
          <a:solidFill>
            <a:srgbClr val="0D1E3A"/>
          </a:solidFill>
          <a:ln w="12700">
            <a:solidFill>
              <a:srgbClr val="1A6FD4"/>
            </a:solidFill>
            <a:prstDash val="solid"/>
          </a:ln>
          <a:effectLst>
            <a:outerShdw blurRad="38100" dist="25400" dir="8100000" algn="bl" rotWithShape="0">
              <a:srgbClr val="000000">
                <a:alpha val="15000"/>
              </a:srgbClr>
            </a:outerShdw>
          </a:effectLst>
        </p:spPr>
        <p:txBody>
          <a:bodyPr/>
          <a:lstStyle/>
          <a:p>
            <a:endParaRPr lang="en-IN" sz="2400"/>
          </a:p>
        </p:txBody>
      </p:sp>
      <p:sp>
        <p:nvSpPr>
          <p:cNvPr id="12" name="Shape 10"/>
          <p:cNvSpPr/>
          <p:nvPr/>
        </p:nvSpPr>
        <p:spPr>
          <a:xfrm>
            <a:off x="320040" y="2029968"/>
            <a:ext cx="411480" cy="777240"/>
          </a:xfrm>
          <a:prstGeom prst="rect">
            <a:avLst/>
          </a:prstGeom>
          <a:solidFill>
            <a:srgbClr val="1A6FD4"/>
          </a:solidFill>
          <a:ln w="12700">
            <a:solidFill>
              <a:srgbClr val="1A6FD4"/>
            </a:solidFill>
            <a:prstDash val="solid"/>
          </a:ln>
        </p:spPr>
        <p:txBody>
          <a:bodyPr/>
          <a:lstStyle/>
          <a:p>
            <a:endParaRPr lang="en-IN" sz="2400"/>
          </a:p>
        </p:txBody>
      </p:sp>
      <p:sp>
        <p:nvSpPr>
          <p:cNvPr id="13" name="Text 11"/>
          <p:cNvSpPr/>
          <p:nvPr/>
        </p:nvSpPr>
        <p:spPr>
          <a:xfrm>
            <a:off x="320040" y="2029968"/>
            <a:ext cx="411480" cy="777240"/>
          </a:xfrm>
          <a:prstGeom prst="rect">
            <a:avLst/>
          </a:prstGeom>
          <a:noFill/>
          <a:ln/>
        </p:spPr>
        <p:txBody>
          <a:bodyPr wrap="square" lIns="0" tIns="0" rIns="0" bIns="0" rtlCol="0" anchor="ctr"/>
          <a:lstStyle/>
          <a:p>
            <a:pPr marL="0" indent="0" algn="ctr">
              <a:buNone/>
            </a:pPr>
            <a:r>
              <a:rPr lang="en-US" sz="1600" b="1" dirty="0">
                <a:solidFill>
                  <a:srgbClr val="071020"/>
                </a:solidFill>
                <a:latin typeface="Calibri" pitchFamily="34" charset="0"/>
                <a:ea typeface="Calibri" pitchFamily="34" charset="-122"/>
                <a:cs typeface="Calibri" pitchFamily="34" charset="-120"/>
              </a:rPr>
              <a:t>02</a:t>
            </a:r>
            <a:endParaRPr lang="en-US" sz="1600" dirty="0"/>
          </a:p>
        </p:txBody>
      </p:sp>
      <p:sp>
        <p:nvSpPr>
          <p:cNvPr id="14" name="Text 12"/>
          <p:cNvSpPr/>
          <p:nvPr/>
        </p:nvSpPr>
        <p:spPr>
          <a:xfrm>
            <a:off x="777240" y="2066544"/>
            <a:ext cx="3566160" cy="292608"/>
          </a:xfrm>
          <a:prstGeom prst="rect">
            <a:avLst/>
          </a:prstGeom>
          <a:noFill/>
          <a:ln/>
        </p:spPr>
        <p:txBody>
          <a:bodyPr wrap="square" lIns="0" tIns="0" rIns="0" bIns="0" rtlCol="0" anchor="b"/>
          <a:lstStyle/>
          <a:p>
            <a:pPr marL="0" indent="0" algn="l">
              <a:buNone/>
            </a:pPr>
            <a:r>
              <a:rPr lang="en-US" sz="1600" b="1" dirty="0">
                <a:solidFill>
                  <a:srgbClr val="FFFFFF"/>
                </a:solidFill>
                <a:latin typeface="Calibri" pitchFamily="34" charset="0"/>
                <a:ea typeface="Calibri" pitchFamily="34" charset="-122"/>
                <a:cs typeface="Calibri" pitchFamily="34" charset="-120"/>
              </a:rPr>
              <a:t>Disease Guidance</a:t>
            </a:r>
            <a:endParaRPr lang="en-US" sz="1600" dirty="0"/>
          </a:p>
        </p:txBody>
      </p:sp>
      <p:sp>
        <p:nvSpPr>
          <p:cNvPr id="15" name="Text 13"/>
          <p:cNvSpPr/>
          <p:nvPr/>
        </p:nvSpPr>
        <p:spPr>
          <a:xfrm>
            <a:off x="777240" y="2395728"/>
            <a:ext cx="3566160" cy="365760"/>
          </a:xfrm>
          <a:prstGeom prst="rect">
            <a:avLst/>
          </a:prstGeom>
          <a:noFill/>
          <a:ln/>
        </p:spPr>
        <p:txBody>
          <a:bodyPr wrap="square" lIns="0" tIns="0" rIns="0" bIns="0" rtlCol="0" anchor="t"/>
          <a:lstStyle/>
          <a:p>
            <a:pPr marL="0" indent="0" algn="l">
              <a:buNone/>
            </a:pPr>
            <a:r>
              <a:rPr lang="en-US" sz="1200" dirty="0">
                <a:solidFill>
                  <a:srgbClr val="CADCFC"/>
                </a:solidFill>
                <a:latin typeface="Calibri" pitchFamily="34" charset="0"/>
                <a:ea typeface="Calibri" pitchFamily="34" charset="-122"/>
                <a:cs typeface="Calibri" pitchFamily="34" charset="-120"/>
              </a:rPr>
              <a:t>Personalized treatment, preventive measures &amp; lifestyle recommendations using historical Supabase data.</a:t>
            </a:r>
            <a:endParaRPr lang="en-US" sz="1200" dirty="0"/>
          </a:p>
        </p:txBody>
      </p:sp>
      <p:sp>
        <p:nvSpPr>
          <p:cNvPr id="16" name="Shape 14"/>
          <p:cNvSpPr/>
          <p:nvPr/>
        </p:nvSpPr>
        <p:spPr>
          <a:xfrm>
            <a:off x="320040" y="2944368"/>
            <a:ext cx="4114800" cy="777240"/>
          </a:xfrm>
          <a:prstGeom prst="rect">
            <a:avLst/>
          </a:prstGeom>
          <a:solidFill>
            <a:srgbClr val="0D1E3A"/>
          </a:solidFill>
          <a:ln w="12700">
            <a:solidFill>
              <a:srgbClr val="1A6FD4"/>
            </a:solidFill>
            <a:prstDash val="solid"/>
          </a:ln>
          <a:effectLst>
            <a:outerShdw blurRad="38100" dist="25400" dir="8100000" algn="bl" rotWithShape="0">
              <a:srgbClr val="000000">
                <a:alpha val="15000"/>
              </a:srgbClr>
            </a:outerShdw>
          </a:effectLst>
        </p:spPr>
        <p:txBody>
          <a:bodyPr/>
          <a:lstStyle/>
          <a:p>
            <a:endParaRPr lang="en-IN" sz="2400"/>
          </a:p>
        </p:txBody>
      </p:sp>
      <p:sp>
        <p:nvSpPr>
          <p:cNvPr id="17" name="Shape 15"/>
          <p:cNvSpPr/>
          <p:nvPr/>
        </p:nvSpPr>
        <p:spPr>
          <a:xfrm>
            <a:off x="320040" y="2944368"/>
            <a:ext cx="411480" cy="777240"/>
          </a:xfrm>
          <a:prstGeom prst="rect">
            <a:avLst/>
          </a:prstGeom>
          <a:solidFill>
            <a:srgbClr val="1A6FD4"/>
          </a:solidFill>
          <a:ln w="12700">
            <a:solidFill>
              <a:srgbClr val="1A6FD4"/>
            </a:solidFill>
            <a:prstDash val="solid"/>
          </a:ln>
        </p:spPr>
        <p:txBody>
          <a:bodyPr/>
          <a:lstStyle/>
          <a:p>
            <a:endParaRPr lang="en-IN" sz="2400"/>
          </a:p>
        </p:txBody>
      </p:sp>
      <p:sp>
        <p:nvSpPr>
          <p:cNvPr id="18" name="Text 16"/>
          <p:cNvSpPr/>
          <p:nvPr/>
        </p:nvSpPr>
        <p:spPr>
          <a:xfrm>
            <a:off x="320040" y="2944368"/>
            <a:ext cx="411480" cy="777240"/>
          </a:xfrm>
          <a:prstGeom prst="rect">
            <a:avLst/>
          </a:prstGeom>
          <a:noFill/>
          <a:ln/>
        </p:spPr>
        <p:txBody>
          <a:bodyPr wrap="square" lIns="0" tIns="0" rIns="0" bIns="0" rtlCol="0" anchor="ctr"/>
          <a:lstStyle/>
          <a:p>
            <a:pPr marL="0" indent="0" algn="ctr">
              <a:buNone/>
            </a:pPr>
            <a:r>
              <a:rPr lang="en-US" sz="1600" b="1" dirty="0">
                <a:solidFill>
                  <a:srgbClr val="071020"/>
                </a:solidFill>
                <a:latin typeface="Calibri" pitchFamily="34" charset="0"/>
                <a:ea typeface="Calibri" pitchFamily="34" charset="-122"/>
                <a:cs typeface="Calibri" pitchFamily="34" charset="-120"/>
              </a:rPr>
              <a:t>03</a:t>
            </a:r>
            <a:endParaRPr lang="en-US" sz="1600" dirty="0"/>
          </a:p>
        </p:txBody>
      </p:sp>
      <p:sp>
        <p:nvSpPr>
          <p:cNvPr id="19" name="Text 17"/>
          <p:cNvSpPr/>
          <p:nvPr/>
        </p:nvSpPr>
        <p:spPr>
          <a:xfrm>
            <a:off x="777240" y="2980944"/>
            <a:ext cx="3566160" cy="292608"/>
          </a:xfrm>
          <a:prstGeom prst="rect">
            <a:avLst/>
          </a:prstGeom>
          <a:noFill/>
          <a:ln/>
        </p:spPr>
        <p:txBody>
          <a:bodyPr wrap="square" lIns="0" tIns="0" rIns="0" bIns="0" rtlCol="0" anchor="b"/>
          <a:lstStyle/>
          <a:p>
            <a:pPr marL="0" indent="0" algn="l">
              <a:buNone/>
            </a:pPr>
            <a:r>
              <a:rPr lang="en-US" sz="1600" b="1" dirty="0">
                <a:solidFill>
                  <a:srgbClr val="FFFFFF"/>
                </a:solidFill>
                <a:latin typeface="Calibri" pitchFamily="34" charset="0"/>
                <a:ea typeface="Calibri" pitchFamily="34" charset="-122"/>
                <a:cs typeface="Calibri" pitchFamily="34" charset="-120"/>
              </a:rPr>
              <a:t>Medical Report Analysis</a:t>
            </a:r>
            <a:endParaRPr lang="en-US" sz="1600" dirty="0"/>
          </a:p>
        </p:txBody>
      </p:sp>
      <p:sp>
        <p:nvSpPr>
          <p:cNvPr id="20" name="Text 18"/>
          <p:cNvSpPr/>
          <p:nvPr/>
        </p:nvSpPr>
        <p:spPr>
          <a:xfrm>
            <a:off x="777240" y="3310128"/>
            <a:ext cx="3566160" cy="365760"/>
          </a:xfrm>
          <a:prstGeom prst="rect">
            <a:avLst/>
          </a:prstGeom>
          <a:noFill/>
          <a:ln/>
        </p:spPr>
        <p:txBody>
          <a:bodyPr wrap="square" lIns="0" tIns="0" rIns="0" bIns="0" rtlCol="0" anchor="t"/>
          <a:lstStyle/>
          <a:p>
            <a:pPr marL="0" indent="0" algn="l">
              <a:buNone/>
            </a:pPr>
            <a:r>
              <a:rPr lang="en-US" sz="1200" dirty="0">
                <a:solidFill>
                  <a:srgbClr val="CADCFC"/>
                </a:solidFill>
                <a:latin typeface="Calibri" pitchFamily="34" charset="0"/>
                <a:ea typeface="Calibri" pitchFamily="34" charset="-122"/>
                <a:cs typeface="Calibri" pitchFamily="34" charset="-120"/>
              </a:rPr>
              <a:t>PDF extraction via PyPDF2 → Mistral AI interprets findings, flags abnormal values &amp; generates summaries.</a:t>
            </a:r>
            <a:endParaRPr lang="en-US" sz="1200" dirty="0"/>
          </a:p>
        </p:txBody>
      </p:sp>
      <p:sp>
        <p:nvSpPr>
          <p:cNvPr id="21" name="Shape 19"/>
          <p:cNvSpPr/>
          <p:nvPr/>
        </p:nvSpPr>
        <p:spPr>
          <a:xfrm>
            <a:off x="320040" y="3858768"/>
            <a:ext cx="4114800" cy="777240"/>
          </a:xfrm>
          <a:prstGeom prst="rect">
            <a:avLst/>
          </a:prstGeom>
          <a:solidFill>
            <a:srgbClr val="0D1E3A"/>
          </a:solidFill>
          <a:ln w="12700">
            <a:solidFill>
              <a:srgbClr val="1A6FD4"/>
            </a:solidFill>
            <a:prstDash val="solid"/>
          </a:ln>
          <a:effectLst>
            <a:outerShdw blurRad="38100" dist="25400" dir="8100000" algn="bl" rotWithShape="0">
              <a:srgbClr val="000000">
                <a:alpha val="15000"/>
              </a:srgbClr>
            </a:outerShdw>
          </a:effectLst>
        </p:spPr>
        <p:txBody>
          <a:bodyPr/>
          <a:lstStyle/>
          <a:p>
            <a:endParaRPr lang="en-IN" sz="2400"/>
          </a:p>
        </p:txBody>
      </p:sp>
      <p:sp>
        <p:nvSpPr>
          <p:cNvPr id="22" name="Shape 20"/>
          <p:cNvSpPr/>
          <p:nvPr/>
        </p:nvSpPr>
        <p:spPr>
          <a:xfrm>
            <a:off x="320040" y="3858768"/>
            <a:ext cx="411480" cy="777240"/>
          </a:xfrm>
          <a:prstGeom prst="rect">
            <a:avLst/>
          </a:prstGeom>
          <a:solidFill>
            <a:srgbClr val="1A6FD4"/>
          </a:solidFill>
          <a:ln w="12700">
            <a:solidFill>
              <a:srgbClr val="1A6FD4"/>
            </a:solidFill>
            <a:prstDash val="solid"/>
          </a:ln>
        </p:spPr>
        <p:txBody>
          <a:bodyPr/>
          <a:lstStyle/>
          <a:p>
            <a:endParaRPr lang="en-IN" sz="2400"/>
          </a:p>
        </p:txBody>
      </p:sp>
      <p:sp>
        <p:nvSpPr>
          <p:cNvPr id="23" name="Text 21"/>
          <p:cNvSpPr/>
          <p:nvPr/>
        </p:nvSpPr>
        <p:spPr>
          <a:xfrm>
            <a:off x="320040" y="3858768"/>
            <a:ext cx="411480" cy="777240"/>
          </a:xfrm>
          <a:prstGeom prst="rect">
            <a:avLst/>
          </a:prstGeom>
          <a:noFill/>
          <a:ln/>
        </p:spPr>
        <p:txBody>
          <a:bodyPr wrap="square" lIns="0" tIns="0" rIns="0" bIns="0" rtlCol="0" anchor="ctr"/>
          <a:lstStyle/>
          <a:p>
            <a:pPr marL="0" indent="0" algn="ctr">
              <a:buNone/>
            </a:pPr>
            <a:r>
              <a:rPr lang="en-US" sz="1600" b="1" dirty="0">
                <a:solidFill>
                  <a:srgbClr val="071020"/>
                </a:solidFill>
                <a:latin typeface="Calibri" pitchFamily="34" charset="0"/>
                <a:ea typeface="Calibri" pitchFamily="34" charset="-122"/>
                <a:cs typeface="Calibri" pitchFamily="34" charset="-120"/>
              </a:rPr>
              <a:t>04</a:t>
            </a:r>
            <a:endParaRPr lang="en-US" sz="1600" dirty="0"/>
          </a:p>
        </p:txBody>
      </p:sp>
      <p:sp>
        <p:nvSpPr>
          <p:cNvPr id="24" name="Text 22"/>
          <p:cNvSpPr/>
          <p:nvPr/>
        </p:nvSpPr>
        <p:spPr>
          <a:xfrm>
            <a:off x="777240" y="3895344"/>
            <a:ext cx="3566160" cy="292608"/>
          </a:xfrm>
          <a:prstGeom prst="rect">
            <a:avLst/>
          </a:prstGeom>
          <a:noFill/>
          <a:ln/>
        </p:spPr>
        <p:txBody>
          <a:bodyPr wrap="square" lIns="0" tIns="0" rIns="0" bIns="0" rtlCol="0" anchor="b"/>
          <a:lstStyle/>
          <a:p>
            <a:pPr marL="0" indent="0" algn="l">
              <a:buNone/>
            </a:pPr>
            <a:r>
              <a:rPr lang="en-US" sz="1600" b="1" dirty="0">
                <a:solidFill>
                  <a:srgbClr val="FFFFFF"/>
                </a:solidFill>
                <a:latin typeface="Calibri" pitchFamily="34" charset="0"/>
                <a:ea typeface="Calibri" pitchFamily="34" charset="-122"/>
                <a:cs typeface="Calibri" pitchFamily="34" charset="-120"/>
              </a:rPr>
              <a:t>Image Medical Data</a:t>
            </a:r>
            <a:endParaRPr lang="en-US" sz="1600" dirty="0"/>
          </a:p>
        </p:txBody>
      </p:sp>
      <p:sp>
        <p:nvSpPr>
          <p:cNvPr id="25" name="Text 23"/>
          <p:cNvSpPr/>
          <p:nvPr/>
        </p:nvSpPr>
        <p:spPr>
          <a:xfrm>
            <a:off x="777240" y="4224528"/>
            <a:ext cx="3566160" cy="365760"/>
          </a:xfrm>
          <a:prstGeom prst="rect">
            <a:avLst/>
          </a:prstGeom>
          <a:noFill/>
          <a:ln/>
        </p:spPr>
        <p:txBody>
          <a:bodyPr wrap="square" lIns="0" tIns="0" rIns="0" bIns="0" rtlCol="0" anchor="t"/>
          <a:lstStyle/>
          <a:p>
            <a:pPr marL="0" indent="0" algn="l">
              <a:buNone/>
            </a:pPr>
            <a:r>
              <a:rPr lang="en-US" sz="1200" dirty="0">
                <a:solidFill>
                  <a:srgbClr val="CADCFC"/>
                </a:solidFill>
                <a:latin typeface="Calibri" pitchFamily="34" charset="0"/>
                <a:ea typeface="Calibri" pitchFamily="34" charset="-122"/>
                <a:cs typeface="Calibri" pitchFamily="34" charset="-120"/>
              </a:rPr>
              <a:t>EasyOCR extracts text from scanned images/prescriptions → Mistral AI identifies clinical issues.</a:t>
            </a:r>
            <a:endParaRPr lang="en-US" sz="1200" dirty="0"/>
          </a:p>
        </p:txBody>
      </p:sp>
      <p:sp>
        <p:nvSpPr>
          <p:cNvPr id="26" name="Shape 24"/>
          <p:cNvSpPr/>
          <p:nvPr/>
        </p:nvSpPr>
        <p:spPr>
          <a:xfrm>
            <a:off x="4754880" y="1115568"/>
            <a:ext cx="4069080" cy="804672"/>
          </a:xfrm>
          <a:prstGeom prst="rect">
            <a:avLst/>
          </a:prstGeom>
          <a:solidFill>
            <a:srgbClr val="0D1E3A"/>
          </a:solidFill>
          <a:ln w="12700">
            <a:solidFill>
              <a:srgbClr val="1565C0"/>
            </a:solidFill>
            <a:prstDash val="solid"/>
          </a:ln>
          <a:effectLst>
            <a:outerShdw blurRad="38100" dist="25400" dir="8100000" algn="bl" rotWithShape="0">
              <a:srgbClr val="000000">
                <a:alpha val="15000"/>
              </a:srgbClr>
            </a:outerShdw>
          </a:effectLst>
        </p:spPr>
        <p:txBody>
          <a:bodyPr/>
          <a:lstStyle/>
          <a:p>
            <a:endParaRPr lang="en-IN" sz="2400"/>
          </a:p>
        </p:txBody>
      </p:sp>
      <p:sp>
        <p:nvSpPr>
          <p:cNvPr id="27" name="Shape 25"/>
          <p:cNvSpPr/>
          <p:nvPr/>
        </p:nvSpPr>
        <p:spPr>
          <a:xfrm>
            <a:off x="4754880" y="1115568"/>
            <a:ext cx="411480" cy="777240"/>
          </a:xfrm>
          <a:prstGeom prst="rect">
            <a:avLst/>
          </a:prstGeom>
          <a:solidFill>
            <a:srgbClr val="1565C0"/>
          </a:solidFill>
          <a:ln w="12700">
            <a:solidFill>
              <a:srgbClr val="1565C0"/>
            </a:solidFill>
            <a:prstDash val="solid"/>
          </a:ln>
        </p:spPr>
        <p:txBody>
          <a:bodyPr/>
          <a:lstStyle/>
          <a:p>
            <a:endParaRPr lang="en-IN" sz="2400"/>
          </a:p>
        </p:txBody>
      </p:sp>
      <p:sp>
        <p:nvSpPr>
          <p:cNvPr id="28" name="Text 26"/>
          <p:cNvSpPr/>
          <p:nvPr/>
        </p:nvSpPr>
        <p:spPr>
          <a:xfrm>
            <a:off x="4754880" y="1115568"/>
            <a:ext cx="411480"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9" name="Text 27"/>
          <p:cNvSpPr/>
          <p:nvPr/>
        </p:nvSpPr>
        <p:spPr>
          <a:xfrm>
            <a:off x="5212080" y="1069848"/>
            <a:ext cx="3520440" cy="292608"/>
          </a:xfrm>
          <a:prstGeom prst="rect">
            <a:avLst/>
          </a:prstGeom>
          <a:noFill/>
          <a:ln/>
        </p:spPr>
        <p:txBody>
          <a:bodyPr wrap="square" lIns="0" tIns="0" rIns="0" bIns="0" rtlCol="0" anchor="b"/>
          <a:lstStyle/>
          <a:p>
            <a:pPr marL="0" indent="0" algn="l">
              <a:buNone/>
            </a:pPr>
            <a:r>
              <a:rPr lang="en-US" sz="1600" b="1" dirty="0">
                <a:solidFill>
                  <a:srgbClr val="FFFFFF"/>
                </a:solidFill>
                <a:latin typeface="Calibri" pitchFamily="34" charset="0"/>
                <a:ea typeface="Calibri" pitchFamily="34" charset="-122"/>
                <a:cs typeface="Calibri" pitchFamily="34" charset="-120"/>
              </a:rPr>
              <a:t>Symptom Analysis</a:t>
            </a:r>
            <a:endParaRPr lang="en-US" sz="1600" dirty="0"/>
          </a:p>
        </p:txBody>
      </p:sp>
      <p:sp>
        <p:nvSpPr>
          <p:cNvPr id="30" name="Text 28"/>
          <p:cNvSpPr/>
          <p:nvPr/>
        </p:nvSpPr>
        <p:spPr>
          <a:xfrm>
            <a:off x="5234940" y="1362456"/>
            <a:ext cx="3520440" cy="365760"/>
          </a:xfrm>
          <a:prstGeom prst="rect">
            <a:avLst/>
          </a:prstGeom>
          <a:noFill/>
          <a:ln/>
        </p:spPr>
        <p:txBody>
          <a:bodyPr wrap="square" lIns="0" tIns="0" rIns="0" bIns="0" rtlCol="0" anchor="t"/>
          <a:lstStyle/>
          <a:p>
            <a:pPr marL="0" indent="0" algn="just">
              <a:buNone/>
            </a:pPr>
            <a:r>
              <a:rPr lang="en-US" sz="1200" dirty="0">
                <a:solidFill>
                  <a:srgbClr val="CADCFC"/>
                </a:solidFill>
                <a:latin typeface="Calibri" pitchFamily="34" charset="0"/>
                <a:ea typeface="Calibri" pitchFamily="34" charset="-122"/>
                <a:cs typeface="Calibri" pitchFamily="34" charset="-120"/>
              </a:rPr>
              <a:t>Ranked differential diagnosis with medication suggestions, tests &amp; prevention stored securely in Supabase.</a:t>
            </a:r>
            <a:endParaRPr lang="en-US" sz="1200" dirty="0"/>
          </a:p>
        </p:txBody>
      </p:sp>
      <p:sp>
        <p:nvSpPr>
          <p:cNvPr id="31" name="Shape 29"/>
          <p:cNvSpPr/>
          <p:nvPr/>
        </p:nvSpPr>
        <p:spPr>
          <a:xfrm>
            <a:off x="4754880" y="2029968"/>
            <a:ext cx="4069080" cy="777240"/>
          </a:xfrm>
          <a:prstGeom prst="rect">
            <a:avLst/>
          </a:prstGeom>
          <a:solidFill>
            <a:srgbClr val="0D1E3A"/>
          </a:solidFill>
          <a:ln w="12700">
            <a:solidFill>
              <a:srgbClr val="1565C0"/>
            </a:solidFill>
            <a:prstDash val="solid"/>
          </a:ln>
          <a:effectLst>
            <a:outerShdw blurRad="38100" dist="25400" dir="8100000" algn="bl" rotWithShape="0">
              <a:srgbClr val="000000">
                <a:alpha val="15000"/>
              </a:srgbClr>
            </a:outerShdw>
          </a:effectLst>
        </p:spPr>
        <p:txBody>
          <a:bodyPr/>
          <a:lstStyle/>
          <a:p>
            <a:endParaRPr lang="en-IN" sz="2400"/>
          </a:p>
        </p:txBody>
      </p:sp>
      <p:sp>
        <p:nvSpPr>
          <p:cNvPr id="32" name="Shape 30"/>
          <p:cNvSpPr/>
          <p:nvPr/>
        </p:nvSpPr>
        <p:spPr>
          <a:xfrm>
            <a:off x="4754880" y="2029968"/>
            <a:ext cx="411480" cy="777240"/>
          </a:xfrm>
          <a:prstGeom prst="rect">
            <a:avLst/>
          </a:prstGeom>
          <a:solidFill>
            <a:srgbClr val="1565C0"/>
          </a:solidFill>
          <a:ln w="12700">
            <a:solidFill>
              <a:srgbClr val="1565C0"/>
            </a:solidFill>
            <a:prstDash val="solid"/>
          </a:ln>
        </p:spPr>
        <p:txBody>
          <a:bodyPr/>
          <a:lstStyle/>
          <a:p>
            <a:endParaRPr lang="en-IN" sz="2400"/>
          </a:p>
        </p:txBody>
      </p:sp>
      <p:sp>
        <p:nvSpPr>
          <p:cNvPr id="33" name="Text 31"/>
          <p:cNvSpPr/>
          <p:nvPr/>
        </p:nvSpPr>
        <p:spPr>
          <a:xfrm>
            <a:off x="4754880" y="2029968"/>
            <a:ext cx="411480"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34" name="Text 32"/>
          <p:cNvSpPr/>
          <p:nvPr/>
        </p:nvSpPr>
        <p:spPr>
          <a:xfrm>
            <a:off x="5212080" y="2066544"/>
            <a:ext cx="3520440" cy="292608"/>
          </a:xfrm>
          <a:prstGeom prst="rect">
            <a:avLst/>
          </a:prstGeom>
          <a:noFill/>
          <a:ln/>
        </p:spPr>
        <p:txBody>
          <a:bodyPr wrap="square" lIns="0" tIns="0" rIns="0" bIns="0" rtlCol="0" anchor="b"/>
          <a:lstStyle/>
          <a:p>
            <a:pPr marL="0" indent="0" algn="l">
              <a:buNone/>
            </a:pPr>
            <a:r>
              <a:rPr lang="en-US" sz="1600" b="1" dirty="0">
                <a:solidFill>
                  <a:srgbClr val="FFFFFF"/>
                </a:solidFill>
                <a:latin typeface="Calibri" pitchFamily="34" charset="0"/>
                <a:ea typeface="Calibri" pitchFamily="34" charset="-122"/>
                <a:cs typeface="Calibri" pitchFamily="34" charset="-120"/>
              </a:rPr>
              <a:t>Emergency Triage</a:t>
            </a:r>
            <a:endParaRPr lang="en-US" sz="1600" dirty="0"/>
          </a:p>
        </p:txBody>
      </p:sp>
      <p:sp>
        <p:nvSpPr>
          <p:cNvPr id="35" name="Text 33"/>
          <p:cNvSpPr/>
          <p:nvPr/>
        </p:nvSpPr>
        <p:spPr>
          <a:xfrm>
            <a:off x="5212080" y="2395728"/>
            <a:ext cx="3520440" cy="365760"/>
          </a:xfrm>
          <a:prstGeom prst="rect">
            <a:avLst/>
          </a:prstGeom>
          <a:noFill/>
          <a:ln/>
        </p:spPr>
        <p:txBody>
          <a:bodyPr wrap="square" lIns="0" tIns="0" rIns="0" bIns="0" rtlCol="0" anchor="t"/>
          <a:lstStyle/>
          <a:p>
            <a:pPr marL="0" indent="0" algn="l">
              <a:buNone/>
            </a:pPr>
            <a:r>
              <a:rPr lang="en-US" sz="1200" dirty="0">
                <a:solidFill>
                  <a:srgbClr val="CADCFC"/>
                </a:solidFill>
                <a:latin typeface="Calibri" pitchFamily="34" charset="0"/>
                <a:ea typeface="Calibri" pitchFamily="34" charset="-122"/>
                <a:cs typeface="Calibri" pitchFamily="34" charset="-120"/>
              </a:rPr>
              <a:t>Red (Critical) / Yellow (Urgent) / Green (Stable) / Black (Deceased) with step-by-step emergency procedures.</a:t>
            </a:r>
            <a:endParaRPr lang="en-US" sz="1200" dirty="0"/>
          </a:p>
        </p:txBody>
      </p:sp>
      <p:sp>
        <p:nvSpPr>
          <p:cNvPr id="36" name="Shape 34"/>
          <p:cNvSpPr/>
          <p:nvPr/>
        </p:nvSpPr>
        <p:spPr>
          <a:xfrm>
            <a:off x="4754880" y="2944368"/>
            <a:ext cx="4069080" cy="777240"/>
          </a:xfrm>
          <a:prstGeom prst="rect">
            <a:avLst/>
          </a:prstGeom>
          <a:solidFill>
            <a:srgbClr val="0D1E3A"/>
          </a:solidFill>
          <a:ln w="12700">
            <a:solidFill>
              <a:srgbClr val="1565C0"/>
            </a:solidFill>
            <a:prstDash val="solid"/>
          </a:ln>
          <a:effectLst>
            <a:outerShdw blurRad="38100" dist="25400" dir="8100000" algn="bl" rotWithShape="0">
              <a:srgbClr val="000000">
                <a:alpha val="15000"/>
              </a:srgbClr>
            </a:outerShdw>
          </a:effectLst>
        </p:spPr>
        <p:txBody>
          <a:bodyPr/>
          <a:lstStyle/>
          <a:p>
            <a:endParaRPr lang="en-IN" sz="2400"/>
          </a:p>
        </p:txBody>
      </p:sp>
      <p:sp>
        <p:nvSpPr>
          <p:cNvPr id="37" name="Shape 35"/>
          <p:cNvSpPr/>
          <p:nvPr/>
        </p:nvSpPr>
        <p:spPr>
          <a:xfrm>
            <a:off x="4754880" y="2944368"/>
            <a:ext cx="411480" cy="777240"/>
          </a:xfrm>
          <a:prstGeom prst="rect">
            <a:avLst/>
          </a:prstGeom>
          <a:solidFill>
            <a:srgbClr val="1565C0"/>
          </a:solidFill>
          <a:ln w="12700">
            <a:solidFill>
              <a:srgbClr val="1565C0"/>
            </a:solidFill>
            <a:prstDash val="solid"/>
          </a:ln>
        </p:spPr>
        <p:txBody>
          <a:bodyPr/>
          <a:lstStyle/>
          <a:p>
            <a:endParaRPr lang="en-IN" sz="2400"/>
          </a:p>
        </p:txBody>
      </p:sp>
      <p:sp>
        <p:nvSpPr>
          <p:cNvPr id="38" name="Text 36"/>
          <p:cNvSpPr/>
          <p:nvPr/>
        </p:nvSpPr>
        <p:spPr>
          <a:xfrm>
            <a:off x="4754880" y="2944368"/>
            <a:ext cx="411480"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39" name="Text 37"/>
          <p:cNvSpPr/>
          <p:nvPr/>
        </p:nvSpPr>
        <p:spPr>
          <a:xfrm>
            <a:off x="5212080" y="2980944"/>
            <a:ext cx="3520440" cy="292608"/>
          </a:xfrm>
          <a:prstGeom prst="rect">
            <a:avLst/>
          </a:prstGeom>
          <a:noFill/>
          <a:ln/>
        </p:spPr>
        <p:txBody>
          <a:bodyPr wrap="square" lIns="0" tIns="0" rIns="0" bIns="0" rtlCol="0" anchor="b"/>
          <a:lstStyle/>
          <a:p>
            <a:pPr marL="0" indent="0" algn="l">
              <a:buNone/>
            </a:pPr>
            <a:r>
              <a:rPr lang="en-US" sz="1600" b="1" dirty="0">
                <a:solidFill>
                  <a:srgbClr val="FFFFFF"/>
                </a:solidFill>
                <a:latin typeface="Calibri" pitchFamily="34" charset="0"/>
                <a:ea typeface="Calibri" pitchFamily="34" charset="-122"/>
                <a:cs typeface="Calibri" pitchFamily="34" charset="-120"/>
              </a:rPr>
              <a:t>Hospital Locator</a:t>
            </a:r>
            <a:endParaRPr lang="en-US" sz="1600" dirty="0"/>
          </a:p>
        </p:txBody>
      </p:sp>
      <p:sp>
        <p:nvSpPr>
          <p:cNvPr id="40" name="Text 38"/>
          <p:cNvSpPr/>
          <p:nvPr/>
        </p:nvSpPr>
        <p:spPr>
          <a:xfrm>
            <a:off x="5212080" y="3310128"/>
            <a:ext cx="3520440" cy="365760"/>
          </a:xfrm>
          <a:prstGeom prst="rect">
            <a:avLst/>
          </a:prstGeom>
          <a:noFill/>
          <a:ln/>
        </p:spPr>
        <p:txBody>
          <a:bodyPr wrap="square" lIns="0" tIns="0" rIns="0" bIns="0" rtlCol="0" anchor="t"/>
          <a:lstStyle/>
          <a:p>
            <a:pPr marL="0" indent="0" algn="l">
              <a:buNone/>
            </a:pPr>
            <a:r>
              <a:rPr lang="en-US" sz="1200" dirty="0">
                <a:solidFill>
                  <a:srgbClr val="CADCFC"/>
                </a:solidFill>
                <a:latin typeface="Calibri" pitchFamily="34" charset="0"/>
                <a:ea typeface="Calibri" pitchFamily="34" charset="-122"/>
                <a:cs typeface="Calibri" pitchFamily="34" charset="-120"/>
              </a:rPr>
              <a:t>Finds &amp; ranks hospitals within 30 km via Geoapify API; verified by Mistral AI &amp; stored in Supabase.</a:t>
            </a:r>
            <a:endParaRPr lang="en-US" sz="1200" dirty="0"/>
          </a:p>
        </p:txBody>
      </p:sp>
      <p:sp>
        <p:nvSpPr>
          <p:cNvPr id="41" name="Shape 39"/>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sz="2400"/>
          </a:p>
        </p:txBody>
      </p:sp>
      <p:sp>
        <p:nvSpPr>
          <p:cNvPr id="42" name="Text 40"/>
          <p:cNvSpPr/>
          <p:nvPr/>
        </p:nvSpPr>
        <p:spPr>
          <a:xfrm>
            <a:off x="0" y="4864608"/>
            <a:ext cx="9144000" cy="278892"/>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HealthAssist AI  |  Bapatla Engineering College  |  2025-26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E5EF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E3A"/>
          </a:solidFill>
          <a:ln w="12700">
            <a:solidFill>
              <a:srgbClr val="0D1E3A"/>
            </a:solidFill>
            <a:prstDash val="solid"/>
          </a:ln>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4" name="Text 2"/>
          <p:cNvSpPr/>
          <p:nvPr/>
        </p:nvSpPr>
        <p:spPr>
          <a:xfrm>
            <a:off x="320040" y="0"/>
            <a:ext cx="6858000" cy="96012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anose="02040503050406030204" pitchFamily="18" charset="0"/>
                <a:ea typeface="Cambria" panose="02040503050406030204" pitchFamily="18" charset="0"/>
                <a:cs typeface="Times New Roman" panose="02020603050405020304" pitchFamily="18" charset="0"/>
              </a:rPr>
              <a:t>SYSTEM</a:t>
            </a:r>
            <a:r>
              <a:rPr lang="en-US" sz="4000" b="1" dirty="0">
                <a:solidFill>
                  <a:srgbClr val="FFFFFF"/>
                </a:solidFill>
                <a:latin typeface="Cambria" panose="02040503050406030204" pitchFamily="18" charset="0"/>
                <a:ea typeface="Cambria" panose="02040503050406030204" pitchFamily="18" charset="0"/>
                <a:cs typeface="Times New Roman" panose="02020603050405020304" pitchFamily="18" charset="0"/>
              </a:rPr>
              <a:t> DESIGN</a:t>
            </a:r>
            <a:endParaRPr lang="en-US" sz="4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r>
              <a:rPr lang="en-US" sz="1600" i="1" dirty="0">
                <a:solidFill>
                  <a:srgbClr val="CADCFC"/>
                </a:solidFill>
                <a:latin typeface="Cambria" panose="02040503050406030204" pitchFamily="18" charset="0"/>
                <a:ea typeface="Cambria" panose="02040503050406030204" pitchFamily="18" charset="0"/>
                <a:cs typeface="Times New Roman" panose="02020603050405020304" pitchFamily="18" charset="0"/>
              </a:rPr>
              <a:t>Multi-Layer Architecture – System Flow</a:t>
            </a:r>
            <a:endParaRPr lang="en-US" sz="1600" dirty="0">
              <a:latin typeface="Cambria" panose="02040503050406030204" pitchFamily="18" charset="0"/>
              <a:ea typeface="Cambria" panose="02040503050406030204" pitchFamily="18" charset="0"/>
              <a:cs typeface="Times New Roman" panose="02020603050405020304" pitchFamily="18" charset="0"/>
            </a:endParaRPr>
          </a:p>
        </p:txBody>
      </p:sp>
      <p:sp>
        <p:nvSpPr>
          <p:cNvPr id="6" name="Shape 4"/>
          <p:cNvSpPr/>
          <p:nvPr/>
        </p:nvSpPr>
        <p:spPr>
          <a:xfrm>
            <a:off x="548640" y="1097280"/>
            <a:ext cx="8046720" cy="594360"/>
          </a:xfrm>
          <a:prstGeom prst="rect">
            <a:avLst/>
          </a:prstGeom>
          <a:solidFill>
            <a:srgbClr val="FFFFFF"/>
          </a:solidFill>
          <a:ln w="12700">
            <a:solidFill>
              <a:srgbClr val="BDD6F5"/>
            </a:solidFill>
            <a:prstDash val="solid"/>
          </a:ln>
          <a:effectLst>
            <a:outerShdw blurRad="381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7" name="Shape 5"/>
          <p:cNvSpPr/>
          <p:nvPr/>
        </p:nvSpPr>
        <p:spPr>
          <a:xfrm>
            <a:off x="548640" y="1097280"/>
            <a:ext cx="2286000" cy="59436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8" name="Text 6"/>
          <p:cNvSpPr/>
          <p:nvPr/>
        </p:nvSpPr>
        <p:spPr>
          <a:xfrm>
            <a:off x="594360" y="1097280"/>
            <a:ext cx="2194560" cy="594360"/>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Times New Roman" panose="02020603050405020304" pitchFamily="18" charset="0"/>
              </a:rPr>
              <a:t>APPLICATION LAYER</a:t>
            </a:r>
            <a:endParaRPr lang="en-US" sz="1400" dirty="0">
              <a:latin typeface="Cambria" panose="02040503050406030204" pitchFamily="18" charset="0"/>
              <a:ea typeface="Cambria" panose="02040503050406030204" pitchFamily="18" charset="0"/>
              <a:cs typeface="Times New Roman" panose="02020603050405020304" pitchFamily="18" charset="0"/>
            </a:endParaRPr>
          </a:p>
        </p:txBody>
      </p:sp>
      <p:sp>
        <p:nvSpPr>
          <p:cNvPr id="9" name="Text 7"/>
          <p:cNvSpPr/>
          <p:nvPr/>
        </p:nvSpPr>
        <p:spPr>
          <a:xfrm>
            <a:off x="2926080" y="1097280"/>
            <a:ext cx="5577840" cy="594360"/>
          </a:xfrm>
          <a:prstGeom prst="rect">
            <a:avLst/>
          </a:prstGeom>
          <a:noFill/>
          <a:ln/>
        </p:spPr>
        <p:txBody>
          <a:bodyPr wrap="square" lIns="0" tIns="0" rIns="0" bIns="0" rtlCol="0" anchor="ctr"/>
          <a:lstStyle/>
          <a:p>
            <a:pPr marL="0" indent="0" algn="l">
              <a:buNone/>
            </a:pPr>
            <a:r>
              <a:rPr lang="en-US" sz="1600" dirty="0">
                <a:solidFill>
                  <a:srgbClr val="0D1E3A"/>
                </a:solidFill>
                <a:latin typeface="Cambria" panose="02040503050406030204" pitchFamily="18" charset="0"/>
                <a:ea typeface="Cambria" panose="02040503050406030204" pitchFamily="18" charset="0"/>
                <a:cs typeface="Times New Roman" panose="02020603050405020304" pitchFamily="18" charset="0"/>
              </a:rPr>
              <a:t>User Interface (Login · Signup · Chat)</a:t>
            </a:r>
            <a:endParaRPr lang="en-US" sz="16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0" name="Shape 8"/>
          <p:cNvSpPr/>
          <p:nvPr/>
        </p:nvSpPr>
        <p:spPr>
          <a:xfrm>
            <a:off x="4434840" y="1691640"/>
            <a:ext cx="274320" cy="13716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11" name="Shape 9"/>
          <p:cNvSpPr/>
          <p:nvPr/>
        </p:nvSpPr>
        <p:spPr>
          <a:xfrm>
            <a:off x="548640" y="1828800"/>
            <a:ext cx="8046720" cy="594360"/>
          </a:xfrm>
          <a:prstGeom prst="rect">
            <a:avLst/>
          </a:prstGeom>
          <a:solidFill>
            <a:srgbClr val="FFFFFF"/>
          </a:solidFill>
          <a:ln w="12700">
            <a:solidFill>
              <a:srgbClr val="BDD6F5"/>
            </a:solidFill>
            <a:prstDash val="solid"/>
          </a:ln>
          <a:effectLst>
            <a:outerShdw blurRad="381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12" name="Shape 10"/>
          <p:cNvSpPr/>
          <p:nvPr/>
        </p:nvSpPr>
        <p:spPr>
          <a:xfrm>
            <a:off x="548640" y="1828800"/>
            <a:ext cx="2286000" cy="594360"/>
          </a:xfrm>
          <a:prstGeom prst="rect">
            <a:avLst/>
          </a:prstGeom>
          <a:solidFill>
            <a:srgbClr val="1565C0"/>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13" name="Text 11"/>
          <p:cNvSpPr/>
          <p:nvPr/>
        </p:nvSpPr>
        <p:spPr>
          <a:xfrm>
            <a:off x="594360" y="1828800"/>
            <a:ext cx="2194560" cy="594360"/>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Times New Roman" panose="02020603050405020304" pitchFamily="18" charset="0"/>
              </a:rPr>
              <a:t>AUTH LAYER</a:t>
            </a:r>
            <a:endParaRPr lang="en-US" sz="14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4" name="Text 12"/>
          <p:cNvSpPr/>
          <p:nvPr/>
        </p:nvSpPr>
        <p:spPr>
          <a:xfrm>
            <a:off x="2926080" y="1828800"/>
            <a:ext cx="5577840" cy="594360"/>
          </a:xfrm>
          <a:prstGeom prst="rect">
            <a:avLst/>
          </a:prstGeom>
          <a:noFill/>
          <a:ln/>
        </p:spPr>
        <p:txBody>
          <a:bodyPr wrap="square" lIns="0" tIns="0" rIns="0" bIns="0" rtlCol="0" anchor="ctr"/>
          <a:lstStyle/>
          <a:p>
            <a:pPr marL="0" indent="0" algn="l">
              <a:buNone/>
            </a:pPr>
            <a:r>
              <a:rPr lang="en-US" sz="1600" dirty="0">
                <a:solidFill>
                  <a:srgbClr val="0D1E3A"/>
                </a:solidFill>
                <a:latin typeface="Cambria" panose="02040503050406030204" pitchFamily="18" charset="0"/>
                <a:ea typeface="Cambria" panose="02040503050406030204" pitchFamily="18" charset="0"/>
                <a:cs typeface="Times New Roman" panose="02020603050405020304" pitchFamily="18" charset="0"/>
              </a:rPr>
              <a:t>Supabase Auth · SHA-256 Password Encryption · Session Management</a:t>
            </a:r>
            <a:endParaRPr lang="en-US" sz="16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Shape 13"/>
          <p:cNvSpPr/>
          <p:nvPr/>
        </p:nvSpPr>
        <p:spPr>
          <a:xfrm>
            <a:off x="4434840" y="2423160"/>
            <a:ext cx="274320" cy="13716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16" name="Shape 14"/>
          <p:cNvSpPr/>
          <p:nvPr/>
        </p:nvSpPr>
        <p:spPr>
          <a:xfrm>
            <a:off x="548640" y="2560320"/>
            <a:ext cx="8046720" cy="594360"/>
          </a:xfrm>
          <a:prstGeom prst="rect">
            <a:avLst/>
          </a:prstGeom>
          <a:solidFill>
            <a:srgbClr val="FFFFFF"/>
          </a:solidFill>
          <a:ln w="12700">
            <a:solidFill>
              <a:srgbClr val="BDD6F5"/>
            </a:solidFill>
            <a:prstDash val="solid"/>
          </a:ln>
          <a:effectLst>
            <a:outerShdw blurRad="381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17" name="Shape 15"/>
          <p:cNvSpPr/>
          <p:nvPr/>
        </p:nvSpPr>
        <p:spPr>
          <a:xfrm>
            <a:off x="548640" y="2560320"/>
            <a:ext cx="2286000" cy="594360"/>
          </a:xfrm>
          <a:prstGeom prst="rect">
            <a:avLst/>
          </a:prstGeom>
          <a:solidFill>
            <a:srgbClr val="0B3A7A"/>
          </a:solidFill>
          <a:ln w="12700">
            <a:solidFill>
              <a:srgbClr val="0B3A7A"/>
            </a:solidFill>
            <a:prstDash val="solid"/>
          </a:ln>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18" name="Text 16"/>
          <p:cNvSpPr/>
          <p:nvPr/>
        </p:nvSpPr>
        <p:spPr>
          <a:xfrm>
            <a:off x="594360" y="2560320"/>
            <a:ext cx="2194560" cy="594360"/>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Times New Roman" panose="02020603050405020304" pitchFamily="18" charset="0"/>
              </a:rPr>
              <a:t>SERVER LAYER</a:t>
            </a:r>
            <a:endParaRPr lang="en-US" sz="14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9" name="Text 17"/>
          <p:cNvSpPr/>
          <p:nvPr/>
        </p:nvSpPr>
        <p:spPr>
          <a:xfrm>
            <a:off x="2926080" y="2560320"/>
            <a:ext cx="5577840" cy="594360"/>
          </a:xfrm>
          <a:prstGeom prst="rect">
            <a:avLst/>
          </a:prstGeom>
          <a:noFill/>
          <a:ln/>
        </p:spPr>
        <p:txBody>
          <a:bodyPr wrap="square" lIns="0" tIns="0" rIns="0" bIns="0" rtlCol="0" anchor="ctr"/>
          <a:lstStyle/>
          <a:p>
            <a:pPr marL="0" indent="0" algn="l">
              <a:buNone/>
            </a:pPr>
            <a:r>
              <a:rPr lang="en-US" sz="1600" dirty="0">
                <a:solidFill>
                  <a:srgbClr val="0D1E3A"/>
                </a:solidFill>
                <a:latin typeface="Cambria" panose="02040503050406030204" pitchFamily="18" charset="0"/>
                <a:ea typeface="Cambria" panose="02040503050406030204" pitchFamily="18" charset="0"/>
                <a:cs typeface="Times New Roman" panose="02020603050405020304" pitchFamily="18" charset="0"/>
              </a:rPr>
              <a:t>Application Server · Request Handling · Chat Flow Controller &amp; Routing</a:t>
            </a:r>
            <a:endParaRPr lang="en-US" sz="1600" dirty="0">
              <a:latin typeface="Cambria" panose="02040503050406030204" pitchFamily="18" charset="0"/>
              <a:ea typeface="Cambria" panose="02040503050406030204" pitchFamily="18" charset="0"/>
              <a:cs typeface="Times New Roman" panose="02020603050405020304" pitchFamily="18" charset="0"/>
            </a:endParaRPr>
          </a:p>
        </p:txBody>
      </p:sp>
      <p:sp>
        <p:nvSpPr>
          <p:cNvPr id="20" name="Shape 18"/>
          <p:cNvSpPr/>
          <p:nvPr/>
        </p:nvSpPr>
        <p:spPr>
          <a:xfrm>
            <a:off x="4434840" y="3154680"/>
            <a:ext cx="274320" cy="13716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21" name="Shape 19"/>
          <p:cNvSpPr/>
          <p:nvPr/>
        </p:nvSpPr>
        <p:spPr>
          <a:xfrm>
            <a:off x="548640" y="3291840"/>
            <a:ext cx="8046720" cy="594360"/>
          </a:xfrm>
          <a:prstGeom prst="rect">
            <a:avLst/>
          </a:prstGeom>
          <a:solidFill>
            <a:srgbClr val="FFFFFF"/>
          </a:solidFill>
          <a:ln w="12700">
            <a:solidFill>
              <a:srgbClr val="BDD6F5"/>
            </a:solidFill>
            <a:prstDash val="solid"/>
          </a:ln>
          <a:effectLst>
            <a:outerShdw blurRad="381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22" name="Shape 20"/>
          <p:cNvSpPr/>
          <p:nvPr/>
        </p:nvSpPr>
        <p:spPr>
          <a:xfrm>
            <a:off x="548640" y="3291840"/>
            <a:ext cx="2286000" cy="594360"/>
          </a:xfrm>
          <a:prstGeom prst="rect">
            <a:avLst/>
          </a:prstGeom>
          <a:solidFill>
            <a:srgbClr val="0D1E3A"/>
          </a:solidFill>
          <a:ln w="12700">
            <a:solidFill>
              <a:srgbClr val="0D1E3A"/>
            </a:solidFill>
            <a:prstDash val="solid"/>
          </a:ln>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23" name="Text 21"/>
          <p:cNvSpPr/>
          <p:nvPr/>
        </p:nvSpPr>
        <p:spPr>
          <a:xfrm>
            <a:off x="594360" y="3291840"/>
            <a:ext cx="2194560" cy="594360"/>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Times New Roman" panose="02020603050405020304" pitchFamily="18" charset="0"/>
              </a:rPr>
              <a:t>AI MODEL LAYER</a:t>
            </a:r>
            <a:endParaRPr lang="en-US" sz="1400" dirty="0">
              <a:latin typeface="Cambria" panose="02040503050406030204" pitchFamily="18" charset="0"/>
              <a:ea typeface="Cambria" panose="02040503050406030204" pitchFamily="18" charset="0"/>
              <a:cs typeface="Times New Roman" panose="02020603050405020304" pitchFamily="18" charset="0"/>
            </a:endParaRPr>
          </a:p>
        </p:txBody>
      </p:sp>
      <p:sp>
        <p:nvSpPr>
          <p:cNvPr id="24" name="Text 22"/>
          <p:cNvSpPr/>
          <p:nvPr/>
        </p:nvSpPr>
        <p:spPr>
          <a:xfrm>
            <a:off x="2926080" y="3291840"/>
            <a:ext cx="5577840" cy="594360"/>
          </a:xfrm>
          <a:prstGeom prst="rect">
            <a:avLst/>
          </a:prstGeom>
          <a:noFill/>
          <a:ln/>
        </p:spPr>
        <p:txBody>
          <a:bodyPr wrap="square" lIns="0" tIns="0" rIns="0" bIns="0" rtlCol="0" anchor="ctr"/>
          <a:lstStyle/>
          <a:p>
            <a:pPr marL="0" indent="0" algn="l">
              <a:buNone/>
            </a:pPr>
            <a:r>
              <a:rPr lang="en-US" sz="1600" dirty="0">
                <a:solidFill>
                  <a:srgbClr val="0D1E3A"/>
                </a:solidFill>
                <a:latin typeface="Cambria" panose="02040503050406030204" pitchFamily="18" charset="0"/>
                <a:ea typeface="Cambria" panose="02040503050406030204" pitchFamily="18" charset="0"/>
                <a:cs typeface="Times New Roman" panose="02020603050405020304" pitchFamily="18" charset="0"/>
              </a:rPr>
              <a:t>Mistral Large 3 · Structured Prompts · 7 Clinical Modules · OCR Engine</a:t>
            </a:r>
            <a:endParaRPr lang="en-US" sz="1600" dirty="0">
              <a:latin typeface="Cambria" panose="02040503050406030204" pitchFamily="18" charset="0"/>
              <a:ea typeface="Cambria" panose="02040503050406030204" pitchFamily="18" charset="0"/>
              <a:cs typeface="Times New Roman" panose="02020603050405020304" pitchFamily="18" charset="0"/>
            </a:endParaRPr>
          </a:p>
        </p:txBody>
      </p:sp>
      <p:sp>
        <p:nvSpPr>
          <p:cNvPr id="25" name="Shape 23"/>
          <p:cNvSpPr/>
          <p:nvPr/>
        </p:nvSpPr>
        <p:spPr>
          <a:xfrm>
            <a:off x="4434840" y="3886200"/>
            <a:ext cx="274320" cy="13716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26" name="Shape 24"/>
          <p:cNvSpPr/>
          <p:nvPr/>
        </p:nvSpPr>
        <p:spPr>
          <a:xfrm>
            <a:off x="548640" y="4023360"/>
            <a:ext cx="8046720" cy="594360"/>
          </a:xfrm>
          <a:prstGeom prst="rect">
            <a:avLst/>
          </a:prstGeom>
          <a:solidFill>
            <a:srgbClr val="FFFFFF"/>
          </a:solidFill>
          <a:ln w="12700">
            <a:solidFill>
              <a:srgbClr val="BDD6F5"/>
            </a:solidFill>
            <a:prstDash val="solid"/>
          </a:ln>
          <a:effectLst>
            <a:outerShdw blurRad="381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27" name="Shape 25"/>
          <p:cNvSpPr/>
          <p:nvPr/>
        </p:nvSpPr>
        <p:spPr>
          <a:xfrm>
            <a:off x="548640" y="4023360"/>
            <a:ext cx="2286000" cy="59436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28" name="Text 26"/>
          <p:cNvSpPr/>
          <p:nvPr/>
        </p:nvSpPr>
        <p:spPr>
          <a:xfrm>
            <a:off x="594360" y="4023360"/>
            <a:ext cx="2194560" cy="594360"/>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Times New Roman" panose="02020603050405020304" pitchFamily="18" charset="0"/>
              </a:rPr>
              <a:t>DATABASE LAYER</a:t>
            </a:r>
            <a:endParaRPr lang="en-US" sz="1400" dirty="0">
              <a:latin typeface="Cambria" panose="02040503050406030204" pitchFamily="18" charset="0"/>
              <a:ea typeface="Cambria" panose="02040503050406030204" pitchFamily="18" charset="0"/>
              <a:cs typeface="Times New Roman" panose="02020603050405020304" pitchFamily="18" charset="0"/>
            </a:endParaRPr>
          </a:p>
        </p:txBody>
      </p:sp>
      <p:sp>
        <p:nvSpPr>
          <p:cNvPr id="29" name="Text 27"/>
          <p:cNvSpPr/>
          <p:nvPr/>
        </p:nvSpPr>
        <p:spPr>
          <a:xfrm>
            <a:off x="2926080" y="4023360"/>
            <a:ext cx="5577840" cy="594360"/>
          </a:xfrm>
          <a:prstGeom prst="rect">
            <a:avLst/>
          </a:prstGeom>
          <a:noFill/>
          <a:ln/>
        </p:spPr>
        <p:txBody>
          <a:bodyPr wrap="square" lIns="0" tIns="0" rIns="0" bIns="0" rtlCol="0" anchor="ctr"/>
          <a:lstStyle/>
          <a:p>
            <a:pPr marL="0" indent="0" algn="l">
              <a:buNone/>
            </a:pPr>
            <a:r>
              <a:rPr lang="en-US" sz="1600" dirty="0">
                <a:solidFill>
                  <a:srgbClr val="0D1E3A"/>
                </a:solidFill>
                <a:latin typeface="Cambria" panose="02040503050406030204" pitchFamily="18" charset="0"/>
                <a:ea typeface="Cambria" panose="02040503050406030204" pitchFamily="18" charset="0"/>
                <a:cs typeface="Times New Roman" panose="02020603050405020304" pitchFamily="18" charset="0"/>
              </a:rPr>
              <a:t>Supabase PostgreSQL · Conversation History · Load &amp; Restore</a:t>
            </a:r>
            <a:endParaRPr lang="en-US" sz="1600" dirty="0">
              <a:latin typeface="Cambria" panose="02040503050406030204" pitchFamily="18" charset="0"/>
              <a:ea typeface="Cambria" panose="02040503050406030204" pitchFamily="18" charset="0"/>
              <a:cs typeface="Times New Roman" panose="02020603050405020304" pitchFamily="18" charset="0"/>
            </a:endParaRPr>
          </a:p>
        </p:txBody>
      </p:sp>
      <p:sp>
        <p:nvSpPr>
          <p:cNvPr id="30" name="Text 28"/>
          <p:cNvSpPr/>
          <p:nvPr/>
        </p:nvSpPr>
        <p:spPr>
          <a:xfrm>
            <a:off x="548640" y="4681728"/>
            <a:ext cx="8046720" cy="182880"/>
          </a:xfrm>
          <a:prstGeom prst="rect">
            <a:avLst/>
          </a:prstGeom>
          <a:noFill/>
          <a:ln/>
        </p:spPr>
        <p:txBody>
          <a:bodyPr wrap="square" rtlCol="0" anchor="ctr"/>
          <a:lstStyle/>
          <a:p>
            <a:pPr marL="0" indent="0" algn="ctr">
              <a:buNone/>
            </a:pPr>
            <a:r>
              <a:rPr lang="en-US" sz="1200" i="1" dirty="0">
                <a:solidFill>
                  <a:srgbClr val="0B3A7A"/>
                </a:solidFill>
                <a:latin typeface="Cambria" panose="02040503050406030204" pitchFamily="18" charset="0"/>
                <a:ea typeface="Cambria" panose="02040503050406030204" pitchFamily="18" charset="0"/>
                <a:cs typeface="Times New Roman" panose="02020603050405020304" pitchFamily="18" charset="0"/>
              </a:rPr>
              <a:t>Each layer communicates unidirectionally. All data encrypted &amp; routed through secure Supabase storage.</a:t>
            </a:r>
            <a:endParaRPr lang="en-US" sz="1200" dirty="0">
              <a:latin typeface="Cambria" panose="02040503050406030204" pitchFamily="18" charset="0"/>
              <a:ea typeface="Cambria" panose="02040503050406030204" pitchFamily="18" charset="0"/>
              <a:cs typeface="Times New Roman" panose="02020603050405020304" pitchFamily="18" charset="0"/>
            </a:endParaRPr>
          </a:p>
        </p:txBody>
      </p:sp>
      <p:sp>
        <p:nvSpPr>
          <p:cNvPr id="31" name="Shape 29"/>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sz="2400">
              <a:latin typeface="Cambria" panose="02040503050406030204" pitchFamily="18" charset="0"/>
              <a:ea typeface="Cambria" panose="02040503050406030204" pitchFamily="18" charset="0"/>
              <a:cs typeface="Times New Roman" panose="02020603050405020304" pitchFamily="18" charset="0"/>
            </a:endParaRPr>
          </a:p>
        </p:txBody>
      </p:sp>
      <p:sp>
        <p:nvSpPr>
          <p:cNvPr id="32" name="Text 30"/>
          <p:cNvSpPr/>
          <p:nvPr/>
        </p:nvSpPr>
        <p:spPr>
          <a:xfrm>
            <a:off x="0" y="4864608"/>
            <a:ext cx="9144000" cy="278892"/>
          </a:xfrm>
          <a:prstGeom prst="rect">
            <a:avLst/>
          </a:prstGeom>
          <a:noFill/>
          <a:ln/>
        </p:spPr>
        <p:txBody>
          <a:bodyPr wrap="square" lIns="0" tIns="0" rIns="0" bIns="0" rtlCol="0" anchor="ctr"/>
          <a:lstStyle/>
          <a:p>
            <a:pPr marL="0" indent="0" algn="ctr">
              <a:buNone/>
            </a:pPr>
            <a:r>
              <a:rPr lang="en-US" sz="1100" dirty="0">
                <a:solidFill>
                  <a:srgbClr val="FFFFFF"/>
                </a:solidFill>
                <a:latin typeface="Cambria" panose="02040503050406030204" pitchFamily="18" charset="0"/>
                <a:ea typeface="Cambria" panose="02040503050406030204" pitchFamily="18" charset="0"/>
                <a:cs typeface="Times New Roman" panose="02020603050405020304" pitchFamily="18" charset="0"/>
              </a:rPr>
              <a:t>HealthAssist AI  |  Bapatla Engineering College  |  2025-26</a:t>
            </a:r>
            <a:endParaRPr lang="en-US" sz="1100" dirty="0">
              <a:latin typeface="Cambria" panose="020405030504060302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1020"/>
          </a:solidFill>
          <a:ln w="12700">
            <a:solidFill>
              <a:srgbClr val="071020"/>
            </a:solidFill>
            <a:prstDash val="solid"/>
          </a:ln>
        </p:spPr>
        <p:txBody>
          <a:bodyPr/>
          <a:lstStyle/>
          <a:p>
            <a:endParaRPr lang="en-IN"/>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a:p>
        </p:txBody>
      </p:sp>
      <p:sp>
        <p:nvSpPr>
          <p:cNvPr id="4" name="Text 2"/>
          <p:cNvSpPr/>
          <p:nvPr/>
        </p:nvSpPr>
        <p:spPr>
          <a:xfrm>
            <a:off x="320040" y="0"/>
            <a:ext cx="8503920" cy="96012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DESIGN – MISTRAL LARGE 3 ARCHITECTURE</a:t>
            </a:r>
            <a:endParaRPr lang="en-US" sz="3600" dirty="0"/>
          </a:p>
        </p:txBody>
      </p:sp>
      <p:sp>
        <p:nvSpPr>
          <p:cNvPr id="5" name="Text 3"/>
          <p:cNvSpPr/>
          <p:nvPr/>
        </p:nvSpPr>
        <p:spPr>
          <a:xfrm>
            <a:off x="320040" y="0"/>
            <a:ext cx="8823960" cy="960120"/>
          </a:xfrm>
          <a:prstGeom prst="rect">
            <a:avLst/>
          </a:prstGeom>
          <a:noFill/>
          <a:ln/>
        </p:spPr>
        <p:txBody>
          <a:bodyPr wrap="square" lIns="0" tIns="0" rIns="0" bIns="0" rtlCol="0" anchor="ctr"/>
          <a:lstStyle/>
          <a:p>
            <a:pPr marL="0" indent="0" algn="r">
              <a:buNone/>
            </a:pPr>
            <a:endParaRPr lang="en-US" sz="1300" dirty="0"/>
          </a:p>
        </p:txBody>
      </p:sp>
      <p:sp>
        <p:nvSpPr>
          <p:cNvPr id="6" name="Shape 4"/>
          <p:cNvSpPr/>
          <p:nvPr/>
        </p:nvSpPr>
        <p:spPr>
          <a:xfrm>
            <a:off x="6492240" y="1078992"/>
            <a:ext cx="2331720" cy="3730752"/>
          </a:xfrm>
          <a:prstGeom prst="rect">
            <a:avLst/>
          </a:prstGeom>
          <a:solidFill>
            <a:srgbClr val="0D1E3A"/>
          </a:solidFill>
          <a:ln w="12700">
            <a:solidFill>
              <a:srgbClr val="1A6FD4"/>
            </a:solidFill>
            <a:prstDash val="solid"/>
          </a:ln>
        </p:spPr>
        <p:txBody>
          <a:bodyPr/>
          <a:lstStyle/>
          <a:p>
            <a:endParaRPr lang="en-IN"/>
          </a:p>
        </p:txBody>
      </p:sp>
      <p:sp>
        <p:nvSpPr>
          <p:cNvPr id="7" name="Shape 5"/>
          <p:cNvSpPr/>
          <p:nvPr/>
        </p:nvSpPr>
        <p:spPr>
          <a:xfrm>
            <a:off x="6492240" y="1078992"/>
            <a:ext cx="2331720" cy="347472"/>
          </a:xfrm>
          <a:prstGeom prst="rect">
            <a:avLst/>
          </a:prstGeom>
          <a:solidFill>
            <a:srgbClr val="1A6FD4"/>
          </a:solidFill>
          <a:ln w="12700">
            <a:solidFill>
              <a:srgbClr val="1A6FD4"/>
            </a:solidFill>
            <a:prstDash val="solid"/>
          </a:ln>
        </p:spPr>
        <p:txBody>
          <a:bodyPr/>
          <a:lstStyle/>
          <a:p>
            <a:endParaRPr lang="en-IN"/>
          </a:p>
        </p:txBody>
      </p:sp>
      <p:sp>
        <p:nvSpPr>
          <p:cNvPr id="8" name="Text 6"/>
          <p:cNvSpPr/>
          <p:nvPr/>
        </p:nvSpPr>
        <p:spPr>
          <a:xfrm>
            <a:off x="6492240" y="1078992"/>
            <a:ext cx="23317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 SPECS</a:t>
            </a:r>
            <a:endParaRPr lang="en-US" sz="1200" dirty="0"/>
          </a:p>
        </p:txBody>
      </p:sp>
      <p:sp>
        <p:nvSpPr>
          <p:cNvPr id="9" name="Text 7"/>
          <p:cNvSpPr/>
          <p:nvPr/>
        </p:nvSpPr>
        <p:spPr>
          <a:xfrm>
            <a:off x="6537960" y="1481328"/>
            <a:ext cx="1371600" cy="329184"/>
          </a:xfrm>
          <a:prstGeom prst="rect">
            <a:avLst/>
          </a:prstGeom>
          <a:noFill/>
          <a:ln/>
        </p:spPr>
        <p:txBody>
          <a:bodyPr wrap="square" lIns="0" tIns="0" rIns="0" bIns="0"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Total Parameters:</a:t>
            </a:r>
            <a:endParaRPr lang="en-US" sz="1000" dirty="0"/>
          </a:p>
        </p:txBody>
      </p:sp>
      <p:sp>
        <p:nvSpPr>
          <p:cNvPr id="10" name="Text 8"/>
          <p:cNvSpPr/>
          <p:nvPr/>
        </p:nvSpPr>
        <p:spPr>
          <a:xfrm>
            <a:off x="7315200" y="1481328"/>
            <a:ext cx="1463040" cy="329184"/>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675 Billion</a:t>
            </a:r>
            <a:endParaRPr lang="en-US" sz="1000" dirty="0"/>
          </a:p>
        </p:txBody>
      </p:sp>
      <p:sp>
        <p:nvSpPr>
          <p:cNvPr id="11" name="Text 9"/>
          <p:cNvSpPr/>
          <p:nvPr/>
        </p:nvSpPr>
        <p:spPr>
          <a:xfrm>
            <a:off x="6537960" y="1865376"/>
            <a:ext cx="1371600" cy="329184"/>
          </a:xfrm>
          <a:prstGeom prst="rect">
            <a:avLst/>
          </a:prstGeom>
          <a:noFill/>
          <a:ln/>
        </p:spPr>
        <p:txBody>
          <a:bodyPr wrap="square" lIns="0" tIns="0" rIns="0" bIns="0"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Active Parameters:</a:t>
            </a:r>
            <a:endParaRPr lang="en-US" sz="1000" dirty="0"/>
          </a:p>
        </p:txBody>
      </p:sp>
      <p:sp>
        <p:nvSpPr>
          <p:cNvPr id="12" name="Text 10"/>
          <p:cNvSpPr/>
          <p:nvPr/>
        </p:nvSpPr>
        <p:spPr>
          <a:xfrm>
            <a:off x="7315200" y="1865376"/>
            <a:ext cx="1463040" cy="329184"/>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41 Billion</a:t>
            </a:r>
            <a:endParaRPr lang="en-US" sz="1000" dirty="0"/>
          </a:p>
        </p:txBody>
      </p:sp>
      <p:sp>
        <p:nvSpPr>
          <p:cNvPr id="13" name="Text 11"/>
          <p:cNvSpPr/>
          <p:nvPr/>
        </p:nvSpPr>
        <p:spPr>
          <a:xfrm>
            <a:off x="6537960" y="2249424"/>
            <a:ext cx="1371600" cy="329184"/>
          </a:xfrm>
          <a:prstGeom prst="rect">
            <a:avLst/>
          </a:prstGeom>
          <a:noFill/>
          <a:ln/>
        </p:spPr>
        <p:txBody>
          <a:bodyPr wrap="square" lIns="0" tIns="0" rIns="0" bIns="0"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Vision Encoder:</a:t>
            </a:r>
            <a:endParaRPr lang="en-US" sz="1000" dirty="0"/>
          </a:p>
        </p:txBody>
      </p:sp>
      <p:sp>
        <p:nvSpPr>
          <p:cNvPr id="14" name="Text 12"/>
          <p:cNvSpPr/>
          <p:nvPr/>
        </p:nvSpPr>
        <p:spPr>
          <a:xfrm>
            <a:off x="7315200" y="2249424"/>
            <a:ext cx="1463040" cy="329184"/>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2.5B Params</a:t>
            </a:r>
            <a:endParaRPr lang="en-US" sz="1000" dirty="0"/>
          </a:p>
        </p:txBody>
      </p:sp>
      <p:sp>
        <p:nvSpPr>
          <p:cNvPr id="15" name="Text 13"/>
          <p:cNvSpPr/>
          <p:nvPr/>
        </p:nvSpPr>
        <p:spPr>
          <a:xfrm>
            <a:off x="6537960" y="2633472"/>
            <a:ext cx="1371600" cy="329184"/>
          </a:xfrm>
          <a:prstGeom prst="rect">
            <a:avLst/>
          </a:prstGeom>
          <a:noFill/>
          <a:ln/>
        </p:spPr>
        <p:txBody>
          <a:bodyPr wrap="square" lIns="0" tIns="0" rIns="0" bIns="0"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Context Window:</a:t>
            </a:r>
            <a:endParaRPr lang="en-US" sz="1000" dirty="0"/>
          </a:p>
        </p:txBody>
      </p:sp>
      <p:sp>
        <p:nvSpPr>
          <p:cNvPr id="16" name="Text 14"/>
          <p:cNvSpPr/>
          <p:nvPr/>
        </p:nvSpPr>
        <p:spPr>
          <a:xfrm>
            <a:off x="7315200" y="2633472"/>
            <a:ext cx="1463040" cy="329184"/>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256K Tokens</a:t>
            </a:r>
            <a:endParaRPr lang="en-US" sz="1000" dirty="0"/>
          </a:p>
        </p:txBody>
      </p:sp>
      <p:sp>
        <p:nvSpPr>
          <p:cNvPr id="17" name="Text 15"/>
          <p:cNvSpPr/>
          <p:nvPr/>
        </p:nvSpPr>
        <p:spPr>
          <a:xfrm>
            <a:off x="6537960" y="3017520"/>
            <a:ext cx="1371600" cy="329184"/>
          </a:xfrm>
          <a:prstGeom prst="rect">
            <a:avLst/>
          </a:prstGeom>
          <a:noFill/>
          <a:ln/>
        </p:spPr>
        <p:txBody>
          <a:bodyPr wrap="square" lIns="0" tIns="0" rIns="0" bIns="0"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Attention Heads:</a:t>
            </a:r>
            <a:endParaRPr lang="en-US" sz="1000" dirty="0"/>
          </a:p>
        </p:txBody>
      </p:sp>
      <p:sp>
        <p:nvSpPr>
          <p:cNvPr id="18" name="Text 16"/>
          <p:cNvSpPr/>
          <p:nvPr/>
        </p:nvSpPr>
        <p:spPr>
          <a:xfrm>
            <a:off x="7315200" y="3017520"/>
            <a:ext cx="1463040" cy="329184"/>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128 Heads</a:t>
            </a:r>
            <a:endParaRPr lang="en-US" sz="1000" dirty="0"/>
          </a:p>
        </p:txBody>
      </p:sp>
      <p:sp>
        <p:nvSpPr>
          <p:cNvPr id="19" name="Text 17"/>
          <p:cNvSpPr/>
          <p:nvPr/>
        </p:nvSpPr>
        <p:spPr>
          <a:xfrm>
            <a:off x="6537960" y="3401568"/>
            <a:ext cx="1371600" cy="329184"/>
          </a:xfrm>
          <a:prstGeom prst="rect">
            <a:avLst/>
          </a:prstGeom>
          <a:noFill/>
          <a:ln/>
        </p:spPr>
        <p:txBody>
          <a:bodyPr wrap="square" lIns="0" tIns="0" rIns="0" bIns="0"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Architecture:</a:t>
            </a:r>
            <a:endParaRPr lang="en-US" sz="1000" dirty="0"/>
          </a:p>
        </p:txBody>
      </p:sp>
      <p:sp>
        <p:nvSpPr>
          <p:cNvPr id="20" name="Text 18"/>
          <p:cNvSpPr/>
          <p:nvPr/>
        </p:nvSpPr>
        <p:spPr>
          <a:xfrm>
            <a:off x="7315200" y="3401568"/>
            <a:ext cx="1463040" cy="329184"/>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MoE + MLA</a:t>
            </a:r>
            <a:endParaRPr lang="en-US" sz="1000" dirty="0"/>
          </a:p>
        </p:txBody>
      </p:sp>
      <p:sp>
        <p:nvSpPr>
          <p:cNvPr id="21" name="Text 19"/>
          <p:cNvSpPr/>
          <p:nvPr/>
        </p:nvSpPr>
        <p:spPr>
          <a:xfrm>
            <a:off x="6537960" y="3785616"/>
            <a:ext cx="1371600" cy="329184"/>
          </a:xfrm>
          <a:prstGeom prst="rect">
            <a:avLst/>
          </a:prstGeom>
          <a:noFill/>
          <a:ln/>
        </p:spPr>
        <p:txBody>
          <a:bodyPr wrap="square" lIns="0" tIns="0" rIns="0" bIns="0"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Precision:</a:t>
            </a:r>
            <a:endParaRPr lang="en-US" sz="1000" dirty="0"/>
          </a:p>
        </p:txBody>
      </p:sp>
      <p:sp>
        <p:nvSpPr>
          <p:cNvPr id="22" name="Text 20"/>
          <p:cNvSpPr/>
          <p:nvPr/>
        </p:nvSpPr>
        <p:spPr>
          <a:xfrm>
            <a:off x="7315200" y="3785616"/>
            <a:ext cx="1463040" cy="329184"/>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FP8 / BF16</a:t>
            </a:r>
            <a:endParaRPr lang="en-US" sz="1000" dirty="0"/>
          </a:p>
        </p:txBody>
      </p:sp>
      <p:sp>
        <p:nvSpPr>
          <p:cNvPr id="23" name="Text 21"/>
          <p:cNvSpPr/>
          <p:nvPr/>
        </p:nvSpPr>
        <p:spPr>
          <a:xfrm>
            <a:off x="6537960" y="4169664"/>
            <a:ext cx="1371600" cy="329184"/>
          </a:xfrm>
          <a:prstGeom prst="rect">
            <a:avLst/>
          </a:prstGeom>
          <a:noFill/>
          <a:ln/>
        </p:spPr>
        <p:txBody>
          <a:bodyPr wrap="square" lIns="0" tIns="0" rIns="0" bIns="0"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Output:</a:t>
            </a:r>
            <a:endParaRPr lang="en-US" sz="1000" dirty="0"/>
          </a:p>
        </p:txBody>
      </p:sp>
      <p:sp>
        <p:nvSpPr>
          <p:cNvPr id="24" name="Text 22"/>
          <p:cNvSpPr/>
          <p:nvPr/>
        </p:nvSpPr>
        <p:spPr>
          <a:xfrm>
            <a:off x="7315200" y="4169664"/>
            <a:ext cx="1463040" cy="329184"/>
          </a:xfrm>
          <a:prstGeom prst="rect">
            <a:avLst/>
          </a:prstGeom>
          <a:noFill/>
          <a:ln/>
        </p:spPr>
        <p:txBody>
          <a:bodyPr wrap="square" lIns="0" tIns="0" rIns="0" bIns="0" rtlCol="0" anchor="ctr"/>
          <a:lstStyle/>
          <a:p>
            <a:pPr marL="0" indent="0" algn="r">
              <a:buNone/>
            </a:pPr>
            <a:r>
              <a:rPr lang="en-US" sz="1000" b="1" dirty="0">
                <a:solidFill>
                  <a:srgbClr val="FFFFFF"/>
                </a:solidFill>
                <a:latin typeface="Calibri" pitchFamily="34" charset="0"/>
                <a:ea typeface="Calibri" pitchFamily="34" charset="-122"/>
                <a:cs typeface="Calibri" pitchFamily="34" charset="-120"/>
              </a:rPr>
              <a:t>Next-token logits</a:t>
            </a:r>
            <a:endParaRPr lang="en-US" sz="1000" dirty="0"/>
          </a:p>
        </p:txBody>
      </p:sp>
      <p:sp>
        <p:nvSpPr>
          <p:cNvPr id="26" name="Shape 24"/>
          <p:cNvSpPr/>
          <p:nvPr/>
        </p:nvSpPr>
        <p:spPr>
          <a:xfrm>
            <a:off x="320040" y="1115568"/>
            <a:ext cx="45720" cy="502920"/>
          </a:xfrm>
          <a:prstGeom prst="rect">
            <a:avLst/>
          </a:prstGeom>
          <a:solidFill>
            <a:srgbClr val="1A6FD4"/>
          </a:solidFill>
          <a:ln w="12700">
            <a:solidFill>
              <a:srgbClr val="1A6FD4"/>
            </a:solidFill>
            <a:prstDash val="solid"/>
          </a:ln>
        </p:spPr>
        <p:txBody>
          <a:bodyPr/>
          <a:lstStyle/>
          <a:p>
            <a:endParaRPr lang="en-IN"/>
          </a:p>
        </p:txBody>
      </p:sp>
      <p:sp>
        <p:nvSpPr>
          <p:cNvPr id="30" name="Shape 28"/>
          <p:cNvSpPr/>
          <p:nvPr/>
        </p:nvSpPr>
        <p:spPr>
          <a:xfrm>
            <a:off x="320040" y="1728216"/>
            <a:ext cx="45720" cy="502920"/>
          </a:xfrm>
          <a:prstGeom prst="rect">
            <a:avLst/>
          </a:prstGeom>
          <a:solidFill>
            <a:srgbClr val="1A6FD4"/>
          </a:solidFill>
          <a:ln w="12700">
            <a:solidFill>
              <a:srgbClr val="1A6FD4"/>
            </a:solidFill>
            <a:prstDash val="solid"/>
          </a:ln>
        </p:spPr>
        <p:txBody>
          <a:bodyPr/>
          <a:lstStyle/>
          <a:p>
            <a:endParaRPr lang="en-IN"/>
          </a:p>
        </p:txBody>
      </p:sp>
      <p:sp>
        <p:nvSpPr>
          <p:cNvPr id="34" name="Shape 32"/>
          <p:cNvSpPr/>
          <p:nvPr/>
        </p:nvSpPr>
        <p:spPr>
          <a:xfrm>
            <a:off x="320040" y="2340864"/>
            <a:ext cx="45720" cy="502920"/>
          </a:xfrm>
          <a:prstGeom prst="rect">
            <a:avLst/>
          </a:prstGeom>
          <a:solidFill>
            <a:srgbClr val="1A6FD4"/>
          </a:solidFill>
          <a:ln w="12700">
            <a:solidFill>
              <a:srgbClr val="1A6FD4"/>
            </a:solidFill>
            <a:prstDash val="solid"/>
          </a:ln>
        </p:spPr>
        <p:txBody>
          <a:bodyPr/>
          <a:lstStyle/>
          <a:p>
            <a:endParaRPr lang="en-IN"/>
          </a:p>
        </p:txBody>
      </p:sp>
      <p:sp>
        <p:nvSpPr>
          <p:cNvPr id="38" name="Shape 36"/>
          <p:cNvSpPr/>
          <p:nvPr/>
        </p:nvSpPr>
        <p:spPr>
          <a:xfrm>
            <a:off x="320040" y="2953512"/>
            <a:ext cx="45720" cy="502920"/>
          </a:xfrm>
          <a:prstGeom prst="rect">
            <a:avLst/>
          </a:prstGeom>
          <a:solidFill>
            <a:srgbClr val="1A6FD4"/>
          </a:solidFill>
          <a:ln w="12700">
            <a:solidFill>
              <a:srgbClr val="1A6FD4"/>
            </a:solidFill>
            <a:prstDash val="solid"/>
          </a:ln>
        </p:spPr>
        <p:txBody>
          <a:bodyPr/>
          <a:lstStyle/>
          <a:p>
            <a:endParaRPr lang="en-IN"/>
          </a:p>
        </p:txBody>
      </p:sp>
      <p:sp>
        <p:nvSpPr>
          <p:cNvPr id="42" name="Shape 40"/>
          <p:cNvSpPr/>
          <p:nvPr/>
        </p:nvSpPr>
        <p:spPr>
          <a:xfrm>
            <a:off x="320040" y="3566160"/>
            <a:ext cx="45720" cy="502920"/>
          </a:xfrm>
          <a:prstGeom prst="rect">
            <a:avLst/>
          </a:prstGeom>
          <a:solidFill>
            <a:srgbClr val="1A6FD4"/>
          </a:solidFill>
          <a:ln w="12700">
            <a:solidFill>
              <a:srgbClr val="1A6FD4"/>
            </a:solidFill>
            <a:prstDash val="solid"/>
          </a:ln>
        </p:spPr>
        <p:txBody>
          <a:bodyPr/>
          <a:lstStyle/>
          <a:p>
            <a:endParaRPr lang="en-IN"/>
          </a:p>
        </p:txBody>
      </p:sp>
      <p:sp>
        <p:nvSpPr>
          <p:cNvPr id="46" name="Shape 44"/>
          <p:cNvSpPr/>
          <p:nvPr/>
        </p:nvSpPr>
        <p:spPr>
          <a:xfrm>
            <a:off x="320040" y="4178808"/>
            <a:ext cx="45720" cy="502920"/>
          </a:xfrm>
          <a:prstGeom prst="rect">
            <a:avLst/>
          </a:prstGeom>
          <a:solidFill>
            <a:srgbClr val="1A6FD4"/>
          </a:solidFill>
          <a:ln w="12700">
            <a:solidFill>
              <a:srgbClr val="1A6FD4"/>
            </a:solidFill>
            <a:prstDash val="solid"/>
          </a:ln>
        </p:spPr>
        <p:txBody>
          <a:bodyPr/>
          <a:lstStyle/>
          <a:p>
            <a:endParaRPr lang="en-IN"/>
          </a:p>
        </p:txBody>
      </p:sp>
      <p:sp>
        <p:nvSpPr>
          <p:cNvPr id="49" name="Shape 47"/>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a:p>
        </p:txBody>
      </p:sp>
      <p:sp>
        <p:nvSpPr>
          <p:cNvPr id="50" name="Text 48"/>
          <p:cNvSpPr/>
          <p:nvPr/>
        </p:nvSpPr>
        <p:spPr>
          <a:xfrm>
            <a:off x="0" y="4864608"/>
            <a:ext cx="9144000" cy="27889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HealthAssist AI  |  Bapatla Engineering College  |  2025-26</a:t>
            </a:r>
            <a:endParaRPr lang="en-US" sz="1000" dirty="0"/>
          </a:p>
        </p:txBody>
      </p:sp>
      <p:pic>
        <p:nvPicPr>
          <p:cNvPr id="52" name="Picture 51">
            <a:extLst>
              <a:ext uri="{FF2B5EF4-FFF2-40B4-BE49-F238E27FC236}">
                <a16:creationId xmlns:a16="http://schemas.microsoft.com/office/drawing/2014/main" id="{5A589ED8-0EB2-90C3-1301-CE1D1E942423}"/>
              </a:ext>
            </a:extLst>
          </p:cNvPr>
          <p:cNvPicPr>
            <a:picLocks noChangeAspect="1"/>
          </p:cNvPicPr>
          <p:nvPr/>
        </p:nvPicPr>
        <p:blipFill>
          <a:blip r:embed="rId3"/>
          <a:stretch>
            <a:fillRect/>
          </a:stretch>
        </p:blipFill>
        <p:spPr>
          <a:xfrm>
            <a:off x="441960" y="1134618"/>
            <a:ext cx="5883383" cy="35471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E5EF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E3A"/>
          </a:solidFill>
          <a:ln w="12700">
            <a:solidFill>
              <a:srgbClr val="0D1E3A"/>
            </a:solidFill>
            <a:prstDash val="solid"/>
          </a:ln>
        </p:spPr>
        <p:txBody>
          <a:bodyPr/>
          <a:lstStyle/>
          <a:p>
            <a:endParaRPr lang="en-IN"/>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a:p>
        </p:txBody>
      </p:sp>
      <p:sp>
        <p:nvSpPr>
          <p:cNvPr id="4" name="Text 2"/>
          <p:cNvSpPr/>
          <p:nvPr/>
        </p:nvSpPr>
        <p:spPr>
          <a:xfrm>
            <a:off x="0" y="0"/>
            <a:ext cx="9196039" cy="96012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anose="02040503050406030204" pitchFamily="18" charset="0"/>
                <a:ea typeface="Cambria" panose="02040503050406030204" pitchFamily="18" charset="0"/>
                <a:cs typeface="Calibri" pitchFamily="34" charset="-120"/>
              </a:rPr>
              <a:t>DESIGN – FUNCTIONAL MODULE ARCHITECTURE</a:t>
            </a:r>
            <a:endParaRPr lang="en-US" sz="3200" dirty="0">
              <a:latin typeface="Cambria" panose="02040503050406030204" pitchFamily="18" charset="0"/>
              <a:ea typeface="Cambria" panose="02040503050406030204" pitchFamily="18" charset="0"/>
            </a:endParaRPr>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endParaRPr lang="en-US" sz="1300" dirty="0"/>
          </a:p>
        </p:txBody>
      </p:sp>
      <p:sp>
        <p:nvSpPr>
          <p:cNvPr id="19" name="Shape 17"/>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a:p>
        </p:txBody>
      </p:sp>
      <p:sp>
        <p:nvSpPr>
          <p:cNvPr id="20" name="Text 18"/>
          <p:cNvSpPr/>
          <p:nvPr/>
        </p:nvSpPr>
        <p:spPr>
          <a:xfrm>
            <a:off x="0" y="4864608"/>
            <a:ext cx="9144000" cy="27889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HealthAssist AI  |  Bapatla Engineering College  |  2025-26</a:t>
            </a:r>
            <a:endParaRPr lang="en-US" sz="1000" dirty="0"/>
          </a:p>
        </p:txBody>
      </p:sp>
      <p:pic>
        <p:nvPicPr>
          <p:cNvPr id="22" name="Picture 21">
            <a:extLst>
              <a:ext uri="{FF2B5EF4-FFF2-40B4-BE49-F238E27FC236}">
                <a16:creationId xmlns:a16="http://schemas.microsoft.com/office/drawing/2014/main" id="{746E64F0-C0B1-2DE8-F258-9E8B17753004}"/>
              </a:ext>
            </a:extLst>
          </p:cNvPr>
          <p:cNvPicPr>
            <a:picLocks noChangeAspect="1"/>
          </p:cNvPicPr>
          <p:nvPr/>
        </p:nvPicPr>
        <p:blipFill>
          <a:blip r:embed="rId3"/>
          <a:stretch>
            <a:fillRect/>
          </a:stretch>
        </p:blipFill>
        <p:spPr>
          <a:xfrm>
            <a:off x="1215482" y="960120"/>
            <a:ext cx="6765073" cy="39044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1020"/>
          </a:solidFill>
          <a:ln w="12700">
            <a:solidFill>
              <a:srgbClr val="071020"/>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4" name="Text 2"/>
          <p:cNvSpPr/>
          <p:nvPr/>
        </p:nvSpPr>
        <p:spPr>
          <a:xfrm>
            <a:off x="320040" y="0"/>
            <a:ext cx="6858000" cy="96012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anose="02040503050406030204" pitchFamily="18" charset="0"/>
                <a:ea typeface="Cambria" panose="02040503050406030204" pitchFamily="18" charset="0"/>
                <a:cs typeface="Calibri" pitchFamily="34" charset="-120"/>
              </a:rPr>
              <a:t>IMPLEMENTATION</a:t>
            </a:r>
            <a:endParaRPr lang="en-US" sz="3600" dirty="0">
              <a:latin typeface="Cambria" panose="02040503050406030204" pitchFamily="18" charset="0"/>
              <a:ea typeface="Cambria" panose="02040503050406030204" pitchFamily="18" charset="0"/>
            </a:endParaRPr>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r>
              <a:rPr lang="en-US" sz="1400" i="1" dirty="0">
                <a:solidFill>
                  <a:srgbClr val="CADCFC"/>
                </a:solidFill>
                <a:latin typeface="Cambria" panose="02040503050406030204" pitchFamily="18" charset="0"/>
                <a:ea typeface="Cambria" panose="02040503050406030204" pitchFamily="18" charset="0"/>
                <a:cs typeface="Calibri" pitchFamily="34" charset="-120"/>
              </a:rPr>
              <a:t>Technology Stack &amp; Tools</a:t>
            </a:r>
            <a:endParaRPr lang="en-US" sz="1400" dirty="0">
              <a:latin typeface="Cambria" panose="02040503050406030204" pitchFamily="18" charset="0"/>
              <a:ea typeface="Cambria" panose="02040503050406030204" pitchFamily="18" charset="0"/>
            </a:endParaRPr>
          </a:p>
        </p:txBody>
      </p:sp>
      <p:sp>
        <p:nvSpPr>
          <p:cNvPr id="6" name="Shape 4"/>
          <p:cNvSpPr/>
          <p:nvPr/>
        </p:nvSpPr>
        <p:spPr>
          <a:xfrm>
            <a:off x="320040" y="1115568"/>
            <a:ext cx="4114800" cy="1078992"/>
          </a:xfrm>
          <a:prstGeom prst="rect">
            <a:avLst/>
          </a:prstGeom>
          <a:solidFill>
            <a:srgbClr val="0D1E3A"/>
          </a:solidFill>
          <a:ln w="12700">
            <a:solidFill>
              <a:srgbClr val="1A6FD4"/>
            </a:solidFill>
            <a:prstDash val="solid"/>
          </a:ln>
          <a:effectLst>
            <a:outerShdw blurRad="38100" dist="25400" dir="8100000" algn="bl" rotWithShape="0">
              <a:srgbClr val="000000">
                <a:alpha val="15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7" name="Shape 5"/>
          <p:cNvSpPr/>
          <p:nvPr/>
        </p:nvSpPr>
        <p:spPr>
          <a:xfrm>
            <a:off x="320040" y="1115568"/>
            <a:ext cx="4114800" cy="54864"/>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8" name="Text 6"/>
          <p:cNvSpPr/>
          <p:nvPr/>
        </p:nvSpPr>
        <p:spPr>
          <a:xfrm>
            <a:off x="429768" y="1207008"/>
            <a:ext cx="548640" cy="457200"/>
          </a:xfrm>
          <a:prstGeom prst="rect">
            <a:avLst/>
          </a:prstGeom>
          <a:noFill/>
          <a:ln/>
        </p:spPr>
        <p:txBody>
          <a:bodyPr wrap="square" lIns="0" tIns="0" rIns="0" bIns="0" rtlCol="0" anchor="ctr"/>
          <a:lstStyle/>
          <a:p>
            <a:pPr marL="0" indent="0" algn="ctr">
              <a:buNone/>
            </a:pPr>
            <a:r>
              <a:rPr lang="en-US" sz="2400" dirty="0">
                <a:solidFill>
                  <a:srgbClr val="000000"/>
                </a:solidFill>
                <a:latin typeface="Cambria" panose="02040503050406030204" pitchFamily="18" charset="0"/>
                <a:ea typeface="Cambria" panose="02040503050406030204" pitchFamily="18" charset="0"/>
              </a:rPr>
              <a:t>🤖</a:t>
            </a:r>
            <a:endParaRPr lang="en-US" sz="2400" dirty="0">
              <a:latin typeface="Cambria" panose="02040503050406030204" pitchFamily="18" charset="0"/>
              <a:ea typeface="Cambria" panose="02040503050406030204" pitchFamily="18" charset="0"/>
            </a:endParaRPr>
          </a:p>
        </p:txBody>
      </p:sp>
      <p:sp>
        <p:nvSpPr>
          <p:cNvPr id="9" name="Text 7"/>
          <p:cNvSpPr/>
          <p:nvPr/>
        </p:nvSpPr>
        <p:spPr>
          <a:xfrm>
            <a:off x="978408" y="1188720"/>
            <a:ext cx="333756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Calibri" pitchFamily="34" charset="-120"/>
              </a:rPr>
              <a:t>Mistral Large 3</a:t>
            </a:r>
            <a:endParaRPr lang="en-US" sz="1400" dirty="0">
              <a:latin typeface="Cambria" panose="02040503050406030204" pitchFamily="18" charset="0"/>
              <a:ea typeface="Cambria" panose="02040503050406030204" pitchFamily="18" charset="0"/>
            </a:endParaRPr>
          </a:p>
        </p:txBody>
      </p:sp>
      <p:sp>
        <p:nvSpPr>
          <p:cNvPr id="10" name="Text 8"/>
          <p:cNvSpPr/>
          <p:nvPr/>
        </p:nvSpPr>
        <p:spPr>
          <a:xfrm>
            <a:off x="429768" y="1572768"/>
            <a:ext cx="3840480" cy="56692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Core AI engine: 675B params, MoE architecture, multilingual support &amp; 256K context window</a:t>
            </a:r>
            <a:endParaRPr lang="en-US" sz="1200" dirty="0">
              <a:latin typeface="Cambria" panose="02040503050406030204" pitchFamily="18" charset="0"/>
              <a:ea typeface="Cambria" panose="02040503050406030204" pitchFamily="18" charset="0"/>
            </a:endParaRPr>
          </a:p>
        </p:txBody>
      </p:sp>
      <p:sp>
        <p:nvSpPr>
          <p:cNvPr id="11" name="Shape 9"/>
          <p:cNvSpPr/>
          <p:nvPr/>
        </p:nvSpPr>
        <p:spPr>
          <a:xfrm>
            <a:off x="4754880" y="1115568"/>
            <a:ext cx="4114800" cy="1078992"/>
          </a:xfrm>
          <a:prstGeom prst="rect">
            <a:avLst/>
          </a:prstGeom>
          <a:solidFill>
            <a:srgbClr val="0D1E3A"/>
          </a:solidFill>
          <a:ln w="12700">
            <a:solidFill>
              <a:srgbClr val="1A6FD4"/>
            </a:solidFill>
            <a:prstDash val="solid"/>
          </a:ln>
          <a:effectLst>
            <a:outerShdw blurRad="38100" dist="25400" dir="8100000" algn="bl" rotWithShape="0">
              <a:srgbClr val="000000">
                <a:alpha val="15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12" name="Shape 10"/>
          <p:cNvSpPr/>
          <p:nvPr/>
        </p:nvSpPr>
        <p:spPr>
          <a:xfrm>
            <a:off x="4754880" y="1115568"/>
            <a:ext cx="4114800" cy="54864"/>
          </a:xfrm>
          <a:prstGeom prst="rect">
            <a:avLst/>
          </a:prstGeom>
          <a:solidFill>
            <a:srgbClr val="1565C0"/>
          </a:solidFill>
          <a:ln w="12700">
            <a:solidFill>
              <a:srgbClr val="1565C0"/>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3" name="Text 11"/>
          <p:cNvSpPr/>
          <p:nvPr/>
        </p:nvSpPr>
        <p:spPr>
          <a:xfrm>
            <a:off x="4864608" y="1207008"/>
            <a:ext cx="548640" cy="457200"/>
          </a:xfrm>
          <a:prstGeom prst="rect">
            <a:avLst/>
          </a:prstGeom>
          <a:noFill/>
          <a:ln/>
        </p:spPr>
        <p:txBody>
          <a:bodyPr wrap="square" lIns="0" tIns="0" rIns="0" bIns="0" rtlCol="0" anchor="ctr"/>
          <a:lstStyle/>
          <a:p>
            <a:pPr marL="0" indent="0" algn="ctr">
              <a:buNone/>
            </a:pPr>
            <a:r>
              <a:rPr lang="en-US" sz="2400" dirty="0">
                <a:solidFill>
                  <a:srgbClr val="000000"/>
                </a:solidFill>
                <a:latin typeface="Cambria" panose="02040503050406030204" pitchFamily="18" charset="0"/>
                <a:ea typeface="Cambria" panose="02040503050406030204" pitchFamily="18" charset="0"/>
              </a:rPr>
              <a:t>🗄️</a:t>
            </a:r>
            <a:endParaRPr lang="en-US" sz="2400" dirty="0">
              <a:latin typeface="Cambria" panose="02040503050406030204" pitchFamily="18" charset="0"/>
              <a:ea typeface="Cambria" panose="02040503050406030204" pitchFamily="18" charset="0"/>
            </a:endParaRPr>
          </a:p>
        </p:txBody>
      </p:sp>
      <p:sp>
        <p:nvSpPr>
          <p:cNvPr id="14" name="Text 12"/>
          <p:cNvSpPr/>
          <p:nvPr/>
        </p:nvSpPr>
        <p:spPr>
          <a:xfrm>
            <a:off x="5413248" y="1188720"/>
            <a:ext cx="333756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Calibri" pitchFamily="34" charset="-120"/>
              </a:rPr>
              <a:t>Supabase PostgreSQL</a:t>
            </a:r>
            <a:endParaRPr lang="en-US" sz="1400" dirty="0">
              <a:latin typeface="Cambria" panose="02040503050406030204" pitchFamily="18" charset="0"/>
              <a:ea typeface="Cambria" panose="02040503050406030204" pitchFamily="18" charset="0"/>
            </a:endParaRPr>
          </a:p>
        </p:txBody>
      </p:sp>
      <p:sp>
        <p:nvSpPr>
          <p:cNvPr id="15" name="Text 13"/>
          <p:cNvSpPr/>
          <p:nvPr/>
        </p:nvSpPr>
        <p:spPr>
          <a:xfrm>
            <a:off x="4864608" y="1572768"/>
            <a:ext cx="3840480" cy="56692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Cloud database: SHA-256 encrypted password storage, authentication &amp; access control</a:t>
            </a:r>
            <a:endParaRPr lang="en-US" sz="1200" dirty="0">
              <a:latin typeface="Cambria" panose="02040503050406030204" pitchFamily="18" charset="0"/>
              <a:ea typeface="Cambria" panose="02040503050406030204" pitchFamily="18" charset="0"/>
            </a:endParaRPr>
          </a:p>
        </p:txBody>
      </p:sp>
      <p:sp>
        <p:nvSpPr>
          <p:cNvPr id="16" name="Shape 14"/>
          <p:cNvSpPr/>
          <p:nvPr/>
        </p:nvSpPr>
        <p:spPr>
          <a:xfrm>
            <a:off x="320040" y="2331720"/>
            <a:ext cx="4114800" cy="1078992"/>
          </a:xfrm>
          <a:prstGeom prst="rect">
            <a:avLst/>
          </a:prstGeom>
          <a:solidFill>
            <a:srgbClr val="0D1E3A"/>
          </a:solidFill>
          <a:ln w="12700">
            <a:solidFill>
              <a:srgbClr val="1A6FD4"/>
            </a:solidFill>
            <a:prstDash val="solid"/>
          </a:ln>
          <a:effectLst>
            <a:outerShdw blurRad="38100" dist="25400" dir="8100000" algn="bl" rotWithShape="0">
              <a:srgbClr val="000000">
                <a:alpha val="15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17" name="Shape 15"/>
          <p:cNvSpPr/>
          <p:nvPr/>
        </p:nvSpPr>
        <p:spPr>
          <a:xfrm>
            <a:off x="320040" y="2331720"/>
            <a:ext cx="4114800" cy="54864"/>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18" name="Text 16"/>
          <p:cNvSpPr/>
          <p:nvPr/>
        </p:nvSpPr>
        <p:spPr>
          <a:xfrm>
            <a:off x="429768" y="2423160"/>
            <a:ext cx="548640" cy="457200"/>
          </a:xfrm>
          <a:prstGeom prst="rect">
            <a:avLst/>
          </a:prstGeom>
          <a:noFill/>
          <a:ln/>
        </p:spPr>
        <p:txBody>
          <a:bodyPr wrap="square" lIns="0" tIns="0" rIns="0" bIns="0" rtlCol="0" anchor="ctr"/>
          <a:lstStyle/>
          <a:p>
            <a:pPr marL="0" indent="0" algn="ctr">
              <a:buNone/>
            </a:pPr>
            <a:r>
              <a:rPr lang="en-US" sz="2400" dirty="0">
                <a:solidFill>
                  <a:srgbClr val="000000"/>
                </a:solidFill>
                <a:latin typeface="Cambria" panose="02040503050406030204" pitchFamily="18" charset="0"/>
                <a:ea typeface="Cambria" panose="02040503050406030204" pitchFamily="18" charset="0"/>
              </a:rPr>
              <a:t>📄</a:t>
            </a:r>
            <a:endParaRPr lang="en-US" sz="2400" dirty="0">
              <a:latin typeface="Cambria" panose="02040503050406030204" pitchFamily="18" charset="0"/>
              <a:ea typeface="Cambria" panose="02040503050406030204" pitchFamily="18" charset="0"/>
            </a:endParaRPr>
          </a:p>
        </p:txBody>
      </p:sp>
      <p:sp>
        <p:nvSpPr>
          <p:cNvPr id="19" name="Text 17"/>
          <p:cNvSpPr/>
          <p:nvPr/>
        </p:nvSpPr>
        <p:spPr>
          <a:xfrm>
            <a:off x="978408" y="2404872"/>
            <a:ext cx="333756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Calibri" pitchFamily="34" charset="-120"/>
              </a:rPr>
              <a:t>PyPDF2</a:t>
            </a:r>
            <a:endParaRPr lang="en-US" sz="1400" dirty="0">
              <a:latin typeface="Cambria" panose="02040503050406030204" pitchFamily="18" charset="0"/>
              <a:ea typeface="Cambria" panose="02040503050406030204" pitchFamily="18" charset="0"/>
            </a:endParaRPr>
          </a:p>
        </p:txBody>
      </p:sp>
      <p:sp>
        <p:nvSpPr>
          <p:cNvPr id="20" name="Text 18"/>
          <p:cNvSpPr/>
          <p:nvPr/>
        </p:nvSpPr>
        <p:spPr>
          <a:xfrm>
            <a:off x="429768" y="2788920"/>
            <a:ext cx="3840480" cy="56692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Medical report PDF text extraction pipeline for lab report analysis module</a:t>
            </a:r>
            <a:endParaRPr lang="en-US" sz="1200" dirty="0">
              <a:latin typeface="Cambria" panose="02040503050406030204" pitchFamily="18" charset="0"/>
              <a:ea typeface="Cambria" panose="02040503050406030204" pitchFamily="18" charset="0"/>
            </a:endParaRPr>
          </a:p>
        </p:txBody>
      </p:sp>
      <p:sp>
        <p:nvSpPr>
          <p:cNvPr id="21" name="Shape 19"/>
          <p:cNvSpPr/>
          <p:nvPr/>
        </p:nvSpPr>
        <p:spPr>
          <a:xfrm>
            <a:off x="4754880" y="2331720"/>
            <a:ext cx="4114800" cy="1078992"/>
          </a:xfrm>
          <a:prstGeom prst="rect">
            <a:avLst/>
          </a:prstGeom>
          <a:solidFill>
            <a:srgbClr val="0D1E3A"/>
          </a:solidFill>
          <a:ln w="12700">
            <a:solidFill>
              <a:srgbClr val="1A6FD4"/>
            </a:solidFill>
            <a:prstDash val="solid"/>
          </a:ln>
          <a:effectLst>
            <a:outerShdw blurRad="38100" dist="25400" dir="8100000" algn="bl" rotWithShape="0">
              <a:srgbClr val="000000">
                <a:alpha val="15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22" name="Shape 20"/>
          <p:cNvSpPr/>
          <p:nvPr/>
        </p:nvSpPr>
        <p:spPr>
          <a:xfrm>
            <a:off x="4754880" y="2331720"/>
            <a:ext cx="4114800" cy="54864"/>
          </a:xfrm>
          <a:prstGeom prst="rect">
            <a:avLst/>
          </a:prstGeom>
          <a:solidFill>
            <a:srgbClr val="1565C0"/>
          </a:solidFill>
          <a:ln w="12700">
            <a:solidFill>
              <a:srgbClr val="1565C0"/>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23" name="Text 21"/>
          <p:cNvSpPr/>
          <p:nvPr/>
        </p:nvSpPr>
        <p:spPr>
          <a:xfrm>
            <a:off x="4864608" y="2423160"/>
            <a:ext cx="548640" cy="457200"/>
          </a:xfrm>
          <a:prstGeom prst="rect">
            <a:avLst/>
          </a:prstGeom>
          <a:noFill/>
          <a:ln/>
        </p:spPr>
        <p:txBody>
          <a:bodyPr wrap="square" lIns="0" tIns="0" rIns="0" bIns="0" rtlCol="0" anchor="ctr"/>
          <a:lstStyle/>
          <a:p>
            <a:pPr marL="0" indent="0" algn="ctr">
              <a:buNone/>
            </a:pPr>
            <a:r>
              <a:rPr lang="en-US" sz="2400" dirty="0">
                <a:solidFill>
                  <a:srgbClr val="000000"/>
                </a:solidFill>
                <a:latin typeface="Cambria" panose="02040503050406030204" pitchFamily="18" charset="0"/>
                <a:ea typeface="Cambria" panose="02040503050406030204" pitchFamily="18" charset="0"/>
              </a:rPr>
              <a:t>🔍</a:t>
            </a:r>
            <a:endParaRPr lang="en-US" sz="2400" dirty="0">
              <a:latin typeface="Cambria" panose="02040503050406030204" pitchFamily="18" charset="0"/>
              <a:ea typeface="Cambria" panose="02040503050406030204" pitchFamily="18" charset="0"/>
            </a:endParaRPr>
          </a:p>
        </p:txBody>
      </p:sp>
      <p:sp>
        <p:nvSpPr>
          <p:cNvPr id="24" name="Text 22"/>
          <p:cNvSpPr/>
          <p:nvPr/>
        </p:nvSpPr>
        <p:spPr>
          <a:xfrm>
            <a:off x="5413248" y="2404872"/>
            <a:ext cx="333756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Calibri" pitchFamily="34" charset="-120"/>
              </a:rPr>
              <a:t>EasyOCR</a:t>
            </a:r>
            <a:endParaRPr lang="en-US" sz="1400" dirty="0">
              <a:latin typeface="Cambria" panose="02040503050406030204" pitchFamily="18" charset="0"/>
              <a:ea typeface="Cambria" panose="02040503050406030204" pitchFamily="18" charset="0"/>
            </a:endParaRPr>
          </a:p>
        </p:txBody>
      </p:sp>
      <p:sp>
        <p:nvSpPr>
          <p:cNvPr id="25" name="Text 23"/>
          <p:cNvSpPr/>
          <p:nvPr/>
        </p:nvSpPr>
        <p:spPr>
          <a:xfrm>
            <a:off x="4864608" y="2788920"/>
            <a:ext cx="3840480" cy="56692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Optical character recognition for extracting text from scanned prescriptions &amp; medical images</a:t>
            </a:r>
            <a:endParaRPr lang="en-US" sz="1200" dirty="0">
              <a:latin typeface="Cambria" panose="02040503050406030204" pitchFamily="18" charset="0"/>
              <a:ea typeface="Cambria" panose="02040503050406030204" pitchFamily="18" charset="0"/>
            </a:endParaRPr>
          </a:p>
        </p:txBody>
      </p:sp>
      <p:sp>
        <p:nvSpPr>
          <p:cNvPr id="26" name="Shape 24"/>
          <p:cNvSpPr/>
          <p:nvPr/>
        </p:nvSpPr>
        <p:spPr>
          <a:xfrm>
            <a:off x="320040" y="3547872"/>
            <a:ext cx="4114800" cy="1078992"/>
          </a:xfrm>
          <a:prstGeom prst="rect">
            <a:avLst/>
          </a:prstGeom>
          <a:solidFill>
            <a:srgbClr val="0D1E3A"/>
          </a:solidFill>
          <a:ln w="12700">
            <a:solidFill>
              <a:srgbClr val="1A6FD4"/>
            </a:solidFill>
            <a:prstDash val="solid"/>
          </a:ln>
          <a:effectLst>
            <a:outerShdw blurRad="38100" dist="25400" dir="8100000" algn="bl" rotWithShape="0">
              <a:srgbClr val="000000">
                <a:alpha val="15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27" name="Shape 25"/>
          <p:cNvSpPr/>
          <p:nvPr/>
        </p:nvSpPr>
        <p:spPr>
          <a:xfrm>
            <a:off x="320040" y="3547872"/>
            <a:ext cx="4114800" cy="54864"/>
          </a:xfrm>
          <a:prstGeom prst="rect">
            <a:avLst/>
          </a:prstGeom>
          <a:solidFill>
            <a:srgbClr val="1A6FD4"/>
          </a:solidFill>
          <a:ln w="12700">
            <a:solidFill>
              <a:srgbClr val="1A6FD4"/>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28" name="Text 26"/>
          <p:cNvSpPr/>
          <p:nvPr/>
        </p:nvSpPr>
        <p:spPr>
          <a:xfrm>
            <a:off x="429768" y="3639312"/>
            <a:ext cx="548640" cy="457200"/>
          </a:xfrm>
          <a:prstGeom prst="rect">
            <a:avLst/>
          </a:prstGeom>
          <a:noFill/>
          <a:ln/>
        </p:spPr>
        <p:txBody>
          <a:bodyPr wrap="square" lIns="0" tIns="0" rIns="0" bIns="0" rtlCol="0" anchor="ctr"/>
          <a:lstStyle/>
          <a:p>
            <a:pPr marL="0" indent="0" algn="ctr">
              <a:buNone/>
            </a:pPr>
            <a:r>
              <a:rPr lang="en-US" sz="2400" dirty="0">
                <a:solidFill>
                  <a:srgbClr val="000000"/>
                </a:solidFill>
                <a:latin typeface="Cambria" panose="02040503050406030204" pitchFamily="18" charset="0"/>
                <a:ea typeface="Cambria" panose="02040503050406030204" pitchFamily="18" charset="0"/>
              </a:rPr>
              <a:t>📍</a:t>
            </a:r>
            <a:endParaRPr lang="en-US" sz="2400" dirty="0">
              <a:latin typeface="Cambria" panose="02040503050406030204" pitchFamily="18" charset="0"/>
              <a:ea typeface="Cambria" panose="02040503050406030204" pitchFamily="18" charset="0"/>
            </a:endParaRPr>
          </a:p>
        </p:txBody>
      </p:sp>
      <p:sp>
        <p:nvSpPr>
          <p:cNvPr id="29" name="Text 27"/>
          <p:cNvSpPr/>
          <p:nvPr/>
        </p:nvSpPr>
        <p:spPr>
          <a:xfrm>
            <a:off x="978408" y="3621024"/>
            <a:ext cx="333756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Calibri" pitchFamily="34" charset="-120"/>
              </a:rPr>
              <a:t>Geoapify API</a:t>
            </a:r>
            <a:endParaRPr lang="en-US" sz="1400" dirty="0">
              <a:latin typeface="Cambria" panose="02040503050406030204" pitchFamily="18" charset="0"/>
              <a:ea typeface="Cambria" panose="02040503050406030204" pitchFamily="18" charset="0"/>
            </a:endParaRPr>
          </a:p>
        </p:txBody>
      </p:sp>
      <p:sp>
        <p:nvSpPr>
          <p:cNvPr id="30" name="Text 28"/>
          <p:cNvSpPr/>
          <p:nvPr/>
        </p:nvSpPr>
        <p:spPr>
          <a:xfrm>
            <a:off x="429768" y="4005072"/>
            <a:ext cx="3840480" cy="56692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Real-time geolocation API for locating hospitals within 30 km radius with coordinates</a:t>
            </a:r>
            <a:endParaRPr lang="en-US" sz="1200" dirty="0">
              <a:latin typeface="Cambria" panose="02040503050406030204" pitchFamily="18" charset="0"/>
              <a:ea typeface="Cambria" panose="02040503050406030204" pitchFamily="18" charset="0"/>
            </a:endParaRPr>
          </a:p>
        </p:txBody>
      </p:sp>
      <p:sp>
        <p:nvSpPr>
          <p:cNvPr id="31" name="Shape 29"/>
          <p:cNvSpPr/>
          <p:nvPr/>
        </p:nvSpPr>
        <p:spPr>
          <a:xfrm>
            <a:off x="4754880" y="3547872"/>
            <a:ext cx="4114800" cy="1078992"/>
          </a:xfrm>
          <a:prstGeom prst="rect">
            <a:avLst/>
          </a:prstGeom>
          <a:solidFill>
            <a:srgbClr val="0D1E3A"/>
          </a:solidFill>
          <a:ln w="12700">
            <a:solidFill>
              <a:srgbClr val="1A6FD4"/>
            </a:solidFill>
            <a:prstDash val="solid"/>
          </a:ln>
          <a:effectLst>
            <a:outerShdw blurRad="38100" dist="25400" dir="8100000" algn="bl" rotWithShape="0">
              <a:srgbClr val="000000">
                <a:alpha val="15000"/>
              </a:srgbClr>
            </a:outerShdw>
          </a:effectLst>
        </p:spPr>
        <p:txBody>
          <a:bodyPr/>
          <a:lstStyle/>
          <a:p>
            <a:endParaRPr lang="en-IN" sz="2000">
              <a:latin typeface="Cambria" panose="02040503050406030204" pitchFamily="18" charset="0"/>
              <a:ea typeface="Cambria" panose="02040503050406030204" pitchFamily="18" charset="0"/>
            </a:endParaRPr>
          </a:p>
        </p:txBody>
      </p:sp>
      <p:sp>
        <p:nvSpPr>
          <p:cNvPr id="32" name="Shape 30"/>
          <p:cNvSpPr/>
          <p:nvPr/>
        </p:nvSpPr>
        <p:spPr>
          <a:xfrm>
            <a:off x="4754880" y="3547872"/>
            <a:ext cx="4114800" cy="54864"/>
          </a:xfrm>
          <a:prstGeom prst="rect">
            <a:avLst/>
          </a:prstGeom>
          <a:solidFill>
            <a:srgbClr val="1565C0"/>
          </a:solidFill>
          <a:ln w="12700">
            <a:solidFill>
              <a:srgbClr val="1565C0"/>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33" name="Text 31"/>
          <p:cNvSpPr/>
          <p:nvPr/>
        </p:nvSpPr>
        <p:spPr>
          <a:xfrm>
            <a:off x="4864608" y="3639312"/>
            <a:ext cx="548640" cy="457200"/>
          </a:xfrm>
          <a:prstGeom prst="rect">
            <a:avLst/>
          </a:prstGeom>
          <a:noFill/>
          <a:ln/>
        </p:spPr>
        <p:txBody>
          <a:bodyPr wrap="square" lIns="0" tIns="0" rIns="0" bIns="0" rtlCol="0" anchor="ctr"/>
          <a:lstStyle/>
          <a:p>
            <a:pPr marL="0" indent="0" algn="ctr">
              <a:buNone/>
            </a:pPr>
            <a:r>
              <a:rPr lang="en-US" sz="2400" dirty="0">
                <a:solidFill>
                  <a:srgbClr val="000000"/>
                </a:solidFill>
                <a:latin typeface="Cambria" panose="02040503050406030204" pitchFamily="18" charset="0"/>
                <a:ea typeface="Cambria" panose="02040503050406030204" pitchFamily="18" charset="0"/>
              </a:rPr>
              <a:t>🔐</a:t>
            </a:r>
            <a:endParaRPr lang="en-US" sz="2400" dirty="0">
              <a:latin typeface="Cambria" panose="02040503050406030204" pitchFamily="18" charset="0"/>
              <a:ea typeface="Cambria" panose="02040503050406030204" pitchFamily="18" charset="0"/>
            </a:endParaRPr>
          </a:p>
        </p:txBody>
      </p:sp>
      <p:sp>
        <p:nvSpPr>
          <p:cNvPr id="34" name="Text 32"/>
          <p:cNvSpPr/>
          <p:nvPr/>
        </p:nvSpPr>
        <p:spPr>
          <a:xfrm>
            <a:off x="5413248" y="3621024"/>
            <a:ext cx="333756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Cambria" panose="02040503050406030204" pitchFamily="18" charset="0"/>
                <a:ea typeface="Cambria" panose="02040503050406030204" pitchFamily="18" charset="0"/>
                <a:cs typeface="Calibri" pitchFamily="34" charset="-120"/>
              </a:rPr>
              <a:t>SHA-256 Auth</a:t>
            </a:r>
            <a:endParaRPr lang="en-US" sz="1400" dirty="0">
              <a:latin typeface="Cambria" panose="02040503050406030204" pitchFamily="18" charset="0"/>
              <a:ea typeface="Cambria" panose="02040503050406030204" pitchFamily="18" charset="0"/>
            </a:endParaRPr>
          </a:p>
        </p:txBody>
      </p:sp>
      <p:sp>
        <p:nvSpPr>
          <p:cNvPr id="35" name="Text 33"/>
          <p:cNvSpPr/>
          <p:nvPr/>
        </p:nvSpPr>
        <p:spPr>
          <a:xfrm>
            <a:off x="4864608" y="4005072"/>
            <a:ext cx="3840480" cy="566928"/>
          </a:xfrm>
          <a:prstGeom prst="rect">
            <a:avLst/>
          </a:prstGeom>
          <a:noFill/>
          <a:ln/>
        </p:spPr>
        <p:txBody>
          <a:bodyPr wrap="square" lIns="0" tIns="0" rIns="0" bIns="0" rtlCol="0" anchor="t"/>
          <a:lstStyle/>
          <a:p>
            <a:pPr marL="0" indent="0" algn="l">
              <a:buNone/>
            </a:pPr>
            <a:r>
              <a:rPr lang="en-US" sz="1200" dirty="0">
                <a:solidFill>
                  <a:srgbClr val="CADCFC"/>
                </a:solidFill>
                <a:latin typeface="Cambria" panose="02040503050406030204" pitchFamily="18" charset="0"/>
                <a:ea typeface="Cambria" panose="02040503050406030204" pitchFamily="18" charset="0"/>
                <a:cs typeface="Calibri" pitchFamily="34" charset="-120"/>
              </a:rPr>
              <a:t>Cryptographic hash function securing all user health records and session management</a:t>
            </a:r>
            <a:endParaRPr lang="en-US" sz="1200" dirty="0">
              <a:latin typeface="Cambria" panose="02040503050406030204" pitchFamily="18" charset="0"/>
              <a:ea typeface="Cambria" panose="02040503050406030204" pitchFamily="18" charset="0"/>
            </a:endParaRPr>
          </a:p>
        </p:txBody>
      </p:sp>
      <p:sp>
        <p:nvSpPr>
          <p:cNvPr id="36" name="Shape 34"/>
          <p:cNvSpPr/>
          <p:nvPr/>
        </p:nvSpPr>
        <p:spPr>
          <a:xfrm>
            <a:off x="0" y="4736592"/>
            <a:ext cx="9144000" cy="128016"/>
          </a:xfrm>
          <a:prstGeom prst="rect">
            <a:avLst/>
          </a:prstGeom>
          <a:solidFill>
            <a:srgbClr val="BDD6F5"/>
          </a:solidFill>
          <a:ln w="12700">
            <a:solidFill>
              <a:srgbClr val="BDD6F5"/>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37" name="Text 35"/>
          <p:cNvSpPr/>
          <p:nvPr/>
        </p:nvSpPr>
        <p:spPr>
          <a:xfrm>
            <a:off x="0" y="4736592"/>
            <a:ext cx="9144000" cy="128016"/>
          </a:xfrm>
          <a:prstGeom prst="rect">
            <a:avLst/>
          </a:prstGeom>
          <a:noFill/>
          <a:ln/>
        </p:spPr>
        <p:txBody>
          <a:bodyPr wrap="square" lIns="0" tIns="0" rIns="0" bIns="0" rtlCol="0" anchor="ctr"/>
          <a:lstStyle/>
          <a:p>
            <a:pPr marL="0" indent="0" algn="ctr">
              <a:buNone/>
            </a:pPr>
            <a:r>
              <a:rPr lang="en-US" sz="1000" b="1" dirty="0">
                <a:solidFill>
                  <a:srgbClr val="0B3A7A"/>
                </a:solidFill>
                <a:latin typeface="Cambria" panose="02040503050406030204" pitchFamily="18" charset="0"/>
                <a:ea typeface="Cambria" panose="02040503050406030204" pitchFamily="18" charset="0"/>
                <a:cs typeface="Calibri" pitchFamily="34" charset="-120"/>
              </a:rPr>
              <a:t>Frontend: HTML5 · CSS3 · JavaScript (ES6) · Jinja2  |  Backend: Python 3.9 · Flask · Flask-CORS · Werkzeug</a:t>
            </a:r>
            <a:endParaRPr lang="en-US" sz="1000" dirty="0">
              <a:latin typeface="Cambria" panose="02040503050406030204" pitchFamily="18" charset="0"/>
              <a:ea typeface="Cambria" panose="02040503050406030204" pitchFamily="18" charset="0"/>
            </a:endParaRPr>
          </a:p>
        </p:txBody>
      </p:sp>
      <p:sp>
        <p:nvSpPr>
          <p:cNvPr id="38" name="Shape 36"/>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sz="2000">
              <a:latin typeface="Cambria" panose="02040503050406030204" pitchFamily="18" charset="0"/>
              <a:ea typeface="Cambria" panose="02040503050406030204" pitchFamily="18" charset="0"/>
            </a:endParaRPr>
          </a:p>
        </p:txBody>
      </p:sp>
      <p:sp>
        <p:nvSpPr>
          <p:cNvPr id="39" name="Text 37"/>
          <p:cNvSpPr/>
          <p:nvPr/>
        </p:nvSpPr>
        <p:spPr>
          <a:xfrm>
            <a:off x="0" y="4864608"/>
            <a:ext cx="9144000" cy="278892"/>
          </a:xfrm>
          <a:prstGeom prst="rect">
            <a:avLst/>
          </a:prstGeom>
          <a:noFill/>
          <a:ln/>
        </p:spPr>
        <p:txBody>
          <a:bodyPr wrap="square" lIns="0" tIns="0" rIns="0" bIns="0" rtlCol="0" anchor="ctr"/>
          <a:lstStyle/>
          <a:p>
            <a:pPr marL="0" indent="0" algn="ctr">
              <a:buNone/>
            </a:pPr>
            <a:r>
              <a:rPr lang="en-US" sz="1050" dirty="0">
                <a:solidFill>
                  <a:srgbClr val="FFFFFF"/>
                </a:solidFill>
                <a:latin typeface="Cambria" panose="02040503050406030204" pitchFamily="18" charset="0"/>
                <a:ea typeface="Cambria" panose="02040503050406030204" pitchFamily="18" charset="0"/>
                <a:cs typeface="Calibri" pitchFamily="34" charset="-120"/>
              </a:rPr>
              <a:t>HealthAssist AI  |  Bapatla Engineering College  |  2025-26</a:t>
            </a:r>
            <a:endParaRPr lang="en-US" sz="1050"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E5EF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E3A"/>
          </a:solidFill>
          <a:ln w="12700">
            <a:solidFill>
              <a:srgbClr val="0D1E3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4" name="Text 2"/>
          <p:cNvSpPr/>
          <p:nvPr/>
        </p:nvSpPr>
        <p:spPr>
          <a:xfrm>
            <a:off x="-1" y="0"/>
            <a:ext cx="9144001" cy="96012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anose="02040503050406030204" pitchFamily="18" charset="0"/>
                <a:ea typeface="Cambria" panose="02040503050406030204" pitchFamily="18" charset="0"/>
                <a:cs typeface="Calibri" pitchFamily="34" charset="-120"/>
              </a:rPr>
              <a:t>IMPLEMENTATION – PROCESSING PIPELINE</a:t>
            </a:r>
            <a:endParaRPr lang="en-US" sz="3600" dirty="0">
              <a:latin typeface="Cambria" panose="02040503050406030204" pitchFamily="18" charset="0"/>
              <a:ea typeface="Cambria" panose="02040503050406030204" pitchFamily="18" charset="0"/>
            </a:endParaRPr>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endParaRPr lang="en-US" sz="1600" dirty="0">
              <a:latin typeface="Cambria" panose="02040503050406030204" pitchFamily="18" charset="0"/>
              <a:ea typeface="Cambria" panose="02040503050406030204" pitchFamily="18" charset="0"/>
            </a:endParaRPr>
          </a:p>
        </p:txBody>
      </p:sp>
      <p:sp>
        <p:nvSpPr>
          <p:cNvPr id="6" name="Shape 4"/>
          <p:cNvSpPr/>
          <p:nvPr/>
        </p:nvSpPr>
        <p:spPr>
          <a:xfrm>
            <a:off x="320040" y="1115568"/>
            <a:ext cx="1298448" cy="2560320"/>
          </a:xfrm>
          <a:prstGeom prst="rect">
            <a:avLst/>
          </a:prstGeom>
          <a:solidFill>
            <a:srgbClr val="FFFFFF"/>
          </a:solidFill>
          <a:ln w="12700">
            <a:solidFill>
              <a:srgbClr val="BDD6F5"/>
            </a:solidFill>
            <a:prstDash val="solid"/>
          </a:ln>
          <a:effectLst>
            <a:outerShdw blurRad="38100" dist="25400" dir="8100000" algn="bl" rotWithShape="0">
              <a:srgbClr val="000000">
                <a:alpha val="10000"/>
              </a:srgbClr>
            </a:outerShdw>
          </a:effectLst>
        </p:spPr>
        <p:txBody>
          <a:bodyPr/>
          <a:lstStyle/>
          <a:p>
            <a:endParaRPr lang="en-IN" sz="3200">
              <a:latin typeface="Cambria" panose="02040503050406030204" pitchFamily="18" charset="0"/>
              <a:ea typeface="Cambria" panose="02040503050406030204" pitchFamily="18" charset="0"/>
            </a:endParaRPr>
          </a:p>
        </p:txBody>
      </p:sp>
      <p:sp>
        <p:nvSpPr>
          <p:cNvPr id="7" name="Shape 5"/>
          <p:cNvSpPr/>
          <p:nvPr/>
        </p:nvSpPr>
        <p:spPr>
          <a:xfrm>
            <a:off x="320040" y="1115568"/>
            <a:ext cx="1298448"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8" name="Shape 6"/>
          <p:cNvSpPr/>
          <p:nvPr/>
        </p:nvSpPr>
        <p:spPr>
          <a:xfrm>
            <a:off x="694944" y="1207008"/>
            <a:ext cx="548640" cy="548640"/>
          </a:xfrm>
          <a:prstGeom prst="ellipse">
            <a:avLst/>
          </a:prstGeom>
          <a:solidFill>
            <a:srgbClr val="1A6FD4"/>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9" name="Text 7"/>
          <p:cNvSpPr/>
          <p:nvPr/>
        </p:nvSpPr>
        <p:spPr>
          <a:xfrm>
            <a:off x="694944" y="1207008"/>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1</a:t>
            </a:r>
            <a:endParaRPr lang="en-US" sz="2000" dirty="0">
              <a:latin typeface="Cambria" panose="02040503050406030204" pitchFamily="18" charset="0"/>
              <a:ea typeface="Cambria" panose="02040503050406030204" pitchFamily="18" charset="0"/>
            </a:endParaRPr>
          </a:p>
        </p:txBody>
      </p:sp>
      <p:sp>
        <p:nvSpPr>
          <p:cNvPr id="10" name="Text 8"/>
          <p:cNvSpPr/>
          <p:nvPr/>
        </p:nvSpPr>
        <p:spPr>
          <a:xfrm>
            <a:off x="365760" y="1810512"/>
            <a:ext cx="1207008" cy="384048"/>
          </a:xfrm>
          <a:prstGeom prst="rect">
            <a:avLst/>
          </a:prstGeom>
          <a:noFill/>
          <a:ln/>
        </p:spPr>
        <p:txBody>
          <a:bodyPr wrap="square" rtlCol="0" anchor="ctr"/>
          <a:lstStyle/>
          <a:p>
            <a:pPr marL="0" indent="0" algn="ctr">
              <a:buNone/>
            </a:pPr>
            <a:r>
              <a:rPr lang="en-US" sz="1200" b="1" dirty="0">
                <a:solidFill>
                  <a:srgbClr val="0B3A7A"/>
                </a:solidFill>
                <a:latin typeface="Cambria" panose="02040503050406030204" pitchFamily="18" charset="0"/>
                <a:ea typeface="Cambria" panose="02040503050406030204" pitchFamily="18" charset="0"/>
                <a:cs typeface="Calibri" pitchFamily="34" charset="-120"/>
              </a:rPr>
              <a:t>USER INPUT</a:t>
            </a:r>
            <a:endParaRPr lang="en-US" sz="1200" dirty="0">
              <a:latin typeface="Cambria" panose="02040503050406030204" pitchFamily="18" charset="0"/>
              <a:ea typeface="Cambria" panose="02040503050406030204" pitchFamily="18" charset="0"/>
            </a:endParaRPr>
          </a:p>
        </p:txBody>
      </p:sp>
      <p:sp>
        <p:nvSpPr>
          <p:cNvPr id="11" name="Text 9"/>
          <p:cNvSpPr/>
          <p:nvPr/>
        </p:nvSpPr>
        <p:spPr>
          <a:xfrm>
            <a:off x="365760" y="2231136"/>
            <a:ext cx="1207008" cy="1371600"/>
          </a:xfrm>
          <a:prstGeom prst="rect">
            <a:avLst/>
          </a:prstGeom>
          <a:noFill/>
          <a:ln/>
        </p:spPr>
        <p:txBody>
          <a:bodyPr wrap="square" rtlCol="0" anchor="t"/>
          <a:lstStyle/>
          <a:p>
            <a:pPr marL="0" indent="0" algn="ctr">
              <a:buNone/>
            </a:pPr>
            <a:r>
              <a:rPr lang="en-US" sz="1400" dirty="0">
                <a:solidFill>
                  <a:srgbClr val="0D1E3A"/>
                </a:solidFill>
                <a:latin typeface="Cambria" panose="02040503050406030204" pitchFamily="18" charset="0"/>
                <a:ea typeface="Cambria" panose="02040503050406030204" pitchFamily="18" charset="0"/>
                <a:cs typeface="Calibri" pitchFamily="34" charset="-120"/>
              </a:rPr>
              <a:t>Query / Image / PDF / Symptoms via UI</a:t>
            </a:r>
            <a:endParaRPr lang="en-US" sz="1400" dirty="0">
              <a:latin typeface="Cambria" panose="02040503050406030204" pitchFamily="18" charset="0"/>
              <a:ea typeface="Cambria" panose="02040503050406030204" pitchFamily="18" charset="0"/>
            </a:endParaRPr>
          </a:p>
        </p:txBody>
      </p:sp>
      <p:sp>
        <p:nvSpPr>
          <p:cNvPr id="12" name="Shape 10"/>
          <p:cNvSpPr/>
          <p:nvPr/>
        </p:nvSpPr>
        <p:spPr>
          <a:xfrm>
            <a:off x="1618488" y="1389888"/>
            <a:ext cx="128016" cy="9144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13" name="Shape 11"/>
          <p:cNvSpPr/>
          <p:nvPr/>
        </p:nvSpPr>
        <p:spPr>
          <a:xfrm>
            <a:off x="1746504" y="1115568"/>
            <a:ext cx="1298448" cy="2560320"/>
          </a:xfrm>
          <a:prstGeom prst="rect">
            <a:avLst/>
          </a:prstGeom>
          <a:solidFill>
            <a:srgbClr val="FFFFFF"/>
          </a:solidFill>
          <a:ln w="12700">
            <a:solidFill>
              <a:srgbClr val="BDD6F5"/>
            </a:solidFill>
            <a:prstDash val="solid"/>
          </a:ln>
          <a:effectLst>
            <a:outerShdw blurRad="381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14" name="Shape 12"/>
          <p:cNvSpPr/>
          <p:nvPr/>
        </p:nvSpPr>
        <p:spPr>
          <a:xfrm>
            <a:off x="1746504" y="1115568"/>
            <a:ext cx="1298448"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15" name="Shape 13"/>
          <p:cNvSpPr/>
          <p:nvPr/>
        </p:nvSpPr>
        <p:spPr>
          <a:xfrm>
            <a:off x="2121408" y="1207008"/>
            <a:ext cx="548640" cy="548640"/>
          </a:xfrm>
          <a:prstGeom prst="ellipse">
            <a:avLst/>
          </a:prstGeom>
          <a:solidFill>
            <a:srgbClr val="1A6FD4"/>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16" name="Text 14"/>
          <p:cNvSpPr/>
          <p:nvPr/>
        </p:nvSpPr>
        <p:spPr>
          <a:xfrm>
            <a:off x="2121408" y="1207008"/>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2</a:t>
            </a:r>
            <a:endParaRPr lang="en-US" sz="2000" dirty="0">
              <a:latin typeface="Cambria" panose="02040503050406030204" pitchFamily="18" charset="0"/>
              <a:ea typeface="Cambria" panose="02040503050406030204" pitchFamily="18" charset="0"/>
            </a:endParaRPr>
          </a:p>
        </p:txBody>
      </p:sp>
      <p:sp>
        <p:nvSpPr>
          <p:cNvPr id="17" name="Text 15"/>
          <p:cNvSpPr/>
          <p:nvPr/>
        </p:nvSpPr>
        <p:spPr>
          <a:xfrm>
            <a:off x="1792224" y="1810512"/>
            <a:ext cx="1207008" cy="384048"/>
          </a:xfrm>
          <a:prstGeom prst="rect">
            <a:avLst/>
          </a:prstGeom>
          <a:noFill/>
          <a:ln/>
        </p:spPr>
        <p:txBody>
          <a:bodyPr wrap="square" rtlCol="0" anchor="ctr"/>
          <a:lstStyle/>
          <a:p>
            <a:pPr marL="0" indent="0" algn="ctr">
              <a:buNone/>
            </a:pPr>
            <a:r>
              <a:rPr lang="en-US" sz="1200" b="1" dirty="0">
                <a:solidFill>
                  <a:srgbClr val="0B3A7A"/>
                </a:solidFill>
                <a:latin typeface="Cambria" panose="02040503050406030204" pitchFamily="18" charset="0"/>
                <a:ea typeface="Cambria" panose="02040503050406030204" pitchFamily="18" charset="0"/>
                <a:cs typeface="Calibri" pitchFamily="34" charset="-120"/>
              </a:rPr>
              <a:t>AUTHENTICATION</a:t>
            </a:r>
            <a:endParaRPr lang="en-US" sz="1200" dirty="0">
              <a:latin typeface="Cambria" panose="02040503050406030204" pitchFamily="18" charset="0"/>
              <a:ea typeface="Cambria" panose="02040503050406030204" pitchFamily="18" charset="0"/>
            </a:endParaRPr>
          </a:p>
        </p:txBody>
      </p:sp>
      <p:sp>
        <p:nvSpPr>
          <p:cNvPr id="18" name="Text 16"/>
          <p:cNvSpPr/>
          <p:nvPr/>
        </p:nvSpPr>
        <p:spPr>
          <a:xfrm>
            <a:off x="1792224" y="2231136"/>
            <a:ext cx="1207008" cy="1371600"/>
          </a:xfrm>
          <a:prstGeom prst="rect">
            <a:avLst/>
          </a:prstGeom>
          <a:noFill/>
          <a:ln/>
        </p:spPr>
        <p:txBody>
          <a:bodyPr wrap="square" rtlCol="0" anchor="t"/>
          <a:lstStyle/>
          <a:p>
            <a:pPr marL="0" indent="0" algn="ctr">
              <a:buNone/>
            </a:pPr>
            <a:r>
              <a:rPr lang="en-US" sz="1400" dirty="0">
                <a:solidFill>
                  <a:srgbClr val="0D1E3A"/>
                </a:solidFill>
                <a:latin typeface="Cambria" panose="02040503050406030204" pitchFamily="18" charset="0"/>
                <a:ea typeface="Cambria" panose="02040503050406030204" pitchFamily="18" charset="0"/>
                <a:cs typeface="Calibri" pitchFamily="34" charset="-120"/>
              </a:rPr>
              <a:t>Supabase Auth + SHA-256 session validation</a:t>
            </a:r>
            <a:endParaRPr lang="en-US" sz="1400" dirty="0">
              <a:latin typeface="Cambria" panose="02040503050406030204" pitchFamily="18" charset="0"/>
              <a:ea typeface="Cambria" panose="02040503050406030204" pitchFamily="18" charset="0"/>
            </a:endParaRPr>
          </a:p>
        </p:txBody>
      </p:sp>
      <p:sp>
        <p:nvSpPr>
          <p:cNvPr id="19" name="Shape 17"/>
          <p:cNvSpPr/>
          <p:nvPr/>
        </p:nvSpPr>
        <p:spPr>
          <a:xfrm>
            <a:off x="3044952" y="1389888"/>
            <a:ext cx="128016" cy="9144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20" name="Shape 18"/>
          <p:cNvSpPr/>
          <p:nvPr/>
        </p:nvSpPr>
        <p:spPr>
          <a:xfrm>
            <a:off x="3172968" y="1115568"/>
            <a:ext cx="1298448" cy="2560320"/>
          </a:xfrm>
          <a:prstGeom prst="rect">
            <a:avLst/>
          </a:prstGeom>
          <a:solidFill>
            <a:srgbClr val="FFFFFF"/>
          </a:solidFill>
          <a:ln w="12700">
            <a:solidFill>
              <a:srgbClr val="BDD6F5"/>
            </a:solidFill>
            <a:prstDash val="solid"/>
          </a:ln>
          <a:effectLst>
            <a:outerShdw blurRad="381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21" name="Shape 19"/>
          <p:cNvSpPr/>
          <p:nvPr/>
        </p:nvSpPr>
        <p:spPr>
          <a:xfrm>
            <a:off x="3172968" y="1115568"/>
            <a:ext cx="1298448"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22" name="Shape 20"/>
          <p:cNvSpPr/>
          <p:nvPr/>
        </p:nvSpPr>
        <p:spPr>
          <a:xfrm>
            <a:off x="3547872" y="1207008"/>
            <a:ext cx="548640" cy="548640"/>
          </a:xfrm>
          <a:prstGeom prst="ellipse">
            <a:avLst/>
          </a:prstGeom>
          <a:solidFill>
            <a:srgbClr val="1A6FD4"/>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23" name="Text 21"/>
          <p:cNvSpPr/>
          <p:nvPr/>
        </p:nvSpPr>
        <p:spPr>
          <a:xfrm>
            <a:off x="3547872" y="1207008"/>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3</a:t>
            </a:r>
            <a:endParaRPr lang="en-US" sz="2000" dirty="0">
              <a:latin typeface="Cambria" panose="02040503050406030204" pitchFamily="18" charset="0"/>
              <a:ea typeface="Cambria" panose="02040503050406030204" pitchFamily="18" charset="0"/>
            </a:endParaRPr>
          </a:p>
        </p:txBody>
      </p:sp>
      <p:sp>
        <p:nvSpPr>
          <p:cNvPr id="24" name="Text 22"/>
          <p:cNvSpPr/>
          <p:nvPr/>
        </p:nvSpPr>
        <p:spPr>
          <a:xfrm>
            <a:off x="3218688" y="1810512"/>
            <a:ext cx="1207008" cy="384048"/>
          </a:xfrm>
          <a:prstGeom prst="rect">
            <a:avLst/>
          </a:prstGeom>
          <a:noFill/>
          <a:ln/>
        </p:spPr>
        <p:txBody>
          <a:bodyPr wrap="square" rtlCol="0" anchor="ctr"/>
          <a:lstStyle/>
          <a:p>
            <a:pPr marL="0" indent="0" algn="ctr">
              <a:buNone/>
            </a:pPr>
            <a:r>
              <a:rPr lang="en-US" sz="1200" b="1" dirty="0">
                <a:solidFill>
                  <a:srgbClr val="0B3A7A"/>
                </a:solidFill>
                <a:latin typeface="Cambria" panose="02040503050406030204" pitchFamily="18" charset="0"/>
                <a:ea typeface="Cambria" panose="02040503050406030204" pitchFamily="18" charset="0"/>
                <a:cs typeface="Calibri" pitchFamily="34" charset="-120"/>
              </a:rPr>
              <a:t>INPUT ROUTING</a:t>
            </a:r>
            <a:endParaRPr lang="en-US" sz="1200" dirty="0">
              <a:latin typeface="Cambria" panose="02040503050406030204" pitchFamily="18" charset="0"/>
              <a:ea typeface="Cambria" panose="02040503050406030204" pitchFamily="18" charset="0"/>
            </a:endParaRPr>
          </a:p>
        </p:txBody>
      </p:sp>
      <p:sp>
        <p:nvSpPr>
          <p:cNvPr id="25" name="Text 23"/>
          <p:cNvSpPr/>
          <p:nvPr/>
        </p:nvSpPr>
        <p:spPr>
          <a:xfrm>
            <a:off x="3218688" y="2231136"/>
            <a:ext cx="1207008" cy="1371600"/>
          </a:xfrm>
          <a:prstGeom prst="rect">
            <a:avLst/>
          </a:prstGeom>
          <a:noFill/>
          <a:ln/>
        </p:spPr>
        <p:txBody>
          <a:bodyPr wrap="square" rtlCol="0" anchor="t"/>
          <a:lstStyle/>
          <a:p>
            <a:pPr marL="0" indent="0" algn="ctr">
              <a:buNone/>
            </a:pPr>
            <a:r>
              <a:rPr lang="en-US" sz="1400" dirty="0">
                <a:solidFill>
                  <a:srgbClr val="0D1E3A"/>
                </a:solidFill>
                <a:latin typeface="Cambria" panose="02040503050406030204" pitchFamily="18" charset="0"/>
                <a:ea typeface="Cambria" panose="02040503050406030204" pitchFamily="18" charset="0"/>
                <a:cs typeface="Calibri" pitchFamily="34" charset="-120"/>
              </a:rPr>
              <a:t>Chat Flow Controller routes to correct module</a:t>
            </a:r>
            <a:endParaRPr lang="en-US" sz="1400" dirty="0">
              <a:latin typeface="Cambria" panose="02040503050406030204" pitchFamily="18" charset="0"/>
              <a:ea typeface="Cambria" panose="02040503050406030204" pitchFamily="18" charset="0"/>
            </a:endParaRPr>
          </a:p>
        </p:txBody>
      </p:sp>
      <p:sp>
        <p:nvSpPr>
          <p:cNvPr id="26" name="Shape 24"/>
          <p:cNvSpPr/>
          <p:nvPr/>
        </p:nvSpPr>
        <p:spPr>
          <a:xfrm>
            <a:off x="4471416" y="1389888"/>
            <a:ext cx="128016" cy="9144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27" name="Shape 25"/>
          <p:cNvSpPr/>
          <p:nvPr/>
        </p:nvSpPr>
        <p:spPr>
          <a:xfrm>
            <a:off x="4599432" y="1115568"/>
            <a:ext cx="1298448" cy="2560320"/>
          </a:xfrm>
          <a:prstGeom prst="rect">
            <a:avLst/>
          </a:prstGeom>
          <a:solidFill>
            <a:srgbClr val="FFFFFF"/>
          </a:solidFill>
          <a:ln w="12700">
            <a:solidFill>
              <a:srgbClr val="BDD6F5"/>
            </a:solidFill>
            <a:prstDash val="solid"/>
          </a:ln>
          <a:effectLst>
            <a:outerShdw blurRad="381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28" name="Shape 26"/>
          <p:cNvSpPr/>
          <p:nvPr/>
        </p:nvSpPr>
        <p:spPr>
          <a:xfrm>
            <a:off x="4599432" y="1115568"/>
            <a:ext cx="1298448"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29" name="Shape 27"/>
          <p:cNvSpPr/>
          <p:nvPr/>
        </p:nvSpPr>
        <p:spPr>
          <a:xfrm>
            <a:off x="4974336" y="1207008"/>
            <a:ext cx="548640" cy="548640"/>
          </a:xfrm>
          <a:prstGeom prst="ellipse">
            <a:avLst/>
          </a:prstGeom>
          <a:solidFill>
            <a:srgbClr val="1A6FD4"/>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0" name="Text 28"/>
          <p:cNvSpPr/>
          <p:nvPr/>
        </p:nvSpPr>
        <p:spPr>
          <a:xfrm>
            <a:off x="4974336" y="1207008"/>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4</a:t>
            </a:r>
            <a:endParaRPr lang="en-US" sz="2000" dirty="0">
              <a:latin typeface="Cambria" panose="02040503050406030204" pitchFamily="18" charset="0"/>
              <a:ea typeface="Cambria" panose="02040503050406030204" pitchFamily="18" charset="0"/>
            </a:endParaRPr>
          </a:p>
        </p:txBody>
      </p:sp>
      <p:sp>
        <p:nvSpPr>
          <p:cNvPr id="31" name="Text 29"/>
          <p:cNvSpPr/>
          <p:nvPr/>
        </p:nvSpPr>
        <p:spPr>
          <a:xfrm>
            <a:off x="4645152" y="1810512"/>
            <a:ext cx="1207008" cy="384048"/>
          </a:xfrm>
          <a:prstGeom prst="rect">
            <a:avLst/>
          </a:prstGeom>
          <a:noFill/>
          <a:ln/>
        </p:spPr>
        <p:txBody>
          <a:bodyPr wrap="square" rtlCol="0" anchor="ctr"/>
          <a:lstStyle/>
          <a:p>
            <a:pPr marL="0" indent="0" algn="ctr">
              <a:buNone/>
            </a:pPr>
            <a:r>
              <a:rPr lang="en-US" sz="1200" b="1" dirty="0">
                <a:solidFill>
                  <a:srgbClr val="0B3A7A"/>
                </a:solidFill>
                <a:latin typeface="Cambria" panose="02040503050406030204" pitchFamily="18" charset="0"/>
                <a:ea typeface="Cambria" panose="02040503050406030204" pitchFamily="18" charset="0"/>
                <a:cs typeface="Calibri" pitchFamily="34" charset="-120"/>
              </a:rPr>
              <a:t>AI PROCESSING</a:t>
            </a:r>
            <a:endParaRPr lang="en-US" sz="1200" dirty="0">
              <a:latin typeface="Cambria" panose="02040503050406030204" pitchFamily="18" charset="0"/>
              <a:ea typeface="Cambria" panose="02040503050406030204" pitchFamily="18" charset="0"/>
            </a:endParaRPr>
          </a:p>
        </p:txBody>
      </p:sp>
      <p:sp>
        <p:nvSpPr>
          <p:cNvPr id="32" name="Text 30"/>
          <p:cNvSpPr/>
          <p:nvPr/>
        </p:nvSpPr>
        <p:spPr>
          <a:xfrm>
            <a:off x="4645152" y="2231136"/>
            <a:ext cx="1207008" cy="1371600"/>
          </a:xfrm>
          <a:prstGeom prst="rect">
            <a:avLst/>
          </a:prstGeom>
          <a:noFill/>
          <a:ln/>
        </p:spPr>
        <p:txBody>
          <a:bodyPr wrap="square" rtlCol="0" anchor="t"/>
          <a:lstStyle/>
          <a:p>
            <a:pPr marL="0" indent="0" algn="ctr">
              <a:buNone/>
            </a:pPr>
            <a:r>
              <a:rPr lang="en-US" sz="1400" dirty="0">
                <a:solidFill>
                  <a:srgbClr val="0D1E3A"/>
                </a:solidFill>
                <a:latin typeface="Cambria" panose="02040503050406030204" pitchFamily="18" charset="0"/>
                <a:ea typeface="Cambria" panose="02040503050406030204" pitchFamily="18" charset="0"/>
                <a:cs typeface="Calibri" pitchFamily="34" charset="-120"/>
              </a:rPr>
              <a:t>Mistral Large 3 generates clinical response</a:t>
            </a:r>
            <a:endParaRPr lang="en-US" sz="1400" dirty="0">
              <a:latin typeface="Cambria" panose="02040503050406030204" pitchFamily="18" charset="0"/>
              <a:ea typeface="Cambria" panose="02040503050406030204" pitchFamily="18" charset="0"/>
            </a:endParaRPr>
          </a:p>
        </p:txBody>
      </p:sp>
      <p:sp>
        <p:nvSpPr>
          <p:cNvPr id="33" name="Shape 31"/>
          <p:cNvSpPr/>
          <p:nvPr/>
        </p:nvSpPr>
        <p:spPr>
          <a:xfrm>
            <a:off x="5897880" y="1389888"/>
            <a:ext cx="128016" cy="9144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4" name="Shape 32"/>
          <p:cNvSpPr/>
          <p:nvPr/>
        </p:nvSpPr>
        <p:spPr>
          <a:xfrm>
            <a:off x="6025896" y="1115568"/>
            <a:ext cx="1298448" cy="2560320"/>
          </a:xfrm>
          <a:prstGeom prst="rect">
            <a:avLst/>
          </a:prstGeom>
          <a:solidFill>
            <a:srgbClr val="FFFFFF"/>
          </a:solidFill>
          <a:ln w="12700">
            <a:solidFill>
              <a:srgbClr val="BDD6F5"/>
            </a:solidFill>
            <a:prstDash val="solid"/>
          </a:ln>
          <a:effectLst>
            <a:outerShdw blurRad="381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35" name="Shape 33"/>
          <p:cNvSpPr/>
          <p:nvPr/>
        </p:nvSpPr>
        <p:spPr>
          <a:xfrm>
            <a:off x="6025896" y="1115568"/>
            <a:ext cx="1298448"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6" name="Shape 34"/>
          <p:cNvSpPr/>
          <p:nvPr/>
        </p:nvSpPr>
        <p:spPr>
          <a:xfrm>
            <a:off x="6400800" y="1207008"/>
            <a:ext cx="548640" cy="548640"/>
          </a:xfrm>
          <a:prstGeom prst="ellipse">
            <a:avLst/>
          </a:prstGeom>
          <a:solidFill>
            <a:srgbClr val="1A6FD4"/>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7" name="Text 35"/>
          <p:cNvSpPr/>
          <p:nvPr/>
        </p:nvSpPr>
        <p:spPr>
          <a:xfrm>
            <a:off x="6400800" y="1207008"/>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5</a:t>
            </a:r>
            <a:endParaRPr lang="en-US" sz="2000" dirty="0">
              <a:latin typeface="Cambria" panose="02040503050406030204" pitchFamily="18" charset="0"/>
              <a:ea typeface="Cambria" panose="02040503050406030204" pitchFamily="18" charset="0"/>
            </a:endParaRPr>
          </a:p>
        </p:txBody>
      </p:sp>
      <p:sp>
        <p:nvSpPr>
          <p:cNvPr id="38" name="Text 36"/>
          <p:cNvSpPr/>
          <p:nvPr/>
        </p:nvSpPr>
        <p:spPr>
          <a:xfrm>
            <a:off x="6071616" y="1810512"/>
            <a:ext cx="1207008" cy="384048"/>
          </a:xfrm>
          <a:prstGeom prst="rect">
            <a:avLst/>
          </a:prstGeom>
          <a:noFill/>
          <a:ln/>
        </p:spPr>
        <p:txBody>
          <a:bodyPr wrap="square" rtlCol="0" anchor="ctr"/>
          <a:lstStyle/>
          <a:p>
            <a:pPr marL="0" indent="0" algn="ctr">
              <a:buNone/>
            </a:pPr>
            <a:r>
              <a:rPr lang="en-US" sz="1200" b="1" dirty="0">
                <a:solidFill>
                  <a:srgbClr val="0B3A7A"/>
                </a:solidFill>
                <a:latin typeface="Cambria" panose="02040503050406030204" pitchFamily="18" charset="0"/>
                <a:ea typeface="Cambria" panose="02040503050406030204" pitchFamily="18" charset="0"/>
                <a:cs typeface="Calibri" pitchFamily="34" charset="-120"/>
              </a:rPr>
              <a:t>DATA STORAGE</a:t>
            </a:r>
            <a:endParaRPr lang="en-US" sz="1200" dirty="0">
              <a:latin typeface="Cambria" panose="02040503050406030204" pitchFamily="18" charset="0"/>
              <a:ea typeface="Cambria" panose="02040503050406030204" pitchFamily="18" charset="0"/>
            </a:endParaRPr>
          </a:p>
        </p:txBody>
      </p:sp>
      <p:sp>
        <p:nvSpPr>
          <p:cNvPr id="39" name="Text 37"/>
          <p:cNvSpPr/>
          <p:nvPr/>
        </p:nvSpPr>
        <p:spPr>
          <a:xfrm>
            <a:off x="6071616" y="2231136"/>
            <a:ext cx="1207008" cy="1371600"/>
          </a:xfrm>
          <a:prstGeom prst="rect">
            <a:avLst/>
          </a:prstGeom>
          <a:noFill/>
          <a:ln/>
        </p:spPr>
        <p:txBody>
          <a:bodyPr wrap="square" rtlCol="0" anchor="t"/>
          <a:lstStyle/>
          <a:p>
            <a:pPr marL="0" indent="0" algn="ctr">
              <a:buNone/>
            </a:pPr>
            <a:r>
              <a:rPr lang="en-US" sz="1400" dirty="0">
                <a:solidFill>
                  <a:srgbClr val="0D1E3A"/>
                </a:solidFill>
                <a:latin typeface="Cambria" panose="02040503050406030204" pitchFamily="18" charset="0"/>
                <a:ea typeface="Cambria" panose="02040503050406030204" pitchFamily="18" charset="0"/>
                <a:cs typeface="Calibri" pitchFamily="34" charset="-120"/>
              </a:rPr>
              <a:t>Result encrypted &amp; saved in Supabase PostgreSQL</a:t>
            </a:r>
            <a:endParaRPr lang="en-US" sz="1400" dirty="0">
              <a:latin typeface="Cambria" panose="02040503050406030204" pitchFamily="18" charset="0"/>
              <a:ea typeface="Cambria" panose="02040503050406030204" pitchFamily="18" charset="0"/>
            </a:endParaRPr>
          </a:p>
        </p:txBody>
      </p:sp>
      <p:sp>
        <p:nvSpPr>
          <p:cNvPr id="40" name="Shape 38"/>
          <p:cNvSpPr/>
          <p:nvPr/>
        </p:nvSpPr>
        <p:spPr>
          <a:xfrm>
            <a:off x="7324344" y="1389888"/>
            <a:ext cx="128016" cy="9144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41" name="Shape 39"/>
          <p:cNvSpPr/>
          <p:nvPr/>
        </p:nvSpPr>
        <p:spPr>
          <a:xfrm>
            <a:off x="7452360" y="1115568"/>
            <a:ext cx="1298448" cy="2560320"/>
          </a:xfrm>
          <a:prstGeom prst="rect">
            <a:avLst/>
          </a:prstGeom>
          <a:solidFill>
            <a:srgbClr val="FFFFFF"/>
          </a:solidFill>
          <a:ln w="12700">
            <a:solidFill>
              <a:srgbClr val="BDD6F5"/>
            </a:solidFill>
            <a:prstDash val="solid"/>
          </a:ln>
          <a:effectLst>
            <a:outerShdw blurRad="381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42" name="Shape 40"/>
          <p:cNvSpPr/>
          <p:nvPr/>
        </p:nvSpPr>
        <p:spPr>
          <a:xfrm>
            <a:off x="7452360" y="1115568"/>
            <a:ext cx="1298448"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43" name="Shape 41"/>
          <p:cNvSpPr/>
          <p:nvPr/>
        </p:nvSpPr>
        <p:spPr>
          <a:xfrm>
            <a:off x="7827264" y="1207008"/>
            <a:ext cx="548640" cy="548640"/>
          </a:xfrm>
          <a:prstGeom prst="ellipse">
            <a:avLst/>
          </a:prstGeom>
          <a:solidFill>
            <a:srgbClr val="1A6FD4"/>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44" name="Text 42"/>
          <p:cNvSpPr/>
          <p:nvPr/>
        </p:nvSpPr>
        <p:spPr>
          <a:xfrm>
            <a:off x="7827264" y="1207008"/>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6</a:t>
            </a:r>
            <a:endParaRPr lang="en-US" sz="2000" dirty="0">
              <a:latin typeface="Cambria" panose="02040503050406030204" pitchFamily="18" charset="0"/>
              <a:ea typeface="Cambria" panose="02040503050406030204" pitchFamily="18" charset="0"/>
            </a:endParaRPr>
          </a:p>
        </p:txBody>
      </p:sp>
      <p:sp>
        <p:nvSpPr>
          <p:cNvPr id="45" name="Text 43"/>
          <p:cNvSpPr/>
          <p:nvPr/>
        </p:nvSpPr>
        <p:spPr>
          <a:xfrm>
            <a:off x="7498080" y="1810512"/>
            <a:ext cx="1207008" cy="384048"/>
          </a:xfrm>
          <a:prstGeom prst="rect">
            <a:avLst/>
          </a:prstGeom>
          <a:noFill/>
          <a:ln/>
        </p:spPr>
        <p:txBody>
          <a:bodyPr wrap="square" rtlCol="0" anchor="ctr"/>
          <a:lstStyle/>
          <a:p>
            <a:pPr marL="0" indent="0" algn="ctr">
              <a:buNone/>
            </a:pPr>
            <a:r>
              <a:rPr lang="en-US" sz="1200" b="1" dirty="0">
                <a:solidFill>
                  <a:srgbClr val="0B3A7A"/>
                </a:solidFill>
                <a:latin typeface="Cambria" panose="02040503050406030204" pitchFamily="18" charset="0"/>
                <a:ea typeface="Cambria" panose="02040503050406030204" pitchFamily="18" charset="0"/>
                <a:cs typeface="Calibri" pitchFamily="34" charset="-120"/>
              </a:rPr>
              <a:t>RESPONSE</a:t>
            </a:r>
            <a:endParaRPr lang="en-US" sz="1200" dirty="0">
              <a:latin typeface="Cambria" panose="02040503050406030204" pitchFamily="18" charset="0"/>
              <a:ea typeface="Cambria" panose="02040503050406030204" pitchFamily="18" charset="0"/>
            </a:endParaRPr>
          </a:p>
        </p:txBody>
      </p:sp>
      <p:sp>
        <p:nvSpPr>
          <p:cNvPr id="46" name="Text 44"/>
          <p:cNvSpPr/>
          <p:nvPr/>
        </p:nvSpPr>
        <p:spPr>
          <a:xfrm>
            <a:off x="7498080" y="2231136"/>
            <a:ext cx="1207008" cy="1371600"/>
          </a:xfrm>
          <a:prstGeom prst="rect">
            <a:avLst/>
          </a:prstGeom>
          <a:noFill/>
          <a:ln/>
        </p:spPr>
        <p:txBody>
          <a:bodyPr wrap="square" rtlCol="0" anchor="t"/>
          <a:lstStyle/>
          <a:p>
            <a:pPr marL="0" indent="0" algn="ctr">
              <a:buNone/>
            </a:pPr>
            <a:r>
              <a:rPr lang="en-US" sz="1400" dirty="0">
                <a:solidFill>
                  <a:srgbClr val="0D1E3A"/>
                </a:solidFill>
                <a:latin typeface="Cambria" panose="02040503050406030204" pitchFamily="18" charset="0"/>
                <a:ea typeface="Cambria" panose="02040503050406030204" pitchFamily="18" charset="0"/>
                <a:cs typeface="Calibri" pitchFamily="34" charset="-120"/>
              </a:rPr>
              <a:t>Structured output returned to user with history</a:t>
            </a:r>
            <a:endParaRPr lang="en-US" sz="1400" dirty="0">
              <a:latin typeface="Cambria" panose="02040503050406030204" pitchFamily="18" charset="0"/>
              <a:ea typeface="Cambria" panose="02040503050406030204" pitchFamily="18" charset="0"/>
            </a:endParaRPr>
          </a:p>
        </p:txBody>
      </p:sp>
      <p:sp>
        <p:nvSpPr>
          <p:cNvPr id="47" name="Shape 45"/>
          <p:cNvSpPr/>
          <p:nvPr/>
        </p:nvSpPr>
        <p:spPr>
          <a:xfrm>
            <a:off x="320040" y="3749040"/>
            <a:ext cx="8503920" cy="530352"/>
          </a:xfrm>
          <a:prstGeom prst="rect">
            <a:avLst/>
          </a:prstGeom>
          <a:solidFill>
            <a:srgbClr val="071020"/>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48" name="Text 46"/>
          <p:cNvSpPr/>
          <p:nvPr/>
        </p:nvSpPr>
        <p:spPr>
          <a:xfrm>
            <a:off x="411480" y="3749040"/>
            <a:ext cx="8321040" cy="530352"/>
          </a:xfrm>
          <a:prstGeom prst="rect">
            <a:avLst/>
          </a:prstGeom>
          <a:noFill/>
          <a:ln/>
        </p:spPr>
        <p:txBody>
          <a:bodyPr wrap="square" rtlCol="0" anchor="ctr"/>
          <a:lstStyle/>
          <a:p>
            <a:pPr marL="0" indent="0" algn="l">
              <a:buNone/>
            </a:pPr>
            <a:r>
              <a:rPr lang="en-US" sz="1400" dirty="0">
                <a:solidFill>
                  <a:srgbClr val="FFFFFF"/>
                </a:solidFill>
                <a:latin typeface="Cambria" panose="02040503050406030204" pitchFamily="18" charset="0"/>
                <a:ea typeface="Cambria" panose="02040503050406030204" pitchFamily="18" charset="0"/>
                <a:cs typeface="Calibri" pitchFamily="34" charset="-120"/>
              </a:rPr>
              <a:t>🔐  SECURITY: All conversation data encrypted · User-deletable records · Access restricted to authenticated users · Supabase RLS enforced</a:t>
            </a:r>
            <a:endParaRPr lang="en-US" sz="1400" dirty="0">
              <a:latin typeface="Cambria" panose="02040503050406030204" pitchFamily="18" charset="0"/>
              <a:ea typeface="Cambria" panose="02040503050406030204" pitchFamily="18" charset="0"/>
            </a:endParaRPr>
          </a:p>
        </p:txBody>
      </p:sp>
      <p:sp>
        <p:nvSpPr>
          <p:cNvPr id="49" name="Shape 47"/>
          <p:cNvSpPr/>
          <p:nvPr/>
        </p:nvSpPr>
        <p:spPr>
          <a:xfrm>
            <a:off x="320040" y="4315968"/>
            <a:ext cx="8503920" cy="347472"/>
          </a:xfrm>
          <a:prstGeom prst="rect">
            <a:avLst/>
          </a:prstGeom>
          <a:solidFill>
            <a:srgbClr val="BDD6F5"/>
          </a:solidFill>
          <a:ln w="12700">
            <a:solidFill>
              <a:srgbClr val="BDD6F5"/>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50" name="Text 48"/>
          <p:cNvSpPr/>
          <p:nvPr/>
        </p:nvSpPr>
        <p:spPr>
          <a:xfrm>
            <a:off x="320040" y="4315968"/>
            <a:ext cx="8503920" cy="347472"/>
          </a:xfrm>
          <a:prstGeom prst="rect">
            <a:avLst/>
          </a:prstGeom>
          <a:noFill/>
          <a:ln/>
        </p:spPr>
        <p:txBody>
          <a:bodyPr wrap="square" rtlCol="0" anchor="ctr"/>
          <a:lstStyle/>
          <a:p>
            <a:pPr marL="0" indent="0" algn="ctr">
              <a:buNone/>
            </a:pPr>
            <a:r>
              <a:rPr lang="en-US" sz="1200" b="1" dirty="0">
                <a:solidFill>
                  <a:srgbClr val="0B3A7A"/>
                </a:solidFill>
                <a:latin typeface="Cambria" panose="02040503050406030204" pitchFamily="18" charset="0"/>
                <a:ea typeface="Cambria" panose="02040503050406030204" pitchFamily="18" charset="0"/>
                <a:cs typeface="Calibri" pitchFamily="34" charset="-120"/>
              </a:rPr>
              <a:t>PARALLEL: OCR Engine (EasyOCR)  •  PDF Engine (PyPDF2)  •  Geoapify Hospital API  •  Google Maps Integration</a:t>
            </a:r>
            <a:endParaRPr lang="en-US" sz="1200" dirty="0">
              <a:latin typeface="Cambria" panose="02040503050406030204" pitchFamily="18" charset="0"/>
              <a:ea typeface="Cambria" panose="02040503050406030204" pitchFamily="18" charset="0"/>
            </a:endParaRPr>
          </a:p>
        </p:txBody>
      </p:sp>
      <p:sp>
        <p:nvSpPr>
          <p:cNvPr id="51" name="Shape 49"/>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52" name="Text 50"/>
          <p:cNvSpPr/>
          <p:nvPr/>
        </p:nvSpPr>
        <p:spPr>
          <a:xfrm>
            <a:off x="0" y="4864608"/>
            <a:ext cx="9144000" cy="278892"/>
          </a:xfrm>
          <a:prstGeom prst="rect">
            <a:avLst/>
          </a:prstGeom>
          <a:noFill/>
          <a:ln/>
        </p:spPr>
        <p:txBody>
          <a:bodyPr wrap="square" lIns="0" tIns="0" rIns="0" bIns="0" rtlCol="0" anchor="ctr"/>
          <a:lstStyle/>
          <a:p>
            <a:pPr marL="0" indent="0" algn="ctr">
              <a:buNone/>
            </a:pPr>
            <a:r>
              <a:rPr lang="en-US" sz="1100" dirty="0">
                <a:solidFill>
                  <a:srgbClr val="FFFFFF"/>
                </a:solidFill>
                <a:latin typeface="Cambria" panose="02040503050406030204" pitchFamily="18" charset="0"/>
                <a:ea typeface="Cambria" panose="02040503050406030204" pitchFamily="18" charset="0"/>
                <a:cs typeface="Calibri" pitchFamily="34" charset="-120"/>
              </a:rPr>
              <a:t>HealthAssist AI  |  Bapatla Engineering College  |  2025-26</a:t>
            </a:r>
            <a:endParaRPr lang="en-US" sz="1100"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E5EF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E3A"/>
          </a:solidFill>
          <a:ln w="12700">
            <a:solidFill>
              <a:srgbClr val="0D1E3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4" name="Text 2"/>
          <p:cNvSpPr/>
          <p:nvPr/>
        </p:nvSpPr>
        <p:spPr>
          <a:xfrm>
            <a:off x="320040" y="0"/>
            <a:ext cx="6858000" cy="96012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anose="02040503050406030204" pitchFamily="18" charset="0"/>
                <a:ea typeface="Cambria" panose="02040503050406030204" pitchFamily="18" charset="0"/>
                <a:cs typeface="Calibri" pitchFamily="34" charset="-120"/>
              </a:rPr>
              <a:t>RESULTS &amp; DISCUSSION</a:t>
            </a:r>
            <a:endParaRPr lang="en-US" sz="4000" dirty="0">
              <a:latin typeface="Cambria" panose="02040503050406030204" pitchFamily="18" charset="0"/>
              <a:ea typeface="Cambria" panose="02040503050406030204" pitchFamily="18" charset="0"/>
            </a:endParaRPr>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r>
              <a:rPr lang="en-US" sz="1600" i="1" dirty="0">
                <a:solidFill>
                  <a:srgbClr val="CADCFC"/>
                </a:solidFill>
                <a:latin typeface="Cambria" panose="02040503050406030204" pitchFamily="18" charset="0"/>
                <a:ea typeface="Cambria" panose="02040503050406030204" pitchFamily="18" charset="0"/>
                <a:cs typeface="Calibri" pitchFamily="34" charset="-120"/>
              </a:rPr>
              <a:t>Evaluation Metrics Overview</a:t>
            </a:r>
            <a:endParaRPr lang="en-US" sz="1600" dirty="0">
              <a:latin typeface="Cambria" panose="02040503050406030204" pitchFamily="18" charset="0"/>
              <a:ea typeface="Cambria" panose="02040503050406030204" pitchFamily="18" charset="0"/>
            </a:endParaRPr>
          </a:p>
        </p:txBody>
      </p:sp>
      <p:sp>
        <p:nvSpPr>
          <p:cNvPr id="6" name="Shape 4"/>
          <p:cNvSpPr/>
          <p:nvPr/>
        </p:nvSpPr>
        <p:spPr>
          <a:xfrm>
            <a:off x="274320" y="1097280"/>
            <a:ext cx="1965960" cy="2423160"/>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7" name="Shape 5"/>
          <p:cNvSpPr/>
          <p:nvPr/>
        </p:nvSpPr>
        <p:spPr>
          <a:xfrm>
            <a:off x="274320" y="1097280"/>
            <a:ext cx="1965960"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8" name="Text 6"/>
          <p:cNvSpPr/>
          <p:nvPr/>
        </p:nvSpPr>
        <p:spPr>
          <a:xfrm>
            <a:off x="274320" y="1188720"/>
            <a:ext cx="1965960" cy="594360"/>
          </a:xfrm>
          <a:prstGeom prst="rect">
            <a:avLst/>
          </a:prstGeom>
          <a:noFill/>
          <a:ln/>
        </p:spPr>
        <p:txBody>
          <a:bodyPr wrap="square" rtlCol="0" anchor="ctr"/>
          <a:lstStyle/>
          <a:p>
            <a:pPr marL="0" indent="0" algn="ctr">
              <a:buNone/>
            </a:pPr>
            <a:r>
              <a:rPr lang="en-US" sz="3600" b="1" dirty="0">
                <a:solidFill>
                  <a:srgbClr val="1A6FD4"/>
                </a:solidFill>
                <a:latin typeface="Cambria" panose="02040503050406030204" pitchFamily="18" charset="0"/>
                <a:ea typeface="Cambria" panose="02040503050406030204" pitchFamily="18" charset="0"/>
                <a:cs typeface="Calibri" pitchFamily="34" charset="-120"/>
              </a:rPr>
              <a:t>93.64%</a:t>
            </a:r>
            <a:endParaRPr lang="en-US" sz="3600" dirty="0">
              <a:latin typeface="Cambria" panose="02040503050406030204" pitchFamily="18" charset="0"/>
              <a:ea typeface="Cambria" panose="02040503050406030204" pitchFamily="18" charset="0"/>
            </a:endParaRPr>
          </a:p>
        </p:txBody>
      </p:sp>
      <p:sp>
        <p:nvSpPr>
          <p:cNvPr id="9" name="Text 7"/>
          <p:cNvSpPr/>
          <p:nvPr/>
        </p:nvSpPr>
        <p:spPr>
          <a:xfrm>
            <a:off x="274320" y="1755648"/>
            <a:ext cx="1965960" cy="274320"/>
          </a:xfrm>
          <a:prstGeom prst="rect">
            <a:avLst/>
          </a:prstGeom>
          <a:noFill/>
          <a:ln/>
        </p:spPr>
        <p:txBody>
          <a:bodyPr wrap="square" rtlCol="0" anchor="ctr"/>
          <a:lstStyle/>
          <a:p>
            <a:pPr marL="0" indent="0" algn="ctr">
              <a:buNone/>
            </a:pPr>
            <a:r>
              <a:rPr lang="en-US" sz="1600" b="1" dirty="0">
                <a:solidFill>
                  <a:srgbClr val="0D1E3A"/>
                </a:solidFill>
                <a:latin typeface="Cambria" panose="02040503050406030204" pitchFamily="18" charset="0"/>
                <a:ea typeface="Cambria" panose="02040503050406030204" pitchFamily="18" charset="0"/>
                <a:cs typeface="Calibri" pitchFamily="34" charset="-120"/>
              </a:rPr>
              <a:t>Semantic Similarity</a:t>
            </a:r>
            <a:endParaRPr lang="en-US" sz="1600" dirty="0">
              <a:latin typeface="Cambria" panose="02040503050406030204" pitchFamily="18" charset="0"/>
              <a:ea typeface="Cambria" panose="02040503050406030204" pitchFamily="18" charset="0"/>
            </a:endParaRPr>
          </a:p>
        </p:txBody>
      </p:sp>
      <p:sp>
        <p:nvSpPr>
          <p:cNvPr id="10" name="Text 8"/>
          <p:cNvSpPr/>
          <p:nvPr/>
        </p:nvSpPr>
        <p:spPr>
          <a:xfrm>
            <a:off x="365760" y="2011680"/>
            <a:ext cx="1783080" cy="1417320"/>
          </a:xfrm>
          <a:prstGeom prst="rect">
            <a:avLst/>
          </a:prstGeom>
          <a:noFill/>
          <a:ln/>
        </p:spPr>
        <p:txBody>
          <a:bodyPr wrap="square" rtlCol="0" anchor="t"/>
          <a:lstStyle/>
          <a:p>
            <a:pPr marL="0" indent="0" algn="ctr">
              <a:buNone/>
            </a:pPr>
            <a:r>
              <a:rPr lang="en-US" sz="1200" dirty="0">
                <a:solidFill>
                  <a:srgbClr val="1A3A6A"/>
                </a:solidFill>
                <a:latin typeface="Cambria" panose="02040503050406030204" pitchFamily="18" charset="0"/>
                <a:ea typeface="Cambria" panose="02040503050406030204" pitchFamily="18" charset="0"/>
                <a:cs typeface="Calibri" pitchFamily="34" charset="-120"/>
              </a:rPr>
              <a:t>Clinical meaning perfectly preserved across all modules — highest score in evaluation.</a:t>
            </a:r>
            <a:endParaRPr lang="en-US" sz="1200" dirty="0">
              <a:latin typeface="Cambria" panose="02040503050406030204" pitchFamily="18" charset="0"/>
              <a:ea typeface="Cambria" panose="02040503050406030204" pitchFamily="18" charset="0"/>
            </a:endParaRPr>
          </a:p>
        </p:txBody>
      </p:sp>
      <p:sp>
        <p:nvSpPr>
          <p:cNvPr id="11" name="Shape 9"/>
          <p:cNvSpPr/>
          <p:nvPr/>
        </p:nvSpPr>
        <p:spPr>
          <a:xfrm>
            <a:off x="2450592" y="1097280"/>
            <a:ext cx="1965960" cy="2423160"/>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12" name="Shape 10"/>
          <p:cNvSpPr/>
          <p:nvPr/>
        </p:nvSpPr>
        <p:spPr>
          <a:xfrm>
            <a:off x="2450592" y="1097280"/>
            <a:ext cx="1965960" cy="54864"/>
          </a:xfrm>
          <a:prstGeom prst="rect">
            <a:avLst/>
          </a:prstGeom>
          <a:solidFill>
            <a:srgbClr val="1565C0"/>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13" name="Text 11"/>
          <p:cNvSpPr/>
          <p:nvPr/>
        </p:nvSpPr>
        <p:spPr>
          <a:xfrm>
            <a:off x="2450592" y="1188720"/>
            <a:ext cx="1965960" cy="594360"/>
          </a:xfrm>
          <a:prstGeom prst="rect">
            <a:avLst/>
          </a:prstGeom>
          <a:noFill/>
          <a:ln/>
        </p:spPr>
        <p:txBody>
          <a:bodyPr wrap="square" rtlCol="0" anchor="ctr"/>
          <a:lstStyle/>
          <a:p>
            <a:pPr marL="0" indent="0" algn="ctr">
              <a:buNone/>
            </a:pPr>
            <a:r>
              <a:rPr lang="en-US" sz="3600" b="1" dirty="0">
                <a:solidFill>
                  <a:srgbClr val="1565C0"/>
                </a:solidFill>
                <a:latin typeface="Cambria" panose="02040503050406030204" pitchFamily="18" charset="0"/>
                <a:ea typeface="Cambria" panose="02040503050406030204" pitchFamily="18" charset="0"/>
                <a:cs typeface="Calibri" pitchFamily="34" charset="-120"/>
              </a:rPr>
              <a:t>81.54%</a:t>
            </a:r>
            <a:endParaRPr lang="en-US" sz="3600" dirty="0">
              <a:latin typeface="Cambria" panose="02040503050406030204" pitchFamily="18" charset="0"/>
              <a:ea typeface="Cambria" panose="02040503050406030204" pitchFamily="18" charset="0"/>
            </a:endParaRPr>
          </a:p>
        </p:txBody>
      </p:sp>
      <p:sp>
        <p:nvSpPr>
          <p:cNvPr id="14" name="Text 12"/>
          <p:cNvSpPr/>
          <p:nvPr/>
        </p:nvSpPr>
        <p:spPr>
          <a:xfrm>
            <a:off x="2450592" y="1755648"/>
            <a:ext cx="1965960" cy="274320"/>
          </a:xfrm>
          <a:prstGeom prst="rect">
            <a:avLst/>
          </a:prstGeom>
          <a:noFill/>
          <a:ln/>
        </p:spPr>
        <p:txBody>
          <a:bodyPr wrap="square" rtlCol="0" anchor="ctr"/>
          <a:lstStyle/>
          <a:p>
            <a:pPr marL="0" indent="0" algn="ctr">
              <a:buNone/>
            </a:pPr>
            <a:r>
              <a:rPr lang="en-US" sz="1600" b="1" dirty="0">
                <a:solidFill>
                  <a:srgbClr val="0D1E3A"/>
                </a:solidFill>
                <a:latin typeface="Cambria" panose="02040503050406030204" pitchFamily="18" charset="0"/>
                <a:ea typeface="Cambria" panose="02040503050406030204" pitchFamily="18" charset="0"/>
                <a:cs typeface="Calibri" pitchFamily="34" charset="-120"/>
              </a:rPr>
              <a:t>METEOR Score</a:t>
            </a:r>
            <a:endParaRPr lang="en-US" sz="1600" dirty="0">
              <a:latin typeface="Cambria" panose="02040503050406030204" pitchFamily="18" charset="0"/>
              <a:ea typeface="Cambria" panose="02040503050406030204" pitchFamily="18" charset="0"/>
            </a:endParaRPr>
          </a:p>
        </p:txBody>
      </p:sp>
      <p:sp>
        <p:nvSpPr>
          <p:cNvPr id="15" name="Text 13"/>
          <p:cNvSpPr/>
          <p:nvPr/>
        </p:nvSpPr>
        <p:spPr>
          <a:xfrm>
            <a:off x="2542032" y="2011680"/>
            <a:ext cx="1783080" cy="1417320"/>
          </a:xfrm>
          <a:prstGeom prst="rect">
            <a:avLst/>
          </a:prstGeom>
          <a:noFill/>
          <a:ln/>
        </p:spPr>
        <p:txBody>
          <a:bodyPr wrap="square" rtlCol="0" anchor="t"/>
          <a:lstStyle/>
          <a:p>
            <a:pPr marL="0" indent="0" algn="ctr">
              <a:buNone/>
            </a:pPr>
            <a:r>
              <a:rPr lang="en-US" sz="1200" dirty="0">
                <a:solidFill>
                  <a:srgbClr val="1A3A6A"/>
                </a:solidFill>
                <a:latin typeface="Cambria" panose="02040503050406030204" pitchFamily="18" charset="0"/>
                <a:ea typeface="Cambria" panose="02040503050406030204" pitchFamily="18" charset="0"/>
                <a:cs typeface="Calibri" pitchFamily="34" charset="-120"/>
              </a:rPr>
              <a:t>Strong recall &amp; precision with synonym awareness; slightly lower in complex triage tasks.</a:t>
            </a:r>
            <a:endParaRPr lang="en-US" sz="1200" dirty="0">
              <a:latin typeface="Cambria" panose="02040503050406030204" pitchFamily="18" charset="0"/>
              <a:ea typeface="Cambria" panose="02040503050406030204" pitchFamily="18" charset="0"/>
            </a:endParaRPr>
          </a:p>
        </p:txBody>
      </p:sp>
      <p:sp>
        <p:nvSpPr>
          <p:cNvPr id="16" name="Shape 14"/>
          <p:cNvSpPr/>
          <p:nvPr/>
        </p:nvSpPr>
        <p:spPr>
          <a:xfrm>
            <a:off x="4626864" y="1097280"/>
            <a:ext cx="1965960" cy="2423160"/>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17" name="Shape 15"/>
          <p:cNvSpPr/>
          <p:nvPr/>
        </p:nvSpPr>
        <p:spPr>
          <a:xfrm>
            <a:off x="4626864" y="1097280"/>
            <a:ext cx="1965960"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18" name="Text 16"/>
          <p:cNvSpPr/>
          <p:nvPr/>
        </p:nvSpPr>
        <p:spPr>
          <a:xfrm>
            <a:off x="4626864" y="1188720"/>
            <a:ext cx="1965960" cy="594360"/>
          </a:xfrm>
          <a:prstGeom prst="rect">
            <a:avLst/>
          </a:prstGeom>
          <a:noFill/>
          <a:ln/>
        </p:spPr>
        <p:txBody>
          <a:bodyPr wrap="square" rtlCol="0" anchor="ctr"/>
          <a:lstStyle/>
          <a:p>
            <a:pPr marL="0" indent="0" algn="ctr">
              <a:buNone/>
            </a:pPr>
            <a:r>
              <a:rPr lang="en-US" sz="3600" b="1" dirty="0">
                <a:solidFill>
                  <a:srgbClr val="1A6FD4"/>
                </a:solidFill>
                <a:latin typeface="Cambria" panose="02040503050406030204" pitchFamily="18" charset="0"/>
                <a:ea typeface="Cambria" panose="02040503050406030204" pitchFamily="18" charset="0"/>
                <a:cs typeface="Calibri" pitchFamily="34" charset="-120"/>
              </a:rPr>
              <a:t>86.12%</a:t>
            </a:r>
            <a:endParaRPr lang="en-US" sz="3600" dirty="0">
              <a:latin typeface="Cambria" panose="02040503050406030204" pitchFamily="18" charset="0"/>
              <a:ea typeface="Cambria" panose="02040503050406030204" pitchFamily="18" charset="0"/>
            </a:endParaRPr>
          </a:p>
        </p:txBody>
      </p:sp>
      <p:sp>
        <p:nvSpPr>
          <p:cNvPr id="19" name="Text 17"/>
          <p:cNvSpPr/>
          <p:nvPr/>
        </p:nvSpPr>
        <p:spPr>
          <a:xfrm>
            <a:off x="4626864" y="1755648"/>
            <a:ext cx="1965960" cy="274320"/>
          </a:xfrm>
          <a:prstGeom prst="rect">
            <a:avLst/>
          </a:prstGeom>
          <a:noFill/>
          <a:ln/>
        </p:spPr>
        <p:txBody>
          <a:bodyPr wrap="square" rtlCol="0" anchor="ctr"/>
          <a:lstStyle/>
          <a:p>
            <a:pPr marL="0" indent="0" algn="ctr">
              <a:buNone/>
            </a:pPr>
            <a:r>
              <a:rPr lang="en-US" sz="1600" b="1" dirty="0">
                <a:solidFill>
                  <a:srgbClr val="0D1E3A"/>
                </a:solidFill>
                <a:latin typeface="Cambria" panose="02040503050406030204" pitchFamily="18" charset="0"/>
                <a:ea typeface="Cambria" panose="02040503050406030204" pitchFamily="18" charset="0"/>
                <a:cs typeface="Calibri" pitchFamily="34" charset="-120"/>
              </a:rPr>
              <a:t>ROUGE-L Score</a:t>
            </a:r>
            <a:endParaRPr lang="en-US" sz="1600" dirty="0">
              <a:latin typeface="Cambria" panose="02040503050406030204" pitchFamily="18" charset="0"/>
              <a:ea typeface="Cambria" panose="02040503050406030204" pitchFamily="18" charset="0"/>
            </a:endParaRPr>
          </a:p>
        </p:txBody>
      </p:sp>
      <p:sp>
        <p:nvSpPr>
          <p:cNvPr id="20" name="Text 18"/>
          <p:cNvSpPr/>
          <p:nvPr/>
        </p:nvSpPr>
        <p:spPr>
          <a:xfrm>
            <a:off x="4718304" y="2011680"/>
            <a:ext cx="1783080" cy="1417320"/>
          </a:xfrm>
          <a:prstGeom prst="rect">
            <a:avLst/>
          </a:prstGeom>
          <a:noFill/>
          <a:ln/>
        </p:spPr>
        <p:txBody>
          <a:bodyPr wrap="square" rtlCol="0" anchor="t"/>
          <a:lstStyle/>
          <a:p>
            <a:pPr marL="0" indent="0" algn="ctr">
              <a:buNone/>
            </a:pPr>
            <a:r>
              <a:rPr lang="en-US" sz="1200" dirty="0">
                <a:solidFill>
                  <a:srgbClr val="1A3A6A"/>
                </a:solidFill>
                <a:latin typeface="Cambria" panose="02040503050406030204" pitchFamily="18" charset="0"/>
                <a:ea typeface="Cambria" panose="02040503050406030204" pitchFamily="18" charset="0"/>
                <a:cs typeface="Calibri" pitchFamily="34" charset="-120"/>
              </a:rPr>
              <a:t>Structural coherence &amp; logical response quality across all generated clinical responses.</a:t>
            </a:r>
            <a:endParaRPr lang="en-US" sz="1200" dirty="0">
              <a:latin typeface="Cambria" panose="02040503050406030204" pitchFamily="18" charset="0"/>
              <a:ea typeface="Cambria" panose="02040503050406030204" pitchFamily="18" charset="0"/>
            </a:endParaRPr>
          </a:p>
        </p:txBody>
      </p:sp>
      <p:sp>
        <p:nvSpPr>
          <p:cNvPr id="21" name="Shape 19"/>
          <p:cNvSpPr/>
          <p:nvPr/>
        </p:nvSpPr>
        <p:spPr>
          <a:xfrm>
            <a:off x="6803136" y="1097280"/>
            <a:ext cx="1965960" cy="2423160"/>
          </a:xfrm>
          <a:prstGeom prst="rect">
            <a:avLst/>
          </a:prstGeom>
          <a:solidFill>
            <a:srgbClr val="FFFFFF"/>
          </a:solidFill>
          <a:ln w="12700">
            <a:solidFill>
              <a:srgbClr val="BDD6F5"/>
            </a:solidFill>
            <a:prstDash val="solid"/>
          </a:ln>
          <a:effectLst>
            <a:outerShdw blurRad="50800" dist="25400" dir="8100000" algn="bl" rotWithShape="0">
              <a:srgbClr val="000000">
                <a:alpha val="10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22" name="Shape 20"/>
          <p:cNvSpPr/>
          <p:nvPr/>
        </p:nvSpPr>
        <p:spPr>
          <a:xfrm>
            <a:off x="6803136" y="1097280"/>
            <a:ext cx="1965960"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23" name="Text 21"/>
          <p:cNvSpPr/>
          <p:nvPr/>
        </p:nvSpPr>
        <p:spPr>
          <a:xfrm>
            <a:off x="6803136" y="1188720"/>
            <a:ext cx="1965960" cy="594360"/>
          </a:xfrm>
          <a:prstGeom prst="rect">
            <a:avLst/>
          </a:prstGeom>
          <a:noFill/>
          <a:ln/>
        </p:spPr>
        <p:txBody>
          <a:bodyPr wrap="square" rtlCol="0" anchor="ctr"/>
          <a:lstStyle/>
          <a:p>
            <a:pPr marL="0" indent="0" algn="ctr">
              <a:buNone/>
            </a:pPr>
            <a:r>
              <a:rPr lang="en-US" sz="3600" b="1" dirty="0">
                <a:solidFill>
                  <a:srgbClr val="1A6FD4"/>
                </a:solidFill>
                <a:latin typeface="Cambria" panose="02040503050406030204" pitchFamily="18" charset="0"/>
                <a:ea typeface="Cambria" panose="02040503050406030204" pitchFamily="18" charset="0"/>
                <a:cs typeface="Calibri" pitchFamily="34" charset="-120"/>
              </a:rPr>
              <a:t>92.89%</a:t>
            </a:r>
            <a:endParaRPr lang="en-US" sz="3600" dirty="0">
              <a:latin typeface="Cambria" panose="02040503050406030204" pitchFamily="18" charset="0"/>
              <a:ea typeface="Cambria" panose="02040503050406030204" pitchFamily="18" charset="0"/>
            </a:endParaRPr>
          </a:p>
        </p:txBody>
      </p:sp>
      <p:sp>
        <p:nvSpPr>
          <p:cNvPr id="24" name="Text 22"/>
          <p:cNvSpPr/>
          <p:nvPr/>
        </p:nvSpPr>
        <p:spPr>
          <a:xfrm>
            <a:off x="6803136" y="1755648"/>
            <a:ext cx="1965960" cy="274320"/>
          </a:xfrm>
          <a:prstGeom prst="rect">
            <a:avLst/>
          </a:prstGeom>
          <a:noFill/>
          <a:ln/>
        </p:spPr>
        <p:txBody>
          <a:bodyPr wrap="square" rtlCol="0" anchor="ctr"/>
          <a:lstStyle/>
          <a:p>
            <a:pPr marL="0" indent="0" algn="ctr">
              <a:buNone/>
            </a:pPr>
            <a:r>
              <a:rPr lang="en-US" sz="1600" b="1" dirty="0">
                <a:solidFill>
                  <a:srgbClr val="0D1E3A"/>
                </a:solidFill>
                <a:latin typeface="Cambria" panose="02040503050406030204" pitchFamily="18" charset="0"/>
                <a:ea typeface="Cambria" panose="02040503050406030204" pitchFamily="18" charset="0"/>
                <a:cs typeface="Calibri" pitchFamily="34" charset="-120"/>
              </a:rPr>
              <a:t>Anti-Hallucination</a:t>
            </a:r>
            <a:endParaRPr lang="en-US" sz="1600" dirty="0">
              <a:latin typeface="Cambria" panose="02040503050406030204" pitchFamily="18" charset="0"/>
              <a:ea typeface="Cambria" panose="02040503050406030204" pitchFamily="18" charset="0"/>
            </a:endParaRPr>
          </a:p>
        </p:txBody>
      </p:sp>
      <p:sp>
        <p:nvSpPr>
          <p:cNvPr id="25" name="Text 23"/>
          <p:cNvSpPr/>
          <p:nvPr/>
        </p:nvSpPr>
        <p:spPr>
          <a:xfrm>
            <a:off x="6894576" y="2011680"/>
            <a:ext cx="1783080" cy="1417320"/>
          </a:xfrm>
          <a:prstGeom prst="rect">
            <a:avLst/>
          </a:prstGeom>
          <a:noFill/>
          <a:ln/>
        </p:spPr>
        <p:txBody>
          <a:bodyPr wrap="square" rtlCol="0" anchor="t"/>
          <a:lstStyle/>
          <a:p>
            <a:pPr marL="0" indent="0" algn="ctr">
              <a:buNone/>
            </a:pPr>
            <a:r>
              <a:rPr lang="en-US" sz="1200" dirty="0">
                <a:solidFill>
                  <a:srgbClr val="1A3A6A"/>
                </a:solidFill>
                <a:latin typeface="Cambria" panose="02040503050406030204" pitchFamily="18" charset="0"/>
                <a:ea typeface="Cambria" panose="02040503050406030204" pitchFamily="18" charset="0"/>
                <a:cs typeface="Calibri" pitchFamily="34" charset="-120"/>
              </a:rPr>
              <a:t>Only 7.11% incorrect/unsupported statements — prioritizing patient safety and clinical trust.</a:t>
            </a:r>
            <a:endParaRPr lang="en-US" sz="1200" dirty="0">
              <a:latin typeface="Cambria" panose="02040503050406030204" pitchFamily="18" charset="0"/>
              <a:ea typeface="Cambria" panose="02040503050406030204" pitchFamily="18" charset="0"/>
            </a:endParaRPr>
          </a:p>
        </p:txBody>
      </p:sp>
      <p:sp>
        <p:nvSpPr>
          <p:cNvPr id="26" name="Shape 24"/>
          <p:cNvSpPr/>
          <p:nvPr/>
        </p:nvSpPr>
        <p:spPr>
          <a:xfrm>
            <a:off x="320040" y="3611880"/>
            <a:ext cx="8503920" cy="658368"/>
          </a:xfrm>
          <a:prstGeom prst="rect">
            <a:avLst/>
          </a:prstGeom>
          <a:solidFill>
            <a:srgbClr val="071020"/>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27" name="Shape 25"/>
          <p:cNvSpPr/>
          <p:nvPr/>
        </p:nvSpPr>
        <p:spPr>
          <a:xfrm>
            <a:off x="320040" y="3611880"/>
            <a:ext cx="54864" cy="658368"/>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28" name="Text 26"/>
          <p:cNvSpPr/>
          <p:nvPr/>
        </p:nvSpPr>
        <p:spPr>
          <a:xfrm>
            <a:off x="457200" y="3611880"/>
            <a:ext cx="1280160" cy="658368"/>
          </a:xfrm>
          <a:prstGeom prst="rect">
            <a:avLst/>
          </a:prstGeom>
          <a:noFill/>
          <a:ln/>
        </p:spPr>
        <p:txBody>
          <a:bodyPr wrap="square" lIns="0" tIns="0" rIns="0" bIns="0" rtlCol="0" anchor="ctr"/>
          <a:lstStyle/>
          <a:p>
            <a:pPr marL="0" indent="0" algn="l">
              <a:buNone/>
            </a:pPr>
            <a:r>
              <a:rPr lang="en-US" sz="2400" b="1" dirty="0">
                <a:solidFill>
                  <a:srgbClr val="1A6FD4"/>
                </a:solidFill>
                <a:latin typeface="Cambria" panose="02040503050406030204" pitchFamily="18" charset="0"/>
                <a:ea typeface="Cambria" panose="02040503050406030204" pitchFamily="18" charset="0"/>
                <a:cs typeface="Calibri" pitchFamily="34" charset="-120"/>
              </a:rPr>
              <a:t>89.55%</a:t>
            </a:r>
            <a:endParaRPr lang="en-US" sz="2400" dirty="0">
              <a:latin typeface="Cambria" panose="02040503050406030204" pitchFamily="18" charset="0"/>
              <a:ea typeface="Cambria" panose="02040503050406030204" pitchFamily="18" charset="0"/>
            </a:endParaRPr>
          </a:p>
        </p:txBody>
      </p:sp>
      <p:sp>
        <p:nvSpPr>
          <p:cNvPr id="29" name="Text 27"/>
          <p:cNvSpPr/>
          <p:nvPr/>
        </p:nvSpPr>
        <p:spPr>
          <a:xfrm>
            <a:off x="1783080" y="3611880"/>
            <a:ext cx="6949440" cy="658368"/>
          </a:xfrm>
          <a:prstGeom prst="rect">
            <a:avLst/>
          </a:prstGeom>
          <a:noFill/>
          <a:ln/>
        </p:spPr>
        <p:txBody>
          <a:bodyPr wrap="square" lIns="0" tIns="0" rIns="0" bIns="0" rtlCol="0" anchor="ctr"/>
          <a:lstStyle/>
          <a:p>
            <a:pPr marL="0" indent="0" algn="l">
              <a:buNone/>
            </a:pPr>
            <a:r>
              <a:rPr lang="en-US" b="1" dirty="0">
                <a:solidFill>
                  <a:srgbClr val="FFFFFF"/>
                </a:solidFill>
                <a:latin typeface="Cambria" panose="02040503050406030204" pitchFamily="18" charset="0"/>
                <a:ea typeface="Cambria" panose="02040503050406030204" pitchFamily="18" charset="0"/>
                <a:cs typeface="Calibri" pitchFamily="34" charset="-120"/>
              </a:rPr>
              <a:t>OVERALL SYSTEM ACCURACY  —  Clinically validated across all 7 modules</a:t>
            </a:r>
            <a:endParaRPr lang="en-US" dirty="0">
              <a:latin typeface="Cambria" panose="02040503050406030204" pitchFamily="18" charset="0"/>
              <a:ea typeface="Cambria" panose="02040503050406030204" pitchFamily="18" charset="0"/>
            </a:endParaRPr>
          </a:p>
        </p:txBody>
      </p:sp>
      <p:graphicFrame>
        <p:nvGraphicFramePr>
          <p:cNvPr id="30" name="Chart 0"/>
          <p:cNvGraphicFramePr/>
          <p:nvPr>
            <p:extLst>
              <p:ext uri="{D42A27DB-BD31-4B8C-83A1-F6EECF244321}">
                <p14:modId xmlns:p14="http://schemas.microsoft.com/office/powerpoint/2010/main" val="625248346"/>
              </p:ext>
            </p:extLst>
          </p:nvPr>
        </p:nvGraphicFramePr>
        <p:xfrm>
          <a:off x="320040" y="4315968"/>
          <a:ext cx="8503920" cy="548640"/>
        </p:xfrm>
        <a:graphic>
          <a:graphicData uri="http://schemas.openxmlformats.org/drawingml/2006/chart">
            <c:chart xmlns:c="http://schemas.openxmlformats.org/drawingml/2006/chart" xmlns:r="http://schemas.openxmlformats.org/officeDocument/2006/relationships" r:id="rId3"/>
          </a:graphicData>
        </a:graphic>
      </p:graphicFrame>
      <p:sp>
        <p:nvSpPr>
          <p:cNvPr id="31" name="Shape 28"/>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2" name="Text 29"/>
          <p:cNvSpPr/>
          <p:nvPr/>
        </p:nvSpPr>
        <p:spPr>
          <a:xfrm>
            <a:off x="0" y="4864608"/>
            <a:ext cx="9144000" cy="278892"/>
          </a:xfrm>
          <a:prstGeom prst="rect">
            <a:avLst/>
          </a:prstGeom>
          <a:noFill/>
          <a:ln/>
        </p:spPr>
        <p:txBody>
          <a:bodyPr wrap="square" lIns="0" tIns="0" rIns="0" bIns="0" rtlCol="0" anchor="ctr"/>
          <a:lstStyle/>
          <a:p>
            <a:pPr marL="0" indent="0" algn="ctr">
              <a:buNone/>
            </a:pPr>
            <a:r>
              <a:rPr lang="en-US" sz="1100" dirty="0">
                <a:solidFill>
                  <a:srgbClr val="FFFFFF"/>
                </a:solidFill>
                <a:latin typeface="Cambria" panose="02040503050406030204" pitchFamily="18" charset="0"/>
                <a:ea typeface="Cambria" panose="02040503050406030204" pitchFamily="18" charset="0"/>
                <a:cs typeface="Calibri" pitchFamily="34" charset="-120"/>
              </a:rPr>
              <a:t>HealthAssist AI  |  Bapatla Engineering College  |  2025-26</a:t>
            </a:r>
            <a:endParaRPr lang="en-US" sz="1100" dirty="0">
              <a:latin typeface="Cambria" panose="02040503050406030204" pitchFamily="18" charset="0"/>
              <a:ea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1020"/>
          </a:solidFill>
          <a:ln w="12700">
            <a:solidFill>
              <a:srgbClr val="071020"/>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4" name="Text 2"/>
          <p:cNvSpPr/>
          <p:nvPr/>
        </p:nvSpPr>
        <p:spPr>
          <a:xfrm>
            <a:off x="320040" y="0"/>
            <a:ext cx="6858000" cy="96012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anose="02040503050406030204" pitchFamily="18" charset="0"/>
                <a:ea typeface="Cambria" panose="02040503050406030204" pitchFamily="18" charset="0"/>
                <a:cs typeface="Calibri" pitchFamily="34" charset="-120"/>
              </a:rPr>
              <a:t>RESULTS – Output1</a:t>
            </a:r>
            <a:endParaRPr lang="en-US" sz="3200" dirty="0">
              <a:latin typeface="Cambria" panose="02040503050406030204" pitchFamily="18" charset="0"/>
              <a:ea typeface="Cambria" panose="02040503050406030204" pitchFamily="18" charset="0"/>
            </a:endParaRPr>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endParaRPr lang="en-US" sz="1300" dirty="0">
              <a:latin typeface="Cambria" panose="02040503050406030204" pitchFamily="18" charset="0"/>
              <a:ea typeface="Cambria" panose="02040503050406030204" pitchFamily="18" charset="0"/>
            </a:endParaRPr>
          </a:p>
        </p:txBody>
      </p:sp>
      <p:sp>
        <p:nvSpPr>
          <p:cNvPr id="8" name="Shape 5"/>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9" name="Text 6"/>
          <p:cNvSpPr/>
          <p:nvPr/>
        </p:nvSpPr>
        <p:spPr>
          <a:xfrm>
            <a:off x="0" y="4864608"/>
            <a:ext cx="9144000" cy="278892"/>
          </a:xfrm>
          <a:prstGeom prst="rect">
            <a:avLst/>
          </a:prstGeom>
          <a:noFill/>
          <a:ln/>
        </p:spPr>
        <p:txBody>
          <a:bodyPr wrap="square" lIns="0" tIns="0" rIns="0" bIns="0" rtlCol="0" anchor="ctr"/>
          <a:lstStyle/>
          <a:p>
            <a:pPr marL="0" indent="0" algn="ctr">
              <a:buNone/>
            </a:pPr>
            <a:r>
              <a:rPr lang="en-US" sz="1000" dirty="0">
                <a:solidFill>
                  <a:srgbClr val="FFFFFF"/>
                </a:solidFill>
                <a:latin typeface="Cambria" panose="02040503050406030204" pitchFamily="18" charset="0"/>
                <a:ea typeface="Cambria" panose="02040503050406030204" pitchFamily="18" charset="0"/>
                <a:cs typeface="Calibri" pitchFamily="34" charset="-120"/>
              </a:rPr>
              <a:t>HealthAssist AI  |  Bapatla Engineering College  |  2025-26</a:t>
            </a:r>
            <a:endParaRPr lang="en-US" sz="1000" dirty="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4D87A337-494D-E76A-F125-45AFDA4B159E}"/>
              </a:ext>
            </a:extLst>
          </p:cNvPr>
          <p:cNvPicPr>
            <a:picLocks noChangeAspect="1"/>
          </p:cNvPicPr>
          <p:nvPr/>
        </p:nvPicPr>
        <p:blipFill>
          <a:blip r:embed="rId3"/>
          <a:stretch>
            <a:fillRect/>
          </a:stretch>
        </p:blipFill>
        <p:spPr>
          <a:xfrm>
            <a:off x="654204" y="1120504"/>
            <a:ext cx="7493620" cy="3600179"/>
          </a:xfrm>
          <a:prstGeom prst="rect">
            <a:avLst/>
          </a:prstGeom>
          <a:ln>
            <a:solidFill>
              <a:schemeClr val="accent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E5EFF9"/>
        </a:solidFill>
        <a:effectLst/>
      </p:bgPr>
    </p:bg>
    <p:spTree>
      <p:nvGrpSpPr>
        <p:cNvPr id="1" name=""/>
        <p:cNvGrpSpPr/>
        <p:nvPr/>
      </p:nvGrpSpPr>
      <p:grpSpPr>
        <a:xfrm>
          <a:off x="0" y="0"/>
          <a:ext cx="0" cy="0"/>
          <a:chOff x="0" y="0"/>
          <a:chExt cx="0" cy="0"/>
        </a:xfrm>
      </p:grpSpPr>
      <p:sp>
        <p:nvSpPr>
          <p:cNvPr id="2" name="Shape 0"/>
          <p:cNvSpPr/>
          <p:nvPr/>
        </p:nvSpPr>
        <p:spPr>
          <a:xfrm>
            <a:off x="0" y="54864"/>
            <a:ext cx="9144000" cy="960120"/>
          </a:xfrm>
          <a:prstGeom prst="rect">
            <a:avLst/>
          </a:prstGeom>
          <a:solidFill>
            <a:srgbClr val="0D1E3A"/>
          </a:solidFill>
          <a:ln w="12700">
            <a:solidFill>
              <a:srgbClr val="0D1E3A"/>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4" name="Text 2"/>
          <p:cNvSpPr/>
          <p:nvPr/>
        </p:nvSpPr>
        <p:spPr>
          <a:xfrm>
            <a:off x="320040" y="0"/>
            <a:ext cx="6858000" cy="96012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anose="02040503050406030204" pitchFamily="18" charset="0"/>
                <a:ea typeface="Cambria" panose="02040503050406030204" pitchFamily="18" charset="0"/>
                <a:cs typeface="Calibri" pitchFamily="34" charset="-120"/>
              </a:rPr>
              <a:t>RESULTS </a:t>
            </a:r>
            <a:r>
              <a:rPr lang="en-US" sz="3200" b="1">
                <a:solidFill>
                  <a:srgbClr val="FFFFFF"/>
                </a:solidFill>
                <a:latin typeface="Cambria" panose="02040503050406030204" pitchFamily="18" charset="0"/>
                <a:ea typeface="Cambria" panose="02040503050406030204" pitchFamily="18" charset="0"/>
                <a:cs typeface="Calibri" pitchFamily="34" charset="-120"/>
              </a:rPr>
              <a:t>– Output2</a:t>
            </a:r>
            <a:endParaRPr lang="en-US" sz="3200" dirty="0">
              <a:latin typeface="Cambria" panose="02040503050406030204" pitchFamily="18" charset="0"/>
              <a:ea typeface="Cambria" panose="02040503050406030204" pitchFamily="18" charset="0"/>
            </a:endParaRPr>
          </a:p>
        </p:txBody>
      </p:sp>
      <p:sp>
        <p:nvSpPr>
          <p:cNvPr id="5" name="Text 3"/>
          <p:cNvSpPr/>
          <p:nvPr/>
        </p:nvSpPr>
        <p:spPr>
          <a:xfrm>
            <a:off x="320039" y="0"/>
            <a:ext cx="8771921" cy="960120"/>
          </a:xfrm>
          <a:prstGeom prst="rect">
            <a:avLst/>
          </a:prstGeom>
          <a:noFill/>
          <a:ln/>
        </p:spPr>
        <p:txBody>
          <a:bodyPr wrap="square" lIns="0" tIns="0" rIns="0" bIns="0" rtlCol="0" anchor="ctr"/>
          <a:lstStyle/>
          <a:p>
            <a:pPr marL="0" indent="0" algn="r">
              <a:buNone/>
            </a:pPr>
            <a:endParaRPr lang="en-US" sz="1300" dirty="0">
              <a:latin typeface="Cambria" panose="02040503050406030204" pitchFamily="18" charset="0"/>
              <a:ea typeface="Cambria" panose="02040503050406030204" pitchFamily="18" charset="0"/>
            </a:endParaRPr>
          </a:p>
        </p:txBody>
      </p:sp>
      <p:sp>
        <p:nvSpPr>
          <p:cNvPr id="22" name="Shape 19"/>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a:latin typeface="Cambria" panose="02040503050406030204" pitchFamily="18" charset="0"/>
              <a:ea typeface="Cambria" panose="02040503050406030204" pitchFamily="18" charset="0"/>
            </a:endParaRPr>
          </a:p>
        </p:txBody>
      </p:sp>
      <p:sp>
        <p:nvSpPr>
          <p:cNvPr id="23" name="Text 20"/>
          <p:cNvSpPr/>
          <p:nvPr/>
        </p:nvSpPr>
        <p:spPr>
          <a:xfrm>
            <a:off x="0" y="4864608"/>
            <a:ext cx="9144000" cy="278892"/>
          </a:xfrm>
          <a:prstGeom prst="rect">
            <a:avLst/>
          </a:prstGeom>
          <a:noFill/>
          <a:ln/>
        </p:spPr>
        <p:txBody>
          <a:bodyPr wrap="square" lIns="0" tIns="0" rIns="0" bIns="0" rtlCol="0" anchor="ctr"/>
          <a:lstStyle/>
          <a:p>
            <a:pPr marL="0" indent="0" algn="ctr">
              <a:buNone/>
            </a:pPr>
            <a:r>
              <a:rPr lang="en-US" sz="1000" dirty="0">
                <a:solidFill>
                  <a:srgbClr val="FFFFFF"/>
                </a:solidFill>
                <a:latin typeface="Cambria" panose="02040503050406030204" pitchFamily="18" charset="0"/>
                <a:ea typeface="Cambria" panose="02040503050406030204" pitchFamily="18" charset="0"/>
                <a:cs typeface="Calibri" pitchFamily="34" charset="-120"/>
              </a:rPr>
              <a:t>HealthAssist AI  |  Bapatla Engineering College  |  2025-26</a:t>
            </a:r>
            <a:endParaRPr lang="en-US" sz="1000" dirty="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2F820EF8-B455-DD30-6A1F-15F1CFACB6E4}"/>
              </a:ext>
            </a:extLst>
          </p:cNvPr>
          <p:cNvPicPr>
            <a:picLocks noChangeAspect="1"/>
          </p:cNvPicPr>
          <p:nvPr/>
        </p:nvPicPr>
        <p:blipFill>
          <a:blip r:embed="rId3"/>
          <a:stretch>
            <a:fillRect/>
          </a:stretch>
        </p:blipFill>
        <p:spPr>
          <a:xfrm>
            <a:off x="818269" y="1089790"/>
            <a:ext cx="7775460" cy="3590283"/>
          </a:xfrm>
          <a:prstGeom prst="rect">
            <a:avLst/>
          </a:prstGeom>
          <a:ln>
            <a:solidFill>
              <a:schemeClr val="accent1"/>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1020"/>
          </a:solidFill>
          <a:ln w="12700">
            <a:solidFill>
              <a:srgbClr val="07102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 name="Shape 1"/>
          <p:cNvSpPr/>
          <p:nvPr/>
        </p:nvSpPr>
        <p:spPr>
          <a:xfrm>
            <a:off x="0" y="960120"/>
            <a:ext cx="9144000" cy="5486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4" name="Text 2"/>
          <p:cNvSpPr/>
          <p:nvPr/>
        </p:nvSpPr>
        <p:spPr>
          <a:xfrm>
            <a:off x="320040" y="0"/>
            <a:ext cx="6858000" cy="96012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anose="02040503050406030204" pitchFamily="18" charset="0"/>
                <a:ea typeface="Cambria" panose="02040503050406030204" pitchFamily="18" charset="0"/>
                <a:cs typeface="Calibri" pitchFamily="34" charset="-120"/>
              </a:rPr>
              <a:t>CONCLUSION</a:t>
            </a:r>
            <a:endParaRPr lang="en-US" sz="3600" dirty="0">
              <a:latin typeface="Cambria" panose="02040503050406030204" pitchFamily="18" charset="0"/>
              <a:ea typeface="Cambria" panose="02040503050406030204" pitchFamily="18" charset="0"/>
            </a:endParaRPr>
          </a:p>
        </p:txBody>
      </p:sp>
      <p:sp>
        <p:nvSpPr>
          <p:cNvPr id="5" name="Text 3"/>
          <p:cNvSpPr/>
          <p:nvPr/>
        </p:nvSpPr>
        <p:spPr>
          <a:xfrm>
            <a:off x="320040" y="0"/>
            <a:ext cx="8503920" cy="960120"/>
          </a:xfrm>
          <a:prstGeom prst="rect">
            <a:avLst/>
          </a:prstGeom>
          <a:noFill/>
          <a:ln/>
        </p:spPr>
        <p:txBody>
          <a:bodyPr wrap="square" lIns="0" tIns="0" rIns="0" bIns="0" rtlCol="0" anchor="ctr"/>
          <a:lstStyle/>
          <a:p>
            <a:pPr marL="0" indent="0" algn="r">
              <a:buNone/>
            </a:pPr>
            <a:r>
              <a:rPr lang="en-US" sz="1600" i="1" dirty="0">
                <a:solidFill>
                  <a:srgbClr val="CADCFC"/>
                </a:solidFill>
                <a:latin typeface="Cambria" panose="02040503050406030204" pitchFamily="18" charset="0"/>
                <a:ea typeface="Cambria" panose="02040503050406030204" pitchFamily="18" charset="0"/>
                <a:cs typeface="Calibri" pitchFamily="34" charset="-120"/>
              </a:rPr>
              <a:t>Summary &amp; Future Scope</a:t>
            </a:r>
            <a:endParaRPr lang="en-US" sz="1600" dirty="0">
              <a:latin typeface="Cambria" panose="02040503050406030204" pitchFamily="18" charset="0"/>
              <a:ea typeface="Cambria" panose="02040503050406030204" pitchFamily="18" charset="0"/>
            </a:endParaRPr>
          </a:p>
        </p:txBody>
      </p:sp>
      <p:sp>
        <p:nvSpPr>
          <p:cNvPr id="6" name="Shape 4"/>
          <p:cNvSpPr/>
          <p:nvPr/>
        </p:nvSpPr>
        <p:spPr>
          <a:xfrm>
            <a:off x="320040" y="1078992"/>
            <a:ext cx="8503920" cy="640080"/>
          </a:xfrm>
          <a:prstGeom prst="rect">
            <a:avLst/>
          </a:prstGeom>
          <a:solidFill>
            <a:srgbClr val="0D1E3A"/>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7" name="Text 5"/>
          <p:cNvSpPr/>
          <p:nvPr/>
        </p:nvSpPr>
        <p:spPr>
          <a:xfrm>
            <a:off x="457200" y="1078992"/>
            <a:ext cx="8321040" cy="640080"/>
          </a:xfrm>
          <a:prstGeom prst="rect">
            <a:avLst/>
          </a:prstGeom>
          <a:noFill/>
          <a:ln/>
        </p:spPr>
        <p:txBody>
          <a:bodyPr wrap="square" rtlCol="0" anchor="ctr"/>
          <a:lstStyle/>
          <a:p>
            <a:pPr marL="0" indent="0" algn="ctr">
              <a:buNone/>
            </a:pPr>
            <a:r>
              <a:rPr lang="en-US" sz="1600" i="1" dirty="0">
                <a:solidFill>
                  <a:srgbClr val="CADCFC"/>
                </a:solidFill>
                <a:latin typeface="Cambria" panose="02040503050406030204" pitchFamily="18" charset="0"/>
                <a:ea typeface="Cambria" panose="02040503050406030204" pitchFamily="18" charset="0"/>
                <a:cs typeface="Calibri" pitchFamily="34" charset="-120"/>
              </a:rPr>
              <a:t>"HealthAssist AI bridges the gap where healthcare infrastructure ends — bringing AI-powered clinical intelligence to those who need it most."</a:t>
            </a:r>
            <a:endParaRPr lang="en-US" sz="1600" dirty="0">
              <a:latin typeface="Cambria" panose="02040503050406030204" pitchFamily="18" charset="0"/>
              <a:ea typeface="Cambria" panose="02040503050406030204" pitchFamily="18" charset="0"/>
            </a:endParaRPr>
          </a:p>
        </p:txBody>
      </p:sp>
      <p:sp>
        <p:nvSpPr>
          <p:cNvPr id="8" name="Shape 6"/>
          <p:cNvSpPr/>
          <p:nvPr/>
        </p:nvSpPr>
        <p:spPr>
          <a:xfrm>
            <a:off x="320040" y="1810512"/>
            <a:ext cx="4069080" cy="329184"/>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9" name="Text 7"/>
          <p:cNvSpPr/>
          <p:nvPr/>
        </p:nvSpPr>
        <p:spPr>
          <a:xfrm>
            <a:off x="320040" y="1810512"/>
            <a:ext cx="4069080"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WHAT WE ACHIEVED</a:t>
            </a:r>
            <a:endParaRPr lang="en-US" sz="1600" dirty="0">
              <a:latin typeface="Cambria" panose="02040503050406030204" pitchFamily="18" charset="0"/>
              <a:ea typeface="Cambria" panose="02040503050406030204" pitchFamily="18" charset="0"/>
            </a:endParaRPr>
          </a:p>
        </p:txBody>
      </p:sp>
      <p:sp>
        <p:nvSpPr>
          <p:cNvPr id="10" name="Text 8"/>
          <p:cNvSpPr/>
          <p:nvPr/>
        </p:nvSpPr>
        <p:spPr>
          <a:xfrm>
            <a:off x="411480" y="2176272"/>
            <a:ext cx="3886200" cy="2423160"/>
          </a:xfrm>
          <a:prstGeom prst="rect">
            <a:avLst/>
          </a:prstGeom>
          <a:noFill/>
          <a:ln/>
        </p:spPr>
        <p:txBody>
          <a:bodyPr wrap="square" rtlCol="0" anchor="ctr"/>
          <a:lstStyle/>
          <a:p>
            <a:pPr marL="0" indent="0">
              <a:buNone/>
            </a:pPr>
            <a:r>
              <a:rPr lang="en-US" sz="1400" dirty="0">
                <a:solidFill>
                  <a:srgbClr val="FFFFFF"/>
                </a:solidFill>
                <a:latin typeface="Cambria" panose="02040503050406030204" pitchFamily="18" charset="0"/>
                <a:ea typeface="Cambria" panose="02040503050406030204" pitchFamily="18" charset="0"/>
                <a:cs typeface="Calibri" pitchFamily="34" charset="-120"/>
              </a:rPr>
              <a:t>✓  Seven integrated clinical modules in one platform</a:t>
            </a:r>
            <a:endParaRPr lang="en-US" sz="1400" dirty="0">
              <a:latin typeface="Cambria" panose="02040503050406030204" pitchFamily="18" charset="0"/>
              <a:ea typeface="Cambria" panose="02040503050406030204" pitchFamily="18" charset="0"/>
            </a:endParaRPr>
          </a:p>
          <a:p>
            <a:pPr marL="0" indent="0">
              <a:buNone/>
            </a:pPr>
            <a:r>
              <a:rPr lang="en-US" sz="1400" dirty="0">
                <a:solidFill>
                  <a:srgbClr val="FFFFFF"/>
                </a:solidFill>
                <a:latin typeface="Cambria" panose="02040503050406030204" pitchFamily="18" charset="0"/>
                <a:ea typeface="Cambria" panose="02040503050406030204" pitchFamily="18" charset="0"/>
                <a:cs typeface="Calibri" pitchFamily="34" charset="-120"/>
              </a:rPr>
              <a:t>✓  89.55% overall accuracy with only 7.11% hallucination rate</a:t>
            </a:r>
            <a:endParaRPr lang="en-US" sz="1400" dirty="0">
              <a:latin typeface="Cambria" panose="02040503050406030204" pitchFamily="18" charset="0"/>
              <a:ea typeface="Cambria" panose="02040503050406030204" pitchFamily="18" charset="0"/>
            </a:endParaRPr>
          </a:p>
          <a:p>
            <a:pPr marL="0" indent="0">
              <a:buNone/>
            </a:pPr>
            <a:r>
              <a:rPr lang="en-US" sz="1400" dirty="0">
                <a:solidFill>
                  <a:srgbClr val="FFFFFF"/>
                </a:solidFill>
                <a:latin typeface="Cambria" panose="02040503050406030204" pitchFamily="18" charset="0"/>
                <a:ea typeface="Cambria" panose="02040503050406030204" pitchFamily="18" charset="0"/>
                <a:cs typeface="Calibri" pitchFamily="34" charset="-120"/>
              </a:rPr>
              <a:t>✓  Multilingual AI support via Mistral Large 3 (675B params)</a:t>
            </a:r>
            <a:endParaRPr lang="en-US" sz="1400" dirty="0">
              <a:latin typeface="Cambria" panose="02040503050406030204" pitchFamily="18" charset="0"/>
              <a:ea typeface="Cambria" panose="02040503050406030204" pitchFamily="18" charset="0"/>
            </a:endParaRPr>
          </a:p>
          <a:p>
            <a:pPr marL="0" indent="0">
              <a:buNone/>
            </a:pPr>
            <a:r>
              <a:rPr lang="en-US" sz="1400" dirty="0">
                <a:solidFill>
                  <a:srgbClr val="FFFFFF"/>
                </a:solidFill>
                <a:latin typeface="Cambria" panose="02040503050406030204" pitchFamily="18" charset="0"/>
                <a:ea typeface="Cambria" panose="02040503050406030204" pitchFamily="18" charset="0"/>
                <a:cs typeface="Calibri" pitchFamily="34" charset="-120"/>
              </a:rPr>
              <a:t>✓  Secure SHA-256 health record management via Supabase</a:t>
            </a:r>
            <a:endParaRPr lang="en-US" sz="1400" dirty="0">
              <a:latin typeface="Cambria" panose="02040503050406030204" pitchFamily="18" charset="0"/>
              <a:ea typeface="Cambria" panose="02040503050406030204" pitchFamily="18" charset="0"/>
            </a:endParaRPr>
          </a:p>
          <a:p>
            <a:pPr marL="0" indent="0">
              <a:buNone/>
            </a:pPr>
            <a:r>
              <a:rPr lang="en-US" sz="1400" dirty="0">
                <a:solidFill>
                  <a:srgbClr val="FFFFFF"/>
                </a:solidFill>
                <a:latin typeface="Cambria" panose="02040503050406030204" pitchFamily="18" charset="0"/>
                <a:ea typeface="Cambria" panose="02040503050406030204" pitchFamily="18" charset="0"/>
                <a:cs typeface="Calibri" pitchFamily="34" charset="-120"/>
              </a:rPr>
              <a:t>✓  Real-time hospital locator within 30 km via Geoapify API</a:t>
            </a:r>
            <a:endParaRPr lang="en-US" sz="1400" dirty="0">
              <a:latin typeface="Cambria" panose="02040503050406030204" pitchFamily="18" charset="0"/>
              <a:ea typeface="Cambria" panose="02040503050406030204" pitchFamily="18" charset="0"/>
            </a:endParaRPr>
          </a:p>
        </p:txBody>
      </p:sp>
      <p:sp>
        <p:nvSpPr>
          <p:cNvPr id="11" name="Shape 9"/>
          <p:cNvSpPr/>
          <p:nvPr/>
        </p:nvSpPr>
        <p:spPr>
          <a:xfrm>
            <a:off x="4754880" y="1810512"/>
            <a:ext cx="4069080" cy="329184"/>
          </a:xfrm>
          <a:prstGeom prst="rect">
            <a:avLst/>
          </a:prstGeom>
          <a:solidFill>
            <a:srgbClr val="1565C0"/>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12" name="Text 10"/>
          <p:cNvSpPr/>
          <p:nvPr/>
        </p:nvSpPr>
        <p:spPr>
          <a:xfrm>
            <a:off x="4754880" y="1810512"/>
            <a:ext cx="4069080" cy="32918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FUTURE SCOPE</a:t>
            </a:r>
            <a:endParaRPr lang="en-US" sz="1600" dirty="0">
              <a:latin typeface="Cambria" panose="02040503050406030204" pitchFamily="18" charset="0"/>
              <a:ea typeface="Cambria" panose="02040503050406030204" pitchFamily="18" charset="0"/>
            </a:endParaRPr>
          </a:p>
        </p:txBody>
      </p:sp>
      <p:sp>
        <p:nvSpPr>
          <p:cNvPr id="13" name="Text 11"/>
          <p:cNvSpPr/>
          <p:nvPr/>
        </p:nvSpPr>
        <p:spPr>
          <a:xfrm>
            <a:off x="4846320" y="2176272"/>
            <a:ext cx="3886200" cy="2423160"/>
          </a:xfrm>
          <a:prstGeom prst="rect">
            <a:avLst/>
          </a:prstGeom>
          <a:noFill/>
          <a:ln/>
        </p:spPr>
        <p:txBody>
          <a:bodyPr wrap="square" rtlCol="0" anchor="ctr"/>
          <a:lstStyle/>
          <a:p>
            <a:pPr marL="0" indent="0">
              <a:buNone/>
            </a:pPr>
            <a:r>
              <a:rPr lang="en-US" sz="1400" dirty="0">
                <a:solidFill>
                  <a:srgbClr val="FFFFFF"/>
                </a:solidFill>
                <a:latin typeface="Cambria" panose="02040503050406030204" pitchFamily="18" charset="0"/>
                <a:ea typeface="Cambria" panose="02040503050406030204" pitchFamily="18" charset="0"/>
                <a:cs typeface="Calibri" pitchFamily="34" charset="-120"/>
              </a:rPr>
              <a:t>→  Integration with wearable IoT health devices</a:t>
            </a:r>
            <a:endParaRPr lang="en-US" sz="1400" dirty="0">
              <a:latin typeface="Cambria" panose="02040503050406030204" pitchFamily="18" charset="0"/>
              <a:ea typeface="Cambria" panose="02040503050406030204" pitchFamily="18" charset="0"/>
            </a:endParaRPr>
          </a:p>
          <a:p>
            <a:pPr marL="0" indent="0">
              <a:buNone/>
            </a:pPr>
            <a:r>
              <a:rPr lang="en-US" sz="1400" dirty="0">
                <a:solidFill>
                  <a:srgbClr val="FFFFFF"/>
                </a:solidFill>
                <a:latin typeface="Cambria" panose="02040503050406030204" pitchFamily="18" charset="0"/>
                <a:ea typeface="Cambria" panose="02040503050406030204" pitchFamily="18" charset="0"/>
                <a:cs typeface="Calibri" pitchFamily="34" charset="-120"/>
              </a:rPr>
              <a:t>→  Real-time EHR (Electronic Health Record) sync</a:t>
            </a:r>
            <a:endParaRPr lang="en-US" sz="1400" dirty="0">
              <a:latin typeface="Cambria" panose="02040503050406030204" pitchFamily="18" charset="0"/>
              <a:ea typeface="Cambria" panose="02040503050406030204" pitchFamily="18" charset="0"/>
            </a:endParaRPr>
          </a:p>
          <a:p>
            <a:pPr marL="0" indent="0">
              <a:buNone/>
            </a:pPr>
            <a:r>
              <a:rPr lang="en-US" sz="1400" dirty="0">
                <a:solidFill>
                  <a:srgbClr val="FFFFFF"/>
                </a:solidFill>
                <a:latin typeface="Cambria" panose="02040503050406030204" pitchFamily="18" charset="0"/>
                <a:ea typeface="Cambria" panose="02040503050406030204" pitchFamily="18" charset="0"/>
                <a:cs typeface="Calibri" pitchFamily="34" charset="-120"/>
              </a:rPr>
              <a:t>→  Voice-based clinical query support</a:t>
            </a:r>
            <a:endParaRPr lang="en-US" sz="1400" dirty="0">
              <a:latin typeface="Cambria" panose="02040503050406030204" pitchFamily="18" charset="0"/>
              <a:ea typeface="Cambria" panose="02040503050406030204" pitchFamily="18" charset="0"/>
            </a:endParaRPr>
          </a:p>
          <a:p>
            <a:pPr marL="0" indent="0">
              <a:buNone/>
            </a:pPr>
            <a:r>
              <a:rPr lang="en-US" sz="1400" dirty="0">
                <a:solidFill>
                  <a:srgbClr val="FFFFFF"/>
                </a:solidFill>
                <a:latin typeface="Cambria" panose="02040503050406030204" pitchFamily="18" charset="0"/>
                <a:ea typeface="Cambria" panose="02040503050406030204" pitchFamily="18" charset="0"/>
                <a:cs typeface="Calibri" pitchFamily="34" charset="-120"/>
              </a:rPr>
              <a:t>→  Mobile application with offline AI capability</a:t>
            </a:r>
            <a:endParaRPr lang="en-US" sz="1400" dirty="0">
              <a:latin typeface="Cambria" panose="02040503050406030204" pitchFamily="18" charset="0"/>
              <a:ea typeface="Cambria" panose="02040503050406030204" pitchFamily="18" charset="0"/>
            </a:endParaRPr>
          </a:p>
          <a:p>
            <a:pPr marL="0" indent="0">
              <a:buNone/>
            </a:pPr>
            <a:r>
              <a:rPr lang="en-US" sz="1400" dirty="0">
                <a:solidFill>
                  <a:srgbClr val="FFFFFF"/>
                </a:solidFill>
                <a:latin typeface="Cambria" panose="02040503050406030204" pitchFamily="18" charset="0"/>
                <a:ea typeface="Cambria" panose="02040503050406030204" pitchFamily="18" charset="0"/>
                <a:cs typeface="Calibri" pitchFamily="34" charset="-120"/>
              </a:rPr>
              <a:t>→  Clinical trial &amp; drug interaction database</a:t>
            </a:r>
            <a:endParaRPr lang="en-US" sz="1400" dirty="0">
              <a:latin typeface="Cambria" panose="02040503050406030204" pitchFamily="18" charset="0"/>
              <a:ea typeface="Cambria" panose="02040503050406030204" pitchFamily="18" charset="0"/>
            </a:endParaRPr>
          </a:p>
        </p:txBody>
      </p:sp>
      <p:sp>
        <p:nvSpPr>
          <p:cNvPr id="14" name="Shape 12"/>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15" name="Text 13"/>
          <p:cNvSpPr/>
          <p:nvPr/>
        </p:nvSpPr>
        <p:spPr>
          <a:xfrm>
            <a:off x="0" y="4864608"/>
            <a:ext cx="9144000" cy="278892"/>
          </a:xfrm>
          <a:prstGeom prst="rect">
            <a:avLst/>
          </a:prstGeom>
          <a:noFill/>
          <a:ln/>
        </p:spPr>
        <p:txBody>
          <a:bodyPr wrap="square" lIns="0" tIns="0" rIns="0" bIns="0" rtlCol="0" anchor="ctr"/>
          <a:lstStyle/>
          <a:p>
            <a:pPr marL="0" indent="0" algn="ctr">
              <a:buNone/>
            </a:pPr>
            <a:r>
              <a:rPr lang="en-US" sz="1100" dirty="0">
                <a:solidFill>
                  <a:srgbClr val="FFFFFF"/>
                </a:solidFill>
                <a:latin typeface="Cambria" panose="02040503050406030204" pitchFamily="18" charset="0"/>
                <a:ea typeface="Cambria" panose="02040503050406030204" pitchFamily="18" charset="0"/>
                <a:cs typeface="Calibri" pitchFamily="34" charset="-120"/>
              </a:rPr>
              <a:t>HealthAssist AI  |  Bapatla Engineering College  |  2025-26</a:t>
            </a:r>
            <a:endParaRPr lang="en-US" sz="1100" dirty="0">
              <a:latin typeface="Cambria" panose="02040503050406030204" pitchFamily="18" charset="0"/>
              <a:ea typeface="Cambria" panose="020405030504060302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1020"/>
          </a:solidFill>
          <a:ln w="12700">
            <a:solidFill>
              <a:srgbClr val="07102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 name="Shape 1"/>
          <p:cNvSpPr/>
          <p:nvPr/>
        </p:nvSpPr>
        <p:spPr>
          <a:xfrm>
            <a:off x="457200" y="457200"/>
            <a:ext cx="3840480" cy="3840480"/>
          </a:xfrm>
          <a:prstGeom prst="ellipse">
            <a:avLst/>
          </a:prstGeom>
          <a:solidFill>
            <a:srgbClr val="0D1E3A"/>
          </a:solidFill>
          <a:ln w="12700">
            <a:solidFill>
              <a:srgbClr val="1A6FD4"/>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4" name="Shape 2"/>
          <p:cNvSpPr/>
          <p:nvPr/>
        </p:nvSpPr>
        <p:spPr>
          <a:xfrm>
            <a:off x="822960" y="822960"/>
            <a:ext cx="3108960" cy="3108960"/>
          </a:xfrm>
          <a:prstGeom prst="ellipse">
            <a:avLst/>
          </a:prstGeom>
          <a:solidFill>
            <a:srgbClr val="0B3A7A"/>
          </a:solidFill>
          <a:ln w="12700">
            <a:solidFill>
              <a:srgbClr val="1565C0"/>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5" name="Text 3"/>
          <p:cNvSpPr/>
          <p:nvPr/>
        </p:nvSpPr>
        <p:spPr>
          <a:xfrm>
            <a:off x="457200" y="457200"/>
            <a:ext cx="3840480" cy="3840480"/>
          </a:xfrm>
          <a:prstGeom prst="rect">
            <a:avLst/>
          </a:prstGeom>
          <a:noFill/>
          <a:ln/>
        </p:spPr>
        <p:txBody>
          <a:bodyPr wrap="square" lIns="0" tIns="0" rIns="0" bIns="0" rtlCol="0" anchor="ctr"/>
          <a:lstStyle/>
          <a:p>
            <a:pPr marL="0" indent="0" algn="ctr">
              <a:buNone/>
            </a:pPr>
            <a:r>
              <a:rPr lang="en-US" sz="12000" b="1" dirty="0">
                <a:solidFill>
                  <a:srgbClr val="FFFFFF"/>
                </a:solidFill>
                <a:latin typeface="Times New Roman" panose="02020603050405020304" pitchFamily="18" charset="0"/>
                <a:ea typeface="Calibri" pitchFamily="34" charset="-122"/>
                <a:cs typeface="Times New Roman" panose="02020603050405020304" pitchFamily="18" charset="0"/>
              </a:rPr>
              <a:t>?</a:t>
            </a:r>
            <a:endParaRPr lang="en-US" sz="12000" dirty="0">
              <a:latin typeface="Times New Roman" panose="02020603050405020304" pitchFamily="18" charset="0"/>
              <a:cs typeface="Times New Roman" panose="02020603050405020304" pitchFamily="18" charset="0"/>
            </a:endParaRPr>
          </a:p>
        </p:txBody>
      </p:sp>
      <p:sp>
        <p:nvSpPr>
          <p:cNvPr id="6" name="Text 4"/>
          <p:cNvSpPr/>
          <p:nvPr/>
        </p:nvSpPr>
        <p:spPr>
          <a:xfrm>
            <a:off x="4572000" y="1097280"/>
            <a:ext cx="4206240" cy="914400"/>
          </a:xfrm>
          <a:prstGeom prst="rect">
            <a:avLst/>
          </a:prstGeom>
          <a:noFill/>
          <a:ln/>
        </p:spPr>
        <p:txBody>
          <a:bodyPr wrap="square" rtlCol="0" anchor="ctr"/>
          <a:lstStyle/>
          <a:p>
            <a:pPr marL="0" indent="0" algn="l">
              <a:buNone/>
            </a:pPr>
            <a:r>
              <a:rPr lang="en-US" sz="5200" b="1" dirty="0">
                <a:solidFill>
                  <a:srgbClr val="FFFFFF"/>
                </a:solidFill>
                <a:latin typeface="Times New Roman" panose="02020603050405020304" pitchFamily="18" charset="0"/>
                <a:ea typeface="Calibri" pitchFamily="34" charset="-122"/>
                <a:cs typeface="Times New Roman" panose="02020603050405020304" pitchFamily="18" charset="0"/>
              </a:rPr>
              <a:t>Q&amp;A</a:t>
            </a:r>
            <a:endParaRPr lang="en-US" sz="5200" dirty="0">
              <a:latin typeface="Times New Roman" panose="02020603050405020304" pitchFamily="18" charset="0"/>
              <a:cs typeface="Times New Roman" panose="02020603050405020304" pitchFamily="18" charset="0"/>
            </a:endParaRPr>
          </a:p>
        </p:txBody>
      </p:sp>
      <p:sp>
        <p:nvSpPr>
          <p:cNvPr id="7" name="Shape 5"/>
          <p:cNvSpPr/>
          <p:nvPr/>
        </p:nvSpPr>
        <p:spPr>
          <a:xfrm>
            <a:off x="4572000" y="2029968"/>
            <a:ext cx="4206240" cy="45720"/>
          </a:xfrm>
          <a:prstGeom prst="rect">
            <a:avLst/>
          </a:prstGeom>
          <a:solidFill>
            <a:srgbClr val="1A6FD4"/>
          </a:solidFill>
          <a:ln w="12700">
            <a:solidFill>
              <a:srgbClr val="1A6FD4"/>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8" name="Text 6"/>
          <p:cNvSpPr/>
          <p:nvPr/>
        </p:nvSpPr>
        <p:spPr>
          <a:xfrm>
            <a:off x="4572000" y="2103120"/>
            <a:ext cx="4206240" cy="411480"/>
          </a:xfrm>
          <a:prstGeom prst="rect">
            <a:avLst/>
          </a:prstGeom>
          <a:noFill/>
          <a:ln/>
        </p:spPr>
        <p:txBody>
          <a:bodyPr wrap="square" rtlCol="0" anchor="ctr"/>
          <a:lstStyle/>
          <a:p>
            <a:pPr marL="0" indent="0" algn="l">
              <a:buNone/>
            </a:pPr>
            <a:r>
              <a:rPr lang="en-US" sz="1600" i="1" dirty="0">
                <a:solidFill>
                  <a:srgbClr val="CADCFC"/>
                </a:solidFill>
                <a:latin typeface="Times New Roman" panose="02020603050405020304" pitchFamily="18" charset="0"/>
                <a:ea typeface="Calibri" pitchFamily="34" charset="-122"/>
                <a:cs typeface="Times New Roman" panose="02020603050405020304" pitchFamily="18" charset="0"/>
              </a:rPr>
              <a:t>Questions &amp; Discussion</a:t>
            </a:r>
            <a:endParaRPr lang="en-US" sz="1600" dirty="0">
              <a:latin typeface="Times New Roman" panose="02020603050405020304" pitchFamily="18" charset="0"/>
              <a:cs typeface="Times New Roman" panose="02020603050405020304" pitchFamily="18" charset="0"/>
            </a:endParaRPr>
          </a:p>
        </p:txBody>
      </p:sp>
      <p:sp>
        <p:nvSpPr>
          <p:cNvPr id="9" name="Shape 7"/>
          <p:cNvSpPr/>
          <p:nvPr/>
        </p:nvSpPr>
        <p:spPr>
          <a:xfrm>
            <a:off x="4572000" y="2633472"/>
            <a:ext cx="4297680" cy="1417320"/>
          </a:xfrm>
          <a:prstGeom prst="rect">
            <a:avLst/>
          </a:prstGeom>
          <a:solidFill>
            <a:srgbClr val="0D1E3A"/>
          </a:solidFill>
          <a:ln w="12700">
            <a:solidFill>
              <a:srgbClr val="1A6FD4"/>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0" name="Text 8"/>
          <p:cNvSpPr/>
          <p:nvPr/>
        </p:nvSpPr>
        <p:spPr>
          <a:xfrm>
            <a:off x="4663440" y="2670048"/>
            <a:ext cx="4114800" cy="274320"/>
          </a:xfrm>
          <a:prstGeom prst="rect">
            <a:avLst/>
          </a:prstGeom>
          <a:noFill/>
          <a:ln/>
        </p:spPr>
        <p:txBody>
          <a:bodyPr wrap="square" rtlCol="0" anchor="ctr"/>
          <a:lstStyle/>
          <a:p>
            <a:pPr marL="0" indent="0" algn="l">
              <a:buNone/>
            </a:pPr>
            <a:r>
              <a:rPr lang="en-US" sz="1100" b="1" dirty="0">
                <a:solidFill>
                  <a:srgbClr val="1A6FD4"/>
                </a:solidFill>
                <a:latin typeface="Times New Roman" panose="02020603050405020304" pitchFamily="18" charset="0"/>
                <a:ea typeface="Calibri" pitchFamily="34" charset="-122"/>
                <a:cs typeface="Times New Roman" panose="02020603050405020304" pitchFamily="18" charset="0"/>
              </a:rPr>
              <a:t>Team Members:</a:t>
            </a:r>
            <a:endParaRPr lang="en-US" sz="1100" dirty="0">
              <a:latin typeface="Times New Roman" panose="02020603050405020304" pitchFamily="18" charset="0"/>
              <a:cs typeface="Times New Roman" panose="02020603050405020304" pitchFamily="18" charset="0"/>
            </a:endParaRPr>
          </a:p>
        </p:txBody>
      </p:sp>
      <p:sp>
        <p:nvSpPr>
          <p:cNvPr id="11" name="Text 9"/>
          <p:cNvSpPr/>
          <p:nvPr/>
        </p:nvSpPr>
        <p:spPr>
          <a:xfrm>
            <a:off x="4663440" y="2944368"/>
            <a:ext cx="4114800" cy="530352"/>
          </a:xfrm>
          <a:prstGeom prst="rect">
            <a:avLst/>
          </a:prstGeom>
          <a:noFill/>
          <a:ln/>
        </p:spPr>
        <p:txBody>
          <a:bodyPr wrap="square" rtlCol="0" anchor="t"/>
          <a:lstStyle/>
          <a:p>
            <a:pPr marL="0" indent="0" algn="l">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Gaddam Venu  ·  Jeevan Devandla  ·  G.S.L Sarojini</a:t>
            </a:r>
            <a:endParaRPr lang="en-US" sz="1150" dirty="0">
              <a:latin typeface="Times New Roman" panose="02020603050405020304" pitchFamily="18" charset="0"/>
              <a:cs typeface="Times New Roman" panose="02020603050405020304" pitchFamily="18" charset="0"/>
            </a:endParaRPr>
          </a:p>
          <a:p>
            <a:pPr marL="0" indent="0" algn="l">
              <a:buNone/>
            </a:pPr>
            <a:r>
              <a:rPr lang="en-US" sz="1150" b="1" dirty="0">
                <a:solidFill>
                  <a:srgbClr val="FFFFFF"/>
                </a:solidFill>
                <a:latin typeface="Times New Roman" panose="02020603050405020304" pitchFamily="18" charset="0"/>
                <a:ea typeface="Calibri" pitchFamily="34" charset="-122"/>
                <a:cs typeface="Times New Roman" panose="02020603050405020304" pitchFamily="18" charset="0"/>
              </a:rPr>
              <a:t>D. Srisaiteja  ·  Mudraboina Durgarao</a:t>
            </a:r>
            <a:endParaRPr lang="en-US" sz="1150" dirty="0">
              <a:latin typeface="Times New Roman" panose="02020603050405020304" pitchFamily="18" charset="0"/>
              <a:cs typeface="Times New Roman" panose="02020603050405020304" pitchFamily="18" charset="0"/>
            </a:endParaRPr>
          </a:p>
        </p:txBody>
      </p:sp>
      <p:sp>
        <p:nvSpPr>
          <p:cNvPr id="12" name="Text 10"/>
          <p:cNvSpPr/>
          <p:nvPr/>
        </p:nvSpPr>
        <p:spPr>
          <a:xfrm>
            <a:off x="4663440" y="3493008"/>
            <a:ext cx="4114800" cy="502920"/>
          </a:xfrm>
          <a:prstGeom prst="rect">
            <a:avLst/>
          </a:prstGeom>
          <a:noFill/>
          <a:ln/>
        </p:spPr>
        <p:txBody>
          <a:bodyPr wrap="square" rtlCol="0" anchor="t"/>
          <a:lstStyle/>
          <a:p>
            <a:pPr marL="0" indent="0" algn="l">
              <a:buNone/>
            </a:pPr>
            <a:r>
              <a:rPr lang="en-US" sz="1050" dirty="0">
                <a:solidFill>
                  <a:srgbClr val="CADCFC"/>
                </a:solidFill>
                <a:latin typeface="Times New Roman" panose="02020603050405020304" pitchFamily="18" charset="0"/>
                <a:ea typeface="Calibri" pitchFamily="34" charset="-122"/>
                <a:cs typeface="Times New Roman" panose="02020603050405020304" pitchFamily="18" charset="0"/>
              </a:rPr>
              <a:t>Guide: P.V.N. Srinivas, Asst. Prof., CSE (AIML)</a:t>
            </a:r>
            <a:endParaRPr lang="en-US" sz="1050" dirty="0">
              <a:latin typeface="Times New Roman" panose="02020603050405020304" pitchFamily="18" charset="0"/>
              <a:cs typeface="Times New Roman" panose="02020603050405020304" pitchFamily="18" charset="0"/>
            </a:endParaRPr>
          </a:p>
          <a:p>
            <a:pPr marL="0" indent="0" algn="l">
              <a:buNone/>
            </a:pPr>
            <a:r>
              <a:rPr lang="en-US" sz="1050" dirty="0">
                <a:solidFill>
                  <a:srgbClr val="CADCFC"/>
                </a:solidFill>
                <a:latin typeface="Times New Roman" panose="02020603050405020304" pitchFamily="18" charset="0"/>
                <a:ea typeface="Calibri" pitchFamily="34" charset="-122"/>
                <a:cs typeface="Times New Roman" panose="02020603050405020304" pitchFamily="18" charset="0"/>
              </a:rPr>
              <a:t>Bapatla Engineering College, Bapatla – 522101</a:t>
            </a:r>
            <a:endParaRPr lang="en-US" sz="1050" dirty="0">
              <a:latin typeface="Times New Roman" panose="02020603050405020304" pitchFamily="18" charset="0"/>
              <a:cs typeface="Times New Roman" panose="02020603050405020304" pitchFamily="18" charset="0"/>
            </a:endParaRPr>
          </a:p>
        </p:txBody>
      </p:sp>
      <p:sp>
        <p:nvSpPr>
          <p:cNvPr id="13" name="Shape 11"/>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14" name="Text 12"/>
          <p:cNvSpPr/>
          <p:nvPr/>
        </p:nvSpPr>
        <p:spPr>
          <a:xfrm>
            <a:off x="0" y="4864608"/>
            <a:ext cx="9144000" cy="278892"/>
          </a:xfrm>
          <a:prstGeom prst="rect">
            <a:avLst/>
          </a:prstGeom>
          <a:noFill/>
          <a:ln/>
        </p:spPr>
        <p:txBody>
          <a:bodyPr wrap="square" lIns="0" tIns="0" rIns="0" bIns="0" rtlCol="0" anchor="ctr"/>
          <a:lstStyle/>
          <a:p>
            <a:pPr marL="0" indent="0" algn="ctr">
              <a:buNone/>
            </a:pPr>
            <a:r>
              <a:rPr lang="en-US" sz="1000" dirty="0">
                <a:solidFill>
                  <a:srgbClr val="FFFFFF"/>
                </a:solidFill>
                <a:latin typeface="Times New Roman" panose="02020603050405020304" pitchFamily="18" charset="0"/>
                <a:ea typeface="Calibri" pitchFamily="34" charset="-122"/>
                <a:cs typeface="Times New Roman" panose="02020603050405020304" pitchFamily="18" charset="0"/>
              </a:rPr>
              <a:t>Review Date: 02/04/2026  |  NTRB-41  |  CM1 to CM5  |  Project Work (20CM801/PW01)</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071020"/>
          </a:solidFill>
          <a:ln w="12700">
            <a:solidFill>
              <a:srgbClr val="07102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 name="Shape 1"/>
          <p:cNvSpPr/>
          <p:nvPr/>
        </p:nvSpPr>
        <p:spPr>
          <a:xfrm>
            <a:off x="4572000" y="0"/>
            <a:ext cx="4572000" cy="5143500"/>
          </a:xfrm>
          <a:prstGeom prst="rect">
            <a:avLst/>
          </a:prstGeom>
          <a:solidFill>
            <a:srgbClr val="1A6FD4"/>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4" name="Shape 2"/>
          <p:cNvSpPr/>
          <p:nvPr/>
        </p:nvSpPr>
        <p:spPr>
          <a:xfrm>
            <a:off x="4544568" y="0"/>
            <a:ext cx="54864" cy="5143500"/>
          </a:xfrm>
          <a:prstGeom prst="rect">
            <a:avLst/>
          </a:prstGeom>
          <a:solidFill>
            <a:srgbClr val="1565C0"/>
          </a:solidFill>
          <a:ln w="12700">
            <a:solidFill>
              <a:srgbClr val="1565C0"/>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5" name="Shape 3"/>
          <p:cNvSpPr/>
          <p:nvPr/>
        </p:nvSpPr>
        <p:spPr>
          <a:xfrm>
            <a:off x="1097280" y="457200"/>
            <a:ext cx="2377440" cy="2377440"/>
          </a:xfrm>
          <a:prstGeom prst="ellipse">
            <a:avLst/>
          </a:prstGeom>
          <a:solidFill>
            <a:srgbClr val="0D1E3A"/>
          </a:solidFill>
          <a:ln w="12700">
            <a:solidFill>
              <a:srgbClr val="1A6FD4"/>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6" name="Shape 4"/>
          <p:cNvSpPr/>
          <p:nvPr/>
        </p:nvSpPr>
        <p:spPr>
          <a:xfrm>
            <a:off x="1965960" y="1005840"/>
            <a:ext cx="640080" cy="1280160"/>
          </a:xfrm>
          <a:prstGeom prst="rect">
            <a:avLst/>
          </a:prstGeom>
          <a:solidFill>
            <a:srgbClr val="FFFFFF"/>
          </a:solidFill>
          <a:ln w="12700">
            <a:solidFill>
              <a:srgbClr val="FFFFFF"/>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7" name="Shape 5"/>
          <p:cNvSpPr/>
          <p:nvPr/>
        </p:nvSpPr>
        <p:spPr>
          <a:xfrm>
            <a:off x="1417320" y="1463040"/>
            <a:ext cx="1737360" cy="640080"/>
          </a:xfrm>
          <a:prstGeom prst="rect">
            <a:avLst/>
          </a:prstGeom>
          <a:solidFill>
            <a:srgbClr val="FFFFFF"/>
          </a:solidFill>
          <a:ln w="12700">
            <a:solidFill>
              <a:srgbClr val="FFFFFF"/>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8" name="Text 6"/>
          <p:cNvSpPr/>
          <p:nvPr/>
        </p:nvSpPr>
        <p:spPr>
          <a:xfrm>
            <a:off x="274320" y="2944368"/>
            <a:ext cx="4023360" cy="502920"/>
          </a:xfrm>
          <a:prstGeom prst="rect">
            <a:avLst/>
          </a:prstGeom>
          <a:noFill/>
          <a:ln/>
        </p:spPr>
        <p:txBody>
          <a:bodyPr wrap="square" rtlCol="0" anchor="ctr"/>
          <a:lstStyle/>
          <a:p>
            <a:pPr marL="0" indent="0" algn="ctr">
              <a:buNone/>
            </a:pPr>
            <a:r>
              <a:rPr lang="en-US" sz="2000" b="1" dirty="0">
                <a:solidFill>
                  <a:srgbClr val="FFFFFF"/>
                </a:solidFill>
                <a:latin typeface="Cambria" panose="02040503050406030204" pitchFamily="18" charset="0"/>
                <a:ea typeface="Cambria" panose="02040503050406030204" pitchFamily="18" charset="0"/>
                <a:cs typeface="Calibri" pitchFamily="34" charset="-120"/>
              </a:rPr>
              <a:t>HealthAssist AI</a:t>
            </a:r>
            <a:endParaRPr lang="en-US" sz="2000" dirty="0">
              <a:latin typeface="Cambria" panose="02040503050406030204" pitchFamily="18" charset="0"/>
              <a:ea typeface="Cambria" panose="02040503050406030204" pitchFamily="18" charset="0"/>
            </a:endParaRPr>
          </a:p>
        </p:txBody>
      </p:sp>
      <p:sp>
        <p:nvSpPr>
          <p:cNvPr id="9" name="Text 7"/>
          <p:cNvSpPr/>
          <p:nvPr/>
        </p:nvSpPr>
        <p:spPr>
          <a:xfrm>
            <a:off x="274320" y="3429000"/>
            <a:ext cx="4023360" cy="347472"/>
          </a:xfrm>
          <a:prstGeom prst="rect">
            <a:avLst/>
          </a:prstGeom>
          <a:noFill/>
          <a:ln/>
        </p:spPr>
        <p:txBody>
          <a:bodyPr wrap="square" rtlCol="0" anchor="ctr"/>
          <a:lstStyle/>
          <a:p>
            <a:pPr marL="0" indent="0" algn="ctr">
              <a:buNone/>
            </a:pPr>
            <a:r>
              <a:rPr lang="en-US" sz="1400" i="1" dirty="0">
                <a:solidFill>
                  <a:srgbClr val="CADCFC"/>
                </a:solidFill>
                <a:latin typeface="Cambria" panose="02040503050406030204" pitchFamily="18" charset="0"/>
                <a:ea typeface="Cambria" panose="02040503050406030204" pitchFamily="18" charset="0"/>
                <a:cs typeface="Calibri" pitchFamily="34" charset="-120"/>
              </a:rPr>
              <a:t>Hybrid Healthcare Intelligence System</a:t>
            </a:r>
            <a:endParaRPr lang="en-US" sz="1400" dirty="0">
              <a:latin typeface="Cambria" panose="02040503050406030204" pitchFamily="18" charset="0"/>
              <a:ea typeface="Cambria" panose="02040503050406030204" pitchFamily="18" charset="0"/>
            </a:endParaRPr>
          </a:p>
        </p:txBody>
      </p:sp>
      <p:sp>
        <p:nvSpPr>
          <p:cNvPr id="10" name="Text 8"/>
          <p:cNvSpPr/>
          <p:nvPr/>
        </p:nvSpPr>
        <p:spPr>
          <a:xfrm>
            <a:off x="274320" y="3822192"/>
            <a:ext cx="4023360" cy="502920"/>
          </a:xfrm>
          <a:prstGeom prst="rect">
            <a:avLst/>
          </a:prstGeom>
          <a:noFill/>
          <a:ln/>
        </p:spPr>
        <p:txBody>
          <a:bodyPr wrap="square" rtlCol="0" anchor="ctr"/>
          <a:lstStyle/>
          <a:p>
            <a:pPr marL="0" indent="0" algn="ctr">
              <a:buNone/>
            </a:pPr>
            <a:r>
              <a:rPr lang="en-US" sz="1100" i="1" dirty="0">
                <a:solidFill>
                  <a:srgbClr val="CADCFC"/>
                </a:solidFill>
                <a:latin typeface="Cambria" panose="02040503050406030204" pitchFamily="18" charset="0"/>
                <a:ea typeface="Cambria" panose="02040503050406030204" pitchFamily="18" charset="0"/>
                <a:cs typeface="Calibri" pitchFamily="34" charset="-120"/>
              </a:rPr>
              <a:t>Published: Journal of Dalian University of Technology</a:t>
            </a:r>
            <a:endParaRPr lang="en-US" sz="1100" dirty="0">
              <a:latin typeface="Cambria" panose="02040503050406030204" pitchFamily="18" charset="0"/>
              <a:ea typeface="Cambria" panose="02040503050406030204" pitchFamily="18" charset="0"/>
            </a:endParaRPr>
          </a:p>
          <a:p>
            <a:pPr marL="0" indent="0" algn="ctr">
              <a:buNone/>
            </a:pPr>
            <a:r>
              <a:rPr lang="en-US" sz="1100" i="1" dirty="0">
                <a:solidFill>
                  <a:srgbClr val="CADCFC"/>
                </a:solidFill>
                <a:latin typeface="Cambria" panose="02040503050406030204" pitchFamily="18" charset="0"/>
                <a:ea typeface="Cambria" panose="02040503050406030204" pitchFamily="18" charset="0"/>
                <a:cs typeface="Calibri" pitchFamily="34" charset="-120"/>
              </a:rPr>
              <a:t>Vol. 33, Issue 2, 2026</a:t>
            </a:r>
            <a:endParaRPr lang="en-US" sz="1100" dirty="0">
              <a:latin typeface="Cambria" panose="02040503050406030204" pitchFamily="18" charset="0"/>
              <a:ea typeface="Cambria" panose="02040503050406030204" pitchFamily="18" charset="0"/>
            </a:endParaRPr>
          </a:p>
        </p:txBody>
      </p:sp>
      <p:sp>
        <p:nvSpPr>
          <p:cNvPr id="11" name="Text 9"/>
          <p:cNvSpPr/>
          <p:nvPr/>
        </p:nvSpPr>
        <p:spPr>
          <a:xfrm>
            <a:off x="4663440" y="274320"/>
            <a:ext cx="4297680" cy="1005840"/>
          </a:xfrm>
          <a:prstGeom prst="rect">
            <a:avLst/>
          </a:prstGeom>
          <a:noFill/>
          <a:ln/>
        </p:spPr>
        <p:txBody>
          <a:bodyPr wrap="square" rtlCol="0" anchor="ctr"/>
          <a:lstStyle/>
          <a:p>
            <a:pPr marL="0" indent="0" algn="ctr">
              <a:buNone/>
            </a:pPr>
            <a:r>
              <a:rPr lang="en-US" sz="6600" b="1" dirty="0">
                <a:solidFill>
                  <a:srgbClr val="071020"/>
                </a:solidFill>
                <a:latin typeface="Cambria" panose="02040503050406030204" pitchFamily="18" charset="0"/>
                <a:ea typeface="Cambria" panose="02040503050406030204" pitchFamily="18" charset="0"/>
                <a:cs typeface="Calibri" pitchFamily="34" charset="-120"/>
              </a:rPr>
              <a:t>Thank</a:t>
            </a:r>
            <a:endParaRPr lang="en-US" sz="6600" dirty="0">
              <a:latin typeface="Cambria" panose="02040503050406030204" pitchFamily="18" charset="0"/>
              <a:ea typeface="Cambria" panose="02040503050406030204" pitchFamily="18" charset="0"/>
            </a:endParaRPr>
          </a:p>
        </p:txBody>
      </p:sp>
      <p:sp>
        <p:nvSpPr>
          <p:cNvPr id="12" name="Text 10"/>
          <p:cNvSpPr/>
          <p:nvPr/>
        </p:nvSpPr>
        <p:spPr>
          <a:xfrm>
            <a:off x="4663440" y="1234440"/>
            <a:ext cx="4297680" cy="1005840"/>
          </a:xfrm>
          <a:prstGeom prst="rect">
            <a:avLst/>
          </a:prstGeom>
          <a:noFill/>
          <a:ln/>
        </p:spPr>
        <p:txBody>
          <a:bodyPr wrap="square" rtlCol="0" anchor="ctr"/>
          <a:lstStyle/>
          <a:p>
            <a:pPr marL="0" indent="0" algn="ctr">
              <a:buNone/>
            </a:pPr>
            <a:r>
              <a:rPr lang="en-US" sz="6600" b="1" dirty="0">
                <a:solidFill>
                  <a:srgbClr val="0B3A7A"/>
                </a:solidFill>
                <a:latin typeface="Cambria" panose="02040503050406030204" pitchFamily="18" charset="0"/>
                <a:ea typeface="Cambria" panose="02040503050406030204" pitchFamily="18" charset="0"/>
                <a:cs typeface="Calibri" pitchFamily="34" charset="-120"/>
              </a:rPr>
              <a:t>You!</a:t>
            </a:r>
            <a:endParaRPr lang="en-US" sz="6600" dirty="0">
              <a:latin typeface="Cambria" panose="02040503050406030204" pitchFamily="18" charset="0"/>
              <a:ea typeface="Cambria" panose="02040503050406030204" pitchFamily="18" charset="0"/>
            </a:endParaRPr>
          </a:p>
        </p:txBody>
      </p:sp>
      <p:sp>
        <p:nvSpPr>
          <p:cNvPr id="13" name="Shape 11"/>
          <p:cNvSpPr/>
          <p:nvPr/>
        </p:nvSpPr>
        <p:spPr>
          <a:xfrm>
            <a:off x="4754880" y="2286000"/>
            <a:ext cx="4114800" cy="36576"/>
          </a:xfrm>
          <a:prstGeom prst="rect">
            <a:avLst/>
          </a:prstGeom>
          <a:solidFill>
            <a:srgbClr val="0B3A7A"/>
          </a:solidFill>
          <a:ln w="12700">
            <a:solidFill>
              <a:srgbClr val="0B3A7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14" name="Shape 12"/>
          <p:cNvSpPr/>
          <p:nvPr/>
        </p:nvSpPr>
        <p:spPr>
          <a:xfrm>
            <a:off x="4709160" y="2377440"/>
            <a:ext cx="960120" cy="777240"/>
          </a:xfrm>
          <a:prstGeom prst="rect">
            <a:avLst/>
          </a:prstGeom>
          <a:solidFill>
            <a:srgbClr val="FFFFFF"/>
          </a:solidFill>
          <a:ln w="12700">
            <a:solidFill>
              <a:srgbClr val="BDD6F5"/>
            </a:solidFill>
            <a:prstDash val="solid"/>
          </a:ln>
          <a:effectLst>
            <a:outerShdw blurRad="25400" dist="12700" dir="8100000" algn="bl" rotWithShape="0">
              <a:srgbClr val="000000">
                <a:alpha val="8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15" name="Text 13"/>
          <p:cNvSpPr/>
          <p:nvPr/>
        </p:nvSpPr>
        <p:spPr>
          <a:xfrm>
            <a:off x="4709160" y="2377440"/>
            <a:ext cx="960120" cy="457200"/>
          </a:xfrm>
          <a:prstGeom prst="rect">
            <a:avLst/>
          </a:prstGeom>
          <a:noFill/>
          <a:ln/>
        </p:spPr>
        <p:txBody>
          <a:bodyPr wrap="square" lIns="0" tIns="0" rIns="0" bIns="0" rtlCol="0" anchor="ctr"/>
          <a:lstStyle/>
          <a:p>
            <a:pPr marL="0" indent="0" algn="ctr">
              <a:buNone/>
            </a:pPr>
            <a:r>
              <a:rPr lang="en-US" b="1" dirty="0">
                <a:solidFill>
                  <a:srgbClr val="0B3A7A"/>
                </a:solidFill>
                <a:latin typeface="Cambria" panose="02040503050406030204" pitchFamily="18" charset="0"/>
                <a:ea typeface="Cambria" panose="02040503050406030204" pitchFamily="18" charset="0"/>
                <a:cs typeface="Calibri" pitchFamily="34" charset="-120"/>
              </a:rPr>
              <a:t>12+</a:t>
            </a:r>
            <a:endParaRPr lang="en-US" dirty="0">
              <a:latin typeface="Cambria" panose="02040503050406030204" pitchFamily="18" charset="0"/>
              <a:ea typeface="Cambria" panose="02040503050406030204" pitchFamily="18" charset="0"/>
            </a:endParaRPr>
          </a:p>
        </p:txBody>
      </p:sp>
      <p:sp>
        <p:nvSpPr>
          <p:cNvPr id="16" name="Text 14"/>
          <p:cNvSpPr/>
          <p:nvPr/>
        </p:nvSpPr>
        <p:spPr>
          <a:xfrm>
            <a:off x="4709160" y="2834640"/>
            <a:ext cx="960120" cy="274320"/>
          </a:xfrm>
          <a:prstGeom prst="rect">
            <a:avLst/>
          </a:prstGeom>
          <a:noFill/>
          <a:ln/>
        </p:spPr>
        <p:txBody>
          <a:bodyPr wrap="square" lIns="0" tIns="0" rIns="0" bIns="0" rtlCol="0" anchor="ctr"/>
          <a:lstStyle/>
          <a:p>
            <a:pPr marL="0" indent="0" algn="ctr">
              <a:buNone/>
            </a:pPr>
            <a:r>
              <a:rPr lang="en-US" sz="1000" dirty="0">
                <a:solidFill>
                  <a:srgbClr val="1A3A6A"/>
                </a:solidFill>
                <a:latin typeface="Cambria" panose="02040503050406030204" pitchFamily="18" charset="0"/>
                <a:ea typeface="Cambria" panose="02040503050406030204" pitchFamily="18" charset="0"/>
                <a:cs typeface="Calibri" pitchFamily="34" charset="-120"/>
              </a:rPr>
              <a:t>Languages</a:t>
            </a:r>
            <a:endParaRPr lang="en-US" sz="1000" dirty="0">
              <a:latin typeface="Cambria" panose="02040503050406030204" pitchFamily="18" charset="0"/>
              <a:ea typeface="Cambria" panose="02040503050406030204" pitchFamily="18" charset="0"/>
            </a:endParaRPr>
          </a:p>
        </p:txBody>
      </p:sp>
      <p:sp>
        <p:nvSpPr>
          <p:cNvPr id="17" name="Shape 15"/>
          <p:cNvSpPr/>
          <p:nvPr/>
        </p:nvSpPr>
        <p:spPr>
          <a:xfrm>
            <a:off x="5769864" y="2377440"/>
            <a:ext cx="960120" cy="777240"/>
          </a:xfrm>
          <a:prstGeom prst="rect">
            <a:avLst/>
          </a:prstGeom>
          <a:solidFill>
            <a:srgbClr val="FFFFFF"/>
          </a:solidFill>
          <a:ln w="12700">
            <a:solidFill>
              <a:srgbClr val="BDD6F5"/>
            </a:solidFill>
            <a:prstDash val="solid"/>
          </a:ln>
          <a:effectLst>
            <a:outerShdw blurRad="25400" dist="12700" dir="8100000" algn="bl" rotWithShape="0">
              <a:srgbClr val="000000">
                <a:alpha val="8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18" name="Text 16"/>
          <p:cNvSpPr/>
          <p:nvPr/>
        </p:nvSpPr>
        <p:spPr>
          <a:xfrm>
            <a:off x="5769864" y="2377440"/>
            <a:ext cx="960120" cy="457200"/>
          </a:xfrm>
          <a:prstGeom prst="rect">
            <a:avLst/>
          </a:prstGeom>
          <a:noFill/>
          <a:ln/>
        </p:spPr>
        <p:txBody>
          <a:bodyPr wrap="square" lIns="0" tIns="0" rIns="0" bIns="0" rtlCol="0" anchor="ctr"/>
          <a:lstStyle/>
          <a:p>
            <a:pPr marL="0" indent="0" algn="ctr">
              <a:buNone/>
            </a:pPr>
            <a:r>
              <a:rPr lang="en-US" b="1" dirty="0">
                <a:solidFill>
                  <a:srgbClr val="0B3A7A"/>
                </a:solidFill>
                <a:latin typeface="Cambria" panose="02040503050406030204" pitchFamily="18" charset="0"/>
                <a:ea typeface="Cambria" panose="02040503050406030204" pitchFamily="18" charset="0"/>
                <a:cs typeface="Calibri" pitchFamily="34" charset="-120"/>
              </a:rPr>
              <a:t>89.55%</a:t>
            </a:r>
            <a:endParaRPr lang="en-US" dirty="0">
              <a:latin typeface="Cambria" panose="02040503050406030204" pitchFamily="18" charset="0"/>
              <a:ea typeface="Cambria" panose="02040503050406030204" pitchFamily="18" charset="0"/>
            </a:endParaRPr>
          </a:p>
        </p:txBody>
      </p:sp>
      <p:sp>
        <p:nvSpPr>
          <p:cNvPr id="19" name="Text 17"/>
          <p:cNvSpPr/>
          <p:nvPr/>
        </p:nvSpPr>
        <p:spPr>
          <a:xfrm>
            <a:off x="5769864" y="2834640"/>
            <a:ext cx="960120" cy="274320"/>
          </a:xfrm>
          <a:prstGeom prst="rect">
            <a:avLst/>
          </a:prstGeom>
          <a:noFill/>
          <a:ln/>
        </p:spPr>
        <p:txBody>
          <a:bodyPr wrap="square" lIns="0" tIns="0" rIns="0" bIns="0" rtlCol="0" anchor="ctr"/>
          <a:lstStyle/>
          <a:p>
            <a:pPr marL="0" indent="0" algn="ctr">
              <a:buNone/>
            </a:pPr>
            <a:r>
              <a:rPr lang="en-US" sz="1000" dirty="0">
                <a:solidFill>
                  <a:srgbClr val="1A3A6A"/>
                </a:solidFill>
                <a:latin typeface="Cambria" panose="02040503050406030204" pitchFamily="18" charset="0"/>
                <a:ea typeface="Cambria" panose="02040503050406030204" pitchFamily="18" charset="0"/>
                <a:cs typeface="Calibri" pitchFamily="34" charset="-120"/>
              </a:rPr>
              <a:t>Accuracy</a:t>
            </a:r>
            <a:endParaRPr lang="en-US" sz="1000" dirty="0">
              <a:latin typeface="Cambria" panose="02040503050406030204" pitchFamily="18" charset="0"/>
              <a:ea typeface="Cambria" panose="02040503050406030204" pitchFamily="18" charset="0"/>
            </a:endParaRPr>
          </a:p>
        </p:txBody>
      </p:sp>
      <p:sp>
        <p:nvSpPr>
          <p:cNvPr id="20" name="Shape 18"/>
          <p:cNvSpPr/>
          <p:nvPr/>
        </p:nvSpPr>
        <p:spPr>
          <a:xfrm>
            <a:off x="6830568" y="2377440"/>
            <a:ext cx="960120" cy="777240"/>
          </a:xfrm>
          <a:prstGeom prst="rect">
            <a:avLst/>
          </a:prstGeom>
          <a:solidFill>
            <a:srgbClr val="FFFFFF"/>
          </a:solidFill>
          <a:ln w="12700">
            <a:solidFill>
              <a:srgbClr val="BDD6F5"/>
            </a:solidFill>
            <a:prstDash val="solid"/>
          </a:ln>
          <a:effectLst>
            <a:outerShdw blurRad="25400" dist="12700" dir="8100000" algn="bl" rotWithShape="0">
              <a:srgbClr val="000000">
                <a:alpha val="8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21" name="Text 19"/>
          <p:cNvSpPr/>
          <p:nvPr/>
        </p:nvSpPr>
        <p:spPr>
          <a:xfrm>
            <a:off x="6830568" y="2377440"/>
            <a:ext cx="960120" cy="457200"/>
          </a:xfrm>
          <a:prstGeom prst="rect">
            <a:avLst/>
          </a:prstGeom>
          <a:noFill/>
          <a:ln/>
        </p:spPr>
        <p:txBody>
          <a:bodyPr wrap="square" lIns="0" tIns="0" rIns="0" bIns="0" rtlCol="0" anchor="ctr"/>
          <a:lstStyle/>
          <a:p>
            <a:pPr marL="0" indent="0" algn="ctr">
              <a:buNone/>
            </a:pPr>
            <a:r>
              <a:rPr lang="en-US" b="1" dirty="0">
                <a:solidFill>
                  <a:srgbClr val="0B3A7A"/>
                </a:solidFill>
                <a:latin typeface="Cambria" panose="02040503050406030204" pitchFamily="18" charset="0"/>
                <a:ea typeface="Cambria" panose="02040503050406030204" pitchFamily="18" charset="0"/>
                <a:cs typeface="Calibri" pitchFamily="34" charset="-120"/>
              </a:rPr>
              <a:t>86.12%</a:t>
            </a:r>
            <a:endParaRPr lang="en-US" dirty="0">
              <a:latin typeface="Cambria" panose="02040503050406030204" pitchFamily="18" charset="0"/>
              <a:ea typeface="Cambria" panose="02040503050406030204" pitchFamily="18" charset="0"/>
            </a:endParaRPr>
          </a:p>
        </p:txBody>
      </p:sp>
      <p:sp>
        <p:nvSpPr>
          <p:cNvPr id="22" name="Text 20"/>
          <p:cNvSpPr/>
          <p:nvPr/>
        </p:nvSpPr>
        <p:spPr>
          <a:xfrm>
            <a:off x="6830568" y="2834640"/>
            <a:ext cx="960120" cy="274320"/>
          </a:xfrm>
          <a:prstGeom prst="rect">
            <a:avLst/>
          </a:prstGeom>
          <a:noFill/>
          <a:ln/>
        </p:spPr>
        <p:txBody>
          <a:bodyPr wrap="square" lIns="0" tIns="0" rIns="0" bIns="0" rtlCol="0" anchor="ctr"/>
          <a:lstStyle/>
          <a:p>
            <a:pPr marL="0" indent="0" algn="ctr">
              <a:buNone/>
            </a:pPr>
            <a:r>
              <a:rPr lang="en-US" sz="1000" dirty="0">
                <a:solidFill>
                  <a:srgbClr val="1A3A6A"/>
                </a:solidFill>
                <a:latin typeface="Cambria" panose="02040503050406030204" pitchFamily="18" charset="0"/>
                <a:ea typeface="Cambria" panose="02040503050406030204" pitchFamily="18" charset="0"/>
                <a:cs typeface="Calibri" pitchFamily="34" charset="-120"/>
              </a:rPr>
              <a:t>ROUGE-L</a:t>
            </a:r>
            <a:endParaRPr lang="en-US" sz="1000" dirty="0">
              <a:latin typeface="Cambria" panose="02040503050406030204" pitchFamily="18" charset="0"/>
              <a:ea typeface="Cambria" panose="02040503050406030204" pitchFamily="18" charset="0"/>
            </a:endParaRPr>
          </a:p>
        </p:txBody>
      </p:sp>
      <p:sp>
        <p:nvSpPr>
          <p:cNvPr id="23" name="Shape 21"/>
          <p:cNvSpPr/>
          <p:nvPr/>
        </p:nvSpPr>
        <p:spPr>
          <a:xfrm>
            <a:off x="7891272" y="2377440"/>
            <a:ext cx="960120" cy="777240"/>
          </a:xfrm>
          <a:prstGeom prst="rect">
            <a:avLst/>
          </a:prstGeom>
          <a:solidFill>
            <a:srgbClr val="FFFFFF"/>
          </a:solidFill>
          <a:ln w="12700">
            <a:solidFill>
              <a:srgbClr val="BDD6F5"/>
            </a:solidFill>
            <a:prstDash val="solid"/>
          </a:ln>
          <a:effectLst>
            <a:outerShdw blurRad="25400" dist="12700" dir="8100000" algn="bl" rotWithShape="0">
              <a:srgbClr val="000000">
                <a:alpha val="8000"/>
              </a:srgbClr>
            </a:outerShdw>
          </a:effectLst>
        </p:spPr>
        <p:txBody>
          <a:bodyPr/>
          <a:lstStyle/>
          <a:p>
            <a:endParaRPr lang="en-IN" sz="2400">
              <a:latin typeface="Cambria" panose="02040503050406030204" pitchFamily="18" charset="0"/>
              <a:ea typeface="Cambria" panose="02040503050406030204" pitchFamily="18" charset="0"/>
            </a:endParaRPr>
          </a:p>
        </p:txBody>
      </p:sp>
      <p:sp>
        <p:nvSpPr>
          <p:cNvPr id="24" name="Text 22"/>
          <p:cNvSpPr/>
          <p:nvPr/>
        </p:nvSpPr>
        <p:spPr>
          <a:xfrm>
            <a:off x="7891272" y="2377440"/>
            <a:ext cx="960120" cy="457200"/>
          </a:xfrm>
          <a:prstGeom prst="rect">
            <a:avLst/>
          </a:prstGeom>
          <a:noFill/>
          <a:ln/>
        </p:spPr>
        <p:txBody>
          <a:bodyPr wrap="square" lIns="0" tIns="0" rIns="0" bIns="0" rtlCol="0" anchor="ctr"/>
          <a:lstStyle/>
          <a:p>
            <a:pPr marL="0" indent="0" algn="ctr">
              <a:buNone/>
            </a:pPr>
            <a:r>
              <a:rPr lang="en-US" b="1" dirty="0">
                <a:solidFill>
                  <a:srgbClr val="0B3A7A"/>
                </a:solidFill>
                <a:latin typeface="Cambria" panose="02040503050406030204" pitchFamily="18" charset="0"/>
                <a:ea typeface="Cambria" panose="02040503050406030204" pitchFamily="18" charset="0"/>
                <a:cs typeface="Calibri" pitchFamily="34" charset="-120"/>
              </a:rPr>
              <a:t>7.11%</a:t>
            </a:r>
            <a:endParaRPr lang="en-US" dirty="0">
              <a:latin typeface="Cambria" panose="02040503050406030204" pitchFamily="18" charset="0"/>
              <a:ea typeface="Cambria" panose="02040503050406030204" pitchFamily="18" charset="0"/>
            </a:endParaRPr>
          </a:p>
        </p:txBody>
      </p:sp>
      <p:sp>
        <p:nvSpPr>
          <p:cNvPr id="25" name="Text 23"/>
          <p:cNvSpPr/>
          <p:nvPr/>
        </p:nvSpPr>
        <p:spPr>
          <a:xfrm>
            <a:off x="7891272" y="2834640"/>
            <a:ext cx="960120" cy="274320"/>
          </a:xfrm>
          <a:prstGeom prst="rect">
            <a:avLst/>
          </a:prstGeom>
          <a:noFill/>
          <a:ln/>
        </p:spPr>
        <p:txBody>
          <a:bodyPr wrap="square" lIns="0" tIns="0" rIns="0" bIns="0" rtlCol="0" anchor="ctr"/>
          <a:lstStyle/>
          <a:p>
            <a:pPr marL="0" indent="0" algn="ctr">
              <a:buNone/>
            </a:pPr>
            <a:r>
              <a:rPr lang="en-US" sz="1000" dirty="0">
                <a:solidFill>
                  <a:srgbClr val="1A3A6A"/>
                </a:solidFill>
                <a:latin typeface="Cambria" panose="02040503050406030204" pitchFamily="18" charset="0"/>
                <a:ea typeface="Cambria" panose="02040503050406030204" pitchFamily="18" charset="0"/>
                <a:cs typeface="Calibri" pitchFamily="34" charset="-120"/>
              </a:rPr>
              <a:t>Hallucination</a:t>
            </a:r>
            <a:endParaRPr lang="en-US" sz="1000" dirty="0">
              <a:latin typeface="Cambria" panose="02040503050406030204" pitchFamily="18" charset="0"/>
              <a:ea typeface="Cambria" panose="02040503050406030204" pitchFamily="18" charset="0"/>
            </a:endParaRPr>
          </a:p>
        </p:txBody>
      </p:sp>
      <p:sp>
        <p:nvSpPr>
          <p:cNvPr id="26" name="Text 24"/>
          <p:cNvSpPr/>
          <p:nvPr/>
        </p:nvSpPr>
        <p:spPr>
          <a:xfrm>
            <a:off x="4663440" y="3218688"/>
            <a:ext cx="4297680" cy="347472"/>
          </a:xfrm>
          <a:prstGeom prst="rect">
            <a:avLst/>
          </a:prstGeom>
          <a:noFill/>
          <a:ln/>
        </p:spPr>
        <p:txBody>
          <a:bodyPr wrap="square" rtlCol="0" anchor="ctr"/>
          <a:lstStyle/>
          <a:p>
            <a:pPr marL="0" indent="0" algn="ctr">
              <a:buNone/>
            </a:pPr>
            <a:r>
              <a:rPr lang="en-US" sz="1400" b="1" dirty="0">
                <a:solidFill>
                  <a:srgbClr val="071020"/>
                </a:solidFill>
                <a:latin typeface="Cambria" panose="02040503050406030204" pitchFamily="18" charset="0"/>
                <a:ea typeface="Cambria" panose="02040503050406030204" pitchFamily="18" charset="0"/>
                <a:cs typeface="Calibri" pitchFamily="34" charset="-120"/>
              </a:rPr>
              <a:t>Bapatla Engineering College  •  CSE (AI &amp; ML)</a:t>
            </a:r>
            <a:endParaRPr lang="en-US" sz="1400" dirty="0">
              <a:latin typeface="Cambria" panose="02040503050406030204" pitchFamily="18" charset="0"/>
              <a:ea typeface="Cambria" panose="02040503050406030204" pitchFamily="18" charset="0"/>
            </a:endParaRPr>
          </a:p>
        </p:txBody>
      </p:sp>
      <p:sp>
        <p:nvSpPr>
          <p:cNvPr id="28" name="Shape 26"/>
          <p:cNvSpPr/>
          <p:nvPr/>
        </p:nvSpPr>
        <p:spPr>
          <a:xfrm>
            <a:off x="4663440" y="3886200"/>
            <a:ext cx="4297680" cy="502920"/>
          </a:xfrm>
          <a:prstGeom prst="rect">
            <a:avLst/>
          </a:prstGeom>
          <a:solidFill>
            <a:srgbClr val="0D1E3A"/>
          </a:solidFill>
          <a:ln w="12700">
            <a:solidFill>
              <a:srgbClr val="0D1E3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29" name="Text 27"/>
          <p:cNvSpPr/>
          <p:nvPr/>
        </p:nvSpPr>
        <p:spPr>
          <a:xfrm>
            <a:off x="4663440" y="3886200"/>
            <a:ext cx="4297680" cy="502920"/>
          </a:xfrm>
          <a:prstGeom prst="rect">
            <a:avLst/>
          </a:prstGeom>
          <a:noFill/>
          <a:ln/>
        </p:spPr>
        <p:txBody>
          <a:bodyPr wrap="square" rtlCol="0" anchor="ctr"/>
          <a:lstStyle/>
          <a:p>
            <a:pPr marL="0" indent="0" algn="ctr">
              <a:buNone/>
            </a:pPr>
            <a:r>
              <a:rPr lang="en-US" sz="1400" i="1" dirty="0">
                <a:solidFill>
                  <a:srgbClr val="FFFFFF"/>
                </a:solidFill>
                <a:latin typeface="Cambria" panose="02040503050406030204" pitchFamily="18" charset="0"/>
                <a:ea typeface="Cambria" panose="02040503050406030204" pitchFamily="18" charset="0"/>
                <a:cs typeface="Calibri" pitchFamily="34" charset="-120"/>
              </a:rPr>
              <a:t>Empowering Rural Healthcare with Artificial Intelligence</a:t>
            </a:r>
            <a:endParaRPr lang="en-US" sz="1400" dirty="0">
              <a:latin typeface="Cambria" panose="02040503050406030204" pitchFamily="18" charset="0"/>
              <a:ea typeface="Cambria" panose="02040503050406030204" pitchFamily="18" charset="0"/>
            </a:endParaRPr>
          </a:p>
        </p:txBody>
      </p:sp>
      <p:sp>
        <p:nvSpPr>
          <p:cNvPr id="30" name="Shape 28"/>
          <p:cNvSpPr/>
          <p:nvPr/>
        </p:nvSpPr>
        <p:spPr>
          <a:xfrm>
            <a:off x="0" y="4864608"/>
            <a:ext cx="9144000" cy="278892"/>
          </a:xfrm>
          <a:prstGeom prst="rect">
            <a:avLst/>
          </a:prstGeom>
          <a:solidFill>
            <a:srgbClr val="0B3A7A"/>
          </a:solidFill>
          <a:ln w="12700">
            <a:solidFill>
              <a:srgbClr val="0B3A7A"/>
            </a:solidFill>
            <a:prstDash val="solid"/>
          </a:ln>
        </p:spPr>
        <p:txBody>
          <a:bodyPr/>
          <a:lstStyle/>
          <a:p>
            <a:endParaRPr lang="en-IN" sz="2400">
              <a:latin typeface="Cambria" panose="02040503050406030204" pitchFamily="18" charset="0"/>
              <a:ea typeface="Cambria" panose="02040503050406030204" pitchFamily="18" charset="0"/>
            </a:endParaRPr>
          </a:p>
        </p:txBody>
      </p:sp>
      <p:sp>
        <p:nvSpPr>
          <p:cNvPr id="31" name="Text 29"/>
          <p:cNvSpPr/>
          <p:nvPr/>
        </p:nvSpPr>
        <p:spPr>
          <a:xfrm>
            <a:off x="0" y="4864608"/>
            <a:ext cx="9144000" cy="278892"/>
          </a:xfrm>
          <a:prstGeom prst="rect">
            <a:avLst/>
          </a:prstGeom>
          <a:noFill/>
          <a:ln/>
        </p:spPr>
        <p:txBody>
          <a:bodyPr wrap="square" lIns="0" tIns="0" rIns="0" bIns="0" rtlCol="0" anchor="ctr"/>
          <a:lstStyle/>
          <a:p>
            <a:pPr marL="0" indent="0" algn="ctr">
              <a:buNone/>
            </a:pPr>
            <a:r>
              <a:rPr lang="en-US" sz="1100" dirty="0">
                <a:solidFill>
                  <a:srgbClr val="FFFFFF"/>
                </a:solidFill>
                <a:latin typeface="Cambria" panose="02040503050406030204" pitchFamily="18" charset="0"/>
                <a:ea typeface="Cambria" panose="02040503050406030204" pitchFamily="18" charset="0"/>
                <a:cs typeface="Calibri" pitchFamily="34" charset="-120"/>
              </a:rPr>
              <a:t>HealthAssist AI  |  Bapatla Engineering College  |  2025-26  |  Published: Journal of Dalian University of Technology</a:t>
            </a:r>
            <a:endParaRPr lang="en-US" sz="1100" dirty="0">
              <a:latin typeface="Cambria" panose="02040503050406030204" pitchFamily="18" charset="0"/>
              <a:ea typeface="Cambria" panose="020405030504060302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343</TotalTime>
  <Words>1636</Words>
  <Application>Microsoft Office PowerPoint</Application>
  <PresentationFormat>On-screen Show (16:9)</PresentationFormat>
  <Paragraphs>281</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HealthAssist AI – Final Review</dc:title>
  <dc:subject>PptxGenJS Presentation</dc:subject>
  <dc:creator>PptxGenJS</dc:creator>
  <cp:lastModifiedBy>GADDAM VENU</cp:lastModifiedBy>
  <cp:revision>24</cp:revision>
  <dcterms:created xsi:type="dcterms:W3CDTF">2026-03-31T07:18:11Z</dcterms:created>
  <dcterms:modified xsi:type="dcterms:W3CDTF">2026-04-02T12:18:14Z</dcterms:modified>
</cp:coreProperties>
</file>